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Inter" charset="1" panose="020B0502030000000004"/>
      <p:regular r:id="rId12"/>
    </p:embeddedFont>
    <p:embeddedFont>
      <p:font typeface="Barlow Bold" charset="1" panose="00000800000000000000"/>
      <p:regular r:id="rId13"/>
    </p:embeddedFont>
    <p:embeddedFont>
      <p:font typeface="Inter Bold" charset="1" panose="020B08020300000000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DBC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2571890" y="0"/>
            <a:ext cx="5716110" cy="10287000"/>
          </a:xfrm>
          <a:prstGeom prst="rect">
            <a:avLst/>
          </a:prstGeom>
          <a:solidFill>
            <a:srgbClr val="3D3D3D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774551" y="3935295"/>
            <a:ext cx="5013438" cy="6121480"/>
          </a:xfrm>
          <a:custGeom>
            <a:avLst/>
            <a:gdLst/>
            <a:ahLst/>
            <a:cxnLst/>
            <a:rect r="r" b="b" t="t" l="l"/>
            <a:pathLst>
              <a:path h="6121480" w="5013438">
                <a:moveTo>
                  <a:pt x="0" y="0"/>
                </a:moveTo>
                <a:lnTo>
                  <a:pt x="5013438" y="0"/>
                </a:lnTo>
                <a:lnTo>
                  <a:pt x="5013438" y="6121481"/>
                </a:lnTo>
                <a:lnTo>
                  <a:pt x="0" y="61214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920603" y="6508804"/>
            <a:ext cx="5716110" cy="294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2"/>
              </a:lnSpc>
            </a:pPr>
            <a:r>
              <a:rPr lang="en-US" sz="4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Presented by 鄭庭安</a:t>
            </a:r>
          </a:p>
          <a:p>
            <a:pPr algn="l">
              <a:lnSpc>
                <a:spcPts val="5862"/>
              </a:lnSpc>
            </a:pPr>
            <a:r>
              <a:rPr lang="en-US" sz="4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Tingan Cheng</a:t>
            </a:r>
          </a:p>
          <a:p>
            <a:pPr algn="l">
              <a:lnSpc>
                <a:spcPts val="5862"/>
              </a:lnSpc>
            </a:pPr>
            <a:r>
              <a:rPr lang="en-US" sz="4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NYCU 機械系</a:t>
            </a:r>
          </a:p>
          <a:p>
            <a:pPr algn="l" marL="0" indent="0" lvl="0">
              <a:lnSpc>
                <a:spcPts val="5862"/>
              </a:lnSpc>
            </a:pPr>
            <a:r>
              <a:rPr lang="en-US" sz="4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學號：110611103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1028700"/>
            <a:ext cx="12227132" cy="4650087"/>
            <a:chOff x="0" y="0"/>
            <a:chExt cx="16302842" cy="620011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789280"/>
              <a:ext cx="16302842" cy="54108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560"/>
                </a:lnSpc>
              </a:pPr>
              <a:r>
                <a:rPr lang="en-US" b="true" sz="9600">
                  <a:solidFill>
                    <a:srgbClr val="000000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Vibe Coding </a:t>
              </a:r>
            </a:p>
            <a:p>
              <a:pPr algn="l" marL="0" indent="0" lvl="0">
                <a:lnSpc>
                  <a:spcPts val="10560"/>
                </a:lnSpc>
              </a:pPr>
            </a:p>
            <a:p>
              <a:pPr algn="l" marL="0" indent="0" lvl="0">
                <a:lnSpc>
                  <a:spcPts val="10560"/>
                </a:lnSpc>
              </a:pPr>
              <a:r>
                <a:rPr lang="en-US" b="true" sz="9600">
                  <a:solidFill>
                    <a:srgbClr val="000000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                      Workflow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14913245" cy="591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Sup</a:t>
              </a:r>
              <a:r>
                <a:rPr lang="en-US" sz="27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ercharging Development with AI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DBC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602828" y="4206769"/>
            <a:ext cx="6656472" cy="0"/>
          </a:xfrm>
          <a:prstGeom prst="line">
            <a:avLst/>
          </a:prstGeom>
          <a:ln cap="rnd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602828" y="6616733"/>
            <a:ext cx="6656472" cy="0"/>
          </a:xfrm>
          <a:prstGeom prst="line">
            <a:avLst/>
          </a:prstGeom>
          <a:ln cap="rnd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0" y="0"/>
            <a:ext cx="9417909" cy="10287000"/>
          </a:xfrm>
          <a:prstGeom prst="rect">
            <a:avLst/>
          </a:prstGeom>
          <a:solidFill>
            <a:srgbClr val="545454"/>
          </a:solidFill>
        </p:spPr>
      </p:sp>
      <p:sp>
        <p:nvSpPr>
          <p:cNvPr name="Freeform 5" id="5"/>
          <p:cNvSpPr/>
          <p:nvPr/>
        </p:nvSpPr>
        <p:spPr>
          <a:xfrm flipH="false" flipV="false" rot="0">
            <a:off x="1960751" y="3127627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08824" y="1019175"/>
            <a:ext cx="7705449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14"/>
              </a:lnSpc>
              <a:spcBef>
                <a:spcPct val="0"/>
              </a:spcBef>
            </a:pPr>
            <a:r>
              <a:rPr lang="en-US" b="true" sz="5178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T</a:t>
            </a:r>
            <a:r>
              <a:rPr lang="en-US" b="true" sz="5178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ip 1: Embrace YOLO Mode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53130" y="2252890"/>
            <a:ext cx="8297818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9"/>
              </a:lnSpc>
              <a:spcBef>
                <a:spcPct val="0"/>
              </a:spcBef>
            </a:pPr>
            <a:r>
              <a:rPr lang="en-US" sz="40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40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rust AI to generate working code from your intent.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99248" y="4793495"/>
            <a:ext cx="5463631" cy="1223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2"/>
              </a:lnSpc>
              <a:spcBef>
                <a:spcPct val="0"/>
              </a:spcBef>
            </a:pPr>
            <a:r>
              <a:rPr lang="en-US" sz="401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Let go </a:t>
            </a:r>
            <a:r>
              <a:rPr lang="en-US" sz="401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of early control </a:t>
            </a:r>
          </a:p>
          <a:p>
            <a:pPr algn="ctr">
              <a:lnSpc>
                <a:spcPts val="4822"/>
              </a:lnSpc>
              <a:spcBef>
                <a:spcPct val="0"/>
              </a:spcBef>
            </a:pPr>
            <a:r>
              <a:rPr lang="en-US" sz="401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 move fast.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02828" y="6911618"/>
            <a:ext cx="6656472" cy="294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2"/>
              </a:lnSpc>
            </a:pPr>
            <a:r>
              <a:rPr lang="en-US" b="true" sz="40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Note</a:t>
            </a:r>
            <a:r>
              <a:rPr lang="en-US" b="true" sz="40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:</a:t>
            </a:r>
          </a:p>
          <a:p>
            <a:pPr algn="ctr">
              <a:lnSpc>
                <a:spcPts val="5862"/>
              </a:lnSpc>
            </a:pPr>
            <a:r>
              <a:rPr lang="en-US" b="true" sz="40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Set up an allowlist and a blocklist to balance freedom and safety.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9494986" cy="10287000"/>
          </a:xfrm>
          <a:prstGeom prst="rect">
            <a:avLst/>
          </a:prstGeom>
          <a:solidFill>
            <a:srgbClr val="A2A19F"/>
          </a:solidFill>
        </p:spPr>
      </p:sp>
      <p:sp>
        <p:nvSpPr>
          <p:cNvPr name="AutoShape 3" id="3"/>
          <p:cNvSpPr/>
          <p:nvPr/>
        </p:nvSpPr>
        <p:spPr>
          <a:xfrm>
            <a:off x="10809393" y="6884789"/>
            <a:ext cx="6656472" cy="0"/>
          </a:xfrm>
          <a:prstGeom prst="line">
            <a:avLst/>
          </a:prstGeom>
          <a:ln cap="rnd" w="19050">
            <a:solidFill>
              <a:srgbClr val="A2A19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858462" y="3480238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396263" y="1931789"/>
            <a:ext cx="7069602" cy="496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9"/>
              </a:lnSpc>
              <a:spcBef>
                <a:spcPct val="0"/>
              </a:spcBef>
            </a:pPr>
          </a:p>
          <a:p>
            <a:pPr algn="ctr">
              <a:lnSpc>
                <a:spcPts val="4919"/>
              </a:lnSpc>
              <a:spcBef>
                <a:spcPct val="0"/>
              </a:spcBef>
            </a:pPr>
            <a:r>
              <a:rPr lang="en-US" sz="4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divide and conquer :  </a:t>
            </a:r>
          </a:p>
          <a:p>
            <a:pPr algn="ctr">
              <a:lnSpc>
                <a:spcPts val="4919"/>
              </a:lnSpc>
              <a:spcBef>
                <a:spcPct val="0"/>
              </a:spcBef>
            </a:pPr>
            <a:r>
              <a:rPr lang="en-US" sz="4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Split vision into small, </a:t>
            </a:r>
          </a:p>
          <a:p>
            <a:pPr algn="ctr">
              <a:lnSpc>
                <a:spcPts val="4919"/>
              </a:lnSpc>
              <a:spcBef>
                <a:spcPct val="0"/>
              </a:spcBef>
            </a:pPr>
            <a:r>
              <a:rPr lang="en-US" sz="4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well-scoped tasks.</a:t>
            </a:r>
          </a:p>
          <a:p>
            <a:pPr algn="ctr">
              <a:lnSpc>
                <a:spcPts val="4919"/>
              </a:lnSpc>
              <a:spcBef>
                <a:spcPct val="0"/>
              </a:spcBef>
            </a:pPr>
          </a:p>
          <a:p>
            <a:pPr algn="ctr">
              <a:lnSpc>
                <a:spcPts val="4919"/>
              </a:lnSpc>
              <a:spcBef>
                <a:spcPct val="0"/>
              </a:spcBef>
            </a:pPr>
            <a:r>
              <a:rPr lang="en-US" sz="4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Clearly define file scope for precise AI edits.</a:t>
            </a:r>
          </a:p>
          <a:p>
            <a:pPr algn="ctr">
              <a:lnSpc>
                <a:spcPts val="491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61504" y="618629"/>
            <a:ext cx="8531051" cy="1687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4"/>
              </a:lnSpc>
            </a:pPr>
            <a:r>
              <a:rPr lang="en-US" b="true" sz="4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Tip 2: </a:t>
            </a:r>
          </a:p>
          <a:p>
            <a:pPr algn="l">
              <a:lnSpc>
                <a:spcPts val="6884"/>
              </a:lnSpc>
            </a:pPr>
            <a:r>
              <a:rPr lang="en-US" b="true" sz="4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Write a Detailed Product Spec.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85530" y="7123992"/>
            <a:ext cx="8291068" cy="2754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5"/>
              </a:lnSpc>
            </a:pPr>
            <a:r>
              <a:rPr lang="en-US" b="true" sz="36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Note</a:t>
            </a:r>
            <a:r>
              <a:rPr lang="en-US" b="true" sz="36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:</a:t>
            </a:r>
          </a:p>
          <a:p>
            <a:pPr algn="ctr">
              <a:lnSpc>
                <a:spcPts val="5475"/>
              </a:lnSpc>
            </a:pPr>
            <a:r>
              <a:rPr lang="en-US" b="true" sz="36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Update spec. as you go. </a:t>
            </a:r>
          </a:p>
          <a:p>
            <a:pPr algn="ctr">
              <a:lnSpc>
                <a:spcPts val="5475"/>
              </a:lnSpc>
            </a:pPr>
            <a:r>
              <a:rPr lang="en-US" b="true" sz="36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Name key unit so AI can </a:t>
            </a:r>
          </a:p>
          <a:p>
            <a:pPr algn="ctr">
              <a:lnSpc>
                <a:spcPts val="5475"/>
              </a:lnSpc>
            </a:pPr>
            <a:r>
              <a:rPr lang="en-US" b="true" sz="36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reference them consistently.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DBC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8532304" cy="10287000"/>
          </a:xfrm>
          <a:prstGeom prst="rect">
            <a:avLst/>
          </a:prstGeom>
          <a:solidFill>
            <a:srgbClr val="545454"/>
          </a:solidFill>
        </p:spPr>
      </p:sp>
      <p:sp>
        <p:nvSpPr>
          <p:cNvPr name="AutoShape 3" id="3"/>
          <p:cNvSpPr/>
          <p:nvPr/>
        </p:nvSpPr>
        <p:spPr>
          <a:xfrm flipV="true">
            <a:off x="9144000" y="6420000"/>
            <a:ext cx="8115300" cy="0"/>
          </a:xfrm>
          <a:prstGeom prst="line">
            <a:avLst/>
          </a:prstGeom>
          <a:ln cap="rnd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36299" y="3480238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9586" y="1221465"/>
            <a:ext cx="7693132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9"/>
              </a:lnSpc>
              <a:spcBef>
                <a:spcPct val="0"/>
              </a:spcBef>
            </a:pPr>
            <a:r>
              <a:rPr lang="en-US" b="true" sz="40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Tip 3: Step-by-Step Changes + Unit Tests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20622" y="2900141"/>
            <a:ext cx="7638678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9"/>
              </a:lnSpc>
              <a:spcBef>
                <a:spcPct val="0"/>
              </a:spcBef>
            </a:pPr>
            <a:r>
              <a:rPr lang="en-US" sz="40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Ask AI for incremental changes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20471" y="4185202"/>
            <a:ext cx="5291956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9"/>
              </a:lnSpc>
              <a:spcBef>
                <a:spcPct val="0"/>
              </a:spcBef>
            </a:pPr>
            <a:r>
              <a:rPr lang="en-US" sz="40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Request unit tests to </a:t>
            </a:r>
          </a:p>
          <a:p>
            <a:pPr algn="ctr">
              <a:lnSpc>
                <a:spcPts val="4919"/>
              </a:lnSpc>
              <a:spcBef>
                <a:spcPct val="0"/>
              </a:spcBef>
            </a:pPr>
            <a:r>
              <a:rPr lang="en-US" sz="40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validate new features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81843" y="6896250"/>
            <a:ext cx="6969212" cy="2834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98"/>
              </a:lnSpc>
            </a:pPr>
            <a:r>
              <a:rPr lang="en-US" sz="40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Note:</a:t>
            </a:r>
          </a:p>
          <a:p>
            <a:pPr algn="ctr">
              <a:lnSpc>
                <a:spcPts val="5698"/>
              </a:lnSpc>
            </a:pPr>
            <a:r>
              <a:rPr lang="en-US" b="true" sz="40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  <a:r>
              <a:rPr lang="en-US" b="true" sz="40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atch issues early and ensures changes don’t break existing logic.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DBC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8870091" y="0"/>
            <a:ext cx="9417909" cy="10287000"/>
          </a:xfrm>
          <a:prstGeom prst="rect">
            <a:avLst/>
          </a:prstGeom>
          <a:solidFill>
            <a:srgbClr val="545454"/>
          </a:solidFill>
        </p:spPr>
      </p:sp>
      <p:sp>
        <p:nvSpPr>
          <p:cNvPr name="AutoShape 3" id="3"/>
          <p:cNvSpPr/>
          <p:nvPr/>
        </p:nvSpPr>
        <p:spPr>
          <a:xfrm>
            <a:off x="10250809" y="7165385"/>
            <a:ext cx="6656472" cy="0"/>
          </a:xfrm>
          <a:prstGeom prst="line">
            <a:avLst/>
          </a:prstGeom>
          <a:ln cap="rnd" w="19050">
            <a:solidFill>
              <a:srgbClr val="A2A19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85163" y="4055299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3"/>
                </a:lnTo>
                <a:lnTo>
                  <a:pt x="0" y="57780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998844" y="3441110"/>
            <a:ext cx="7260456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9"/>
              </a:lnSpc>
              <a:spcBef>
                <a:spcPct val="0"/>
              </a:spcBef>
            </a:pPr>
            <a:r>
              <a:rPr lang="en-US" b="true" sz="40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Commit  good versions regularly.</a:t>
            </a:r>
          </a:p>
          <a:p>
            <a:pPr algn="ctr">
              <a:lnSpc>
                <a:spcPts val="4919"/>
              </a:lnSpc>
              <a:spcBef>
                <a:spcPct val="0"/>
              </a:spcBef>
            </a:pPr>
          </a:p>
          <a:p>
            <a:pPr algn="ctr">
              <a:lnSpc>
                <a:spcPts val="4919"/>
              </a:lnSpc>
              <a:spcBef>
                <a:spcPct val="0"/>
              </a:spcBef>
            </a:pPr>
            <a:r>
              <a:rPr lang="en-US" b="true" sz="40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Let AI experiment freely without risking stable code.</a:t>
            </a:r>
          </a:p>
          <a:p>
            <a:pPr algn="ctr">
              <a:lnSpc>
                <a:spcPts val="491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770603" y="7440052"/>
            <a:ext cx="7716937" cy="2259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6"/>
              </a:lnSpc>
            </a:pPr>
            <a:r>
              <a:rPr lang="en-US" b="true" sz="40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Note:</a:t>
            </a:r>
          </a:p>
          <a:p>
            <a:pPr algn="ctr">
              <a:lnSpc>
                <a:spcPts val="6026"/>
              </a:lnSpc>
            </a:pPr>
            <a:r>
              <a:rPr lang="en-US" b="true" sz="40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Always allows safe rollback </a:t>
            </a:r>
          </a:p>
          <a:p>
            <a:pPr algn="ctr">
              <a:lnSpc>
                <a:spcPts val="6026"/>
              </a:lnSpc>
            </a:pPr>
            <a:r>
              <a:rPr lang="en-US" b="true" sz="40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or branching.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7784" y="1109663"/>
            <a:ext cx="797875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9"/>
              </a:lnSpc>
              <a:spcBef>
                <a:spcPct val="0"/>
              </a:spcBef>
            </a:pPr>
            <a:r>
              <a:rPr lang="en-US" b="true" sz="40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Tip 4: Use Git for Safe Progress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33917" y="2483674"/>
            <a:ext cx="3442618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Version control 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== 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Peace of mind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DBC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2762" y="2254469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939403" y="4381358"/>
            <a:ext cx="7279943" cy="3418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2"/>
              </a:lnSpc>
            </a:pPr>
            <a:r>
              <a:rPr lang="en-US" b="true" sz="40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Thank You for Your Attention!</a:t>
            </a:r>
          </a:p>
          <a:p>
            <a:pPr algn="ctr">
              <a:lnSpc>
                <a:spcPts val="5452"/>
              </a:lnSpc>
            </a:pPr>
          </a:p>
          <a:p>
            <a:pPr algn="ctr">
              <a:lnSpc>
                <a:spcPts val="5452"/>
              </a:lnSpc>
            </a:pPr>
            <a:r>
              <a:rPr lang="en-US" b="true" sz="40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Let AI help you vibe, build, and iterate faster.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DAGkTJEF3XI</dc:identifier>
  <dcterms:modified xsi:type="dcterms:W3CDTF">2011-08-01T06:04:30Z</dcterms:modified>
  <cp:revision>1</cp:revision>
  <dc:title>Vibe Coding Workflow</dc:title>
</cp:coreProperties>
</file>