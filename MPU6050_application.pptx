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  <p:sldId id="264" r:id="rId10"/>
    <p:sldId id="265" r:id="rId11"/>
    <p:sldId id="266" r:id="rId12"/>
    <p:sldId id="267" r:id="rId13"/>
    <p:sldId id="272" r:id="rId14"/>
    <p:sldId id="268" r:id="rId15"/>
    <p:sldId id="269" r:id="rId16"/>
    <p:sldId id="270" r:id="rId17"/>
    <p:sldId id="271" r:id="rId18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614"/>
    <p:restoredTop sz="94718"/>
  </p:normalViewPr>
  <p:slideViewPr>
    <p:cSldViewPr snapToGrid="0">
      <p:cViewPr varScale="1">
        <p:scale>
          <a:sx n="105" d="100"/>
          <a:sy n="105" d="100"/>
        </p:scale>
        <p:origin x="200" y="44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EF58D-B62B-40BB-83AA-9D07CFC4ED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557783"/>
            <a:ext cx="10969752" cy="313080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AC06D3-F571-4213-A2A4-6A1915120C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3902206"/>
            <a:ext cx="10969752" cy="2240529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A10580-AD31-4B8F-8448-55A666AC1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5A860-F335-4252-AA00-24FB67ED2982}" type="datetime1">
              <a:rPr lang="en-US" smtClean="0"/>
              <a:pPr/>
              <a:t>6/7/25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EC99C8-515A-4FEA-9CD2-6D0BF46CF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72AF1B-1868-4C05-B6C3-9EBF29A50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8543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6D384-B2C5-42A4-9774-A931C39BA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8D736C-5FCC-43BC-B824-A90F2CC5D1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4A3A50-B922-45BE-945D-7ED3EBD83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BC802-30E3-4658-9CCA-F873646FEC67}" type="datetime1">
              <a:rPr lang="en-US" smtClean="0"/>
              <a:pPr/>
              <a:t>6/7/25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241F78-20DE-4D53-BB25-79E5C4E1A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643084-C669-4FDF-87D4-F22D36BB8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3849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6C559-800C-489A-9174-7901F92B0D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57784"/>
            <a:ext cx="10969752" cy="3146400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42B5C3-320B-4CFD-B6A7-A28C7E435B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8" y="3902207"/>
            <a:ext cx="10969752" cy="2187443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FCA372-3F42-4113-A73B-5FDCF93CB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227A3-19CE-4153-81CE-64EB7AB094B3}" type="datetime1">
              <a:rPr lang="en-US" smtClean="0"/>
              <a:pPr/>
              <a:t>6/7/25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DA1197-0C78-4878-B086-5D206EA49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B83D8-FD42-44FF-AA20-944A519CC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9477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685AA-B5C7-4E3D-85FA-94F3C73E5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3AFEEA-6F3F-4630-A950-61C05D2FAF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2081369"/>
            <a:ext cx="5410200" cy="40955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C36817-B869-4D19-9EE8-A3166B0E15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2" y="2081369"/>
            <a:ext cx="5410200" cy="40955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074146-2374-4321-AEBB-3E9B09D77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9A100-10F6-477E-8847-29D479EF1C92}" type="datetime1">
              <a:rPr lang="en-US" smtClean="0"/>
              <a:pPr/>
              <a:t>6/7/25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42337B-B902-4DC2-BB94-02B8A7549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4AD585-B83C-4ECF-AF42-8DDF6996B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5130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A9ADB-3495-481F-BB4E-9C7128B17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125"/>
            <a:ext cx="10745788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D6FF4C-26CB-4281-A2F7-6CBE451867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895096"/>
            <a:ext cx="5387975" cy="823912"/>
          </a:xfrm>
        </p:spPr>
        <p:txBody>
          <a:bodyPr anchor="b"/>
          <a:lstStyle>
            <a:lvl1pPr marL="0" indent="0">
              <a:buNone/>
              <a:defRPr sz="2400" b="0" i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2E72A9-F222-45B4-9355-C04C058641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842211"/>
            <a:ext cx="5387975" cy="33474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699F6E-77AD-4EBC-BAF9-5A43CDEC41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67890" y="1895096"/>
            <a:ext cx="5414510" cy="823912"/>
          </a:xfrm>
        </p:spPr>
        <p:txBody>
          <a:bodyPr anchor="b"/>
          <a:lstStyle>
            <a:lvl1pPr marL="0" indent="0">
              <a:buNone/>
              <a:defRPr sz="2400" b="0" i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F77677-7169-4591-B047-0678815F48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67890" y="2842211"/>
            <a:ext cx="5414510" cy="33474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82A6EB-0285-4FA4-A00C-A7F716084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128AB-198A-495F-8475-FDB360C9873F}" type="datetime1">
              <a:rPr lang="en-US" smtClean="0"/>
              <a:pPr/>
              <a:t>6/7/25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D39526-82B8-402C-8A2B-82EF8F3F3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5EC9E6-6FF1-4541-9CB1-A2FF9D852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33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70F54-6CED-4251-A0A6-32CCD1213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72C8E6-49D6-46A5-8DC3-B0D8E683C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A235E-F8FD-479F-9FC7-18BE84110877}" type="datetime1">
              <a:rPr lang="en-US" smtClean="0"/>
              <a:pPr/>
              <a:t>6/7/25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883CBA-77CD-4490-A5F3-BAA8FC254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A5FF79-61B6-4693-8547-95B1F2F7A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0598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BDCB94-13E9-41CB-88F0-D30A1791D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0F09B-68DA-462E-9DB4-4C9ADAB8CBCC}" type="datetime1">
              <a:rPr lang="en-US" smtClean="0"/>
              <a:pPr/>
              <a:t>6/7/25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4795A4-736C-426D-8559-5AD589275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2A2ACD-17F3-4C16-8E77-86EC92CCD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9339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FCB2E-B68A-48F9-8B20-CDED818FB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457199"/>
            <a:ext cx="4970822" cy="266020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081C83-64B5-4BFD-A163-75C2EA7F89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457200"/>
            <a:ext cx="5483352" cy="5744003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5D44AD-E361-48A3-936D-DDA0D51445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9" y="3329989"/>
            <a:ext cx="4970822" cy="2871216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EED06C-E016-489C-8863-EA1BE998B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C4E36-FABE-47EB-AA7F-C19A93824617}" type="datetime1">
              <a:rPr lang="en-US" smtClean="0"/>
              <a:pPr/>
              <a:t>6/7/25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9161F0-D253-49A7-9A08-7A0A22814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42C61A-B326-40A7-A286-90D0544BB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1424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2DF6F-D00F-4CE4-8701-B00627346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457199"/>
            <a:ext cx="4970822" cy="266748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0FF7AB-F851-4425-8407-996C920E68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096000" y="457199"/>
            <a:ext cx="5483352" cy="5403851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ED6CF5-154F-4615-8CDC-E2BFA61FAB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9" y="3322708"/>
            <a:ext cx="4970822" cy="254628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A5C400-0D13-495F-8C4E-EC3CDF5F2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9CE6B-5DE6-4A2D-B72E-5E8969F9F56F}" type="datetime1">
              <a:rPr lang="en-US" smtClean="0"/>
              <a:pPr/>
              <a:t>6/7/25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B290D7-98AC-45E5-A7D6-73520AFC7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94276C-2BD2-4C4F-AC04-DD3D73768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345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170B0-C1C5-4976-80E8-6B4F90EB3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7593EE-493E-4BCE-8992-24CA63E1E0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80919F-FDDD-42FB-8422-A0665D558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B1048-0047-48CA-88BA-D69B470942CF}" type="datetime1">
              <a:rPr lang="en-US" smtClean="0"/>
              <a:pPr/>
              <a:t>6/7/25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16D38A-35F8-4667-A1F4-49644471E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9CC230-78B7-487B-9C95-CB00868F6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80378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14CB826-D9AA-4689-B8C0-38D999F0D0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557784"/>
            <a:ext cx="2854452" cy="564342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1F1CDD-16FB-45E0-9887-24374C5676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557784"/>
            <a:ext cx="7734300" cy="564342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846397-BBD2-4426-B1F5-FD6EA3CDC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83879-648C-49A9-81A2-0EF5946532D0}" type="datetime1">
              <a:rPr lang="en-US" smtClean="0"/>
              <a:pPr/>
              <a:t>6/7/25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AB91E4-73D0-4ACD-8F54-00EE6FB1D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B28C61-59FE-44D6-A7D6-AAD292232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3721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42E603F-28B7-4831-BF23-65FBAB13D5FB}"/>
              </a:ext>
            </a:extLst>
          </p:cNvPr>
          <p:cNvSpPr/>
          <p:nvPr/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D39700F-2B10-4402-A7DD-06EE224588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232968"/>
            <a:ext cx="9560477" cy="6625032"/>
          </a:xfrm>
          <a:custGeom>
            <a:avLst/>
            <a:gdLst>
              <a:gd name="connsiteX0" fmla="*/ 8831314 w 9263816"/>
              <a:gd name="connsiteY0" fmla="*/ 5943878 h 6858000"/>
              <a:gd name="connsiteX1" fmla="*/ 9179783 w 9263816"/>
              <a:gd name="connsiteY1" fmla="*/ 6086141 h 6858000"/>
              <a:gd name="connsiteX2" fmla="*/ 9260887 w 9263816"/>
              <a:gd name="connsiteY2" fmla="*/ 6279156 h 6858000"/>
              <a:gd name="connsiteX3" fmla="*/ 8925621 w 9263816"/>
              <a:gd name="connsiteY3" fmla="*/ 6708712 h 6858000"/>
              <a:gd name="connsiteX4" fmla="*/ 8496050 w 9263816"/>
              <a:gd name="connsiteY4" fmla="*/ 6373449 h 6858000"/>
              <a:gd name="connsiteX5" fmla="*/ 8831314 w 9263816"/>
              <a:gd name="connsiteY5" fmla="*/ 5943878 h 6858000"/>
              <a:gd name="connsiteX6" fmla="*/ 7397485 w 9263816"/>
              <a:gd name="connsiteY6" fmla="*/ 5931706 h 6858000"/>
              <a:gd name="connsiteX7" fmla="*/ 7917779 w 9263816"/>
              <a:gd name="connsiteY7" fmla="*/ 6191864 h 6858000"/>
              <a:gd name="connsiteX8" fmla="*/ 8013467 w 9263816"/>
              <a:gd name="connsiteY8" fmla="*/ 6375784 h 6858000"/>
              <a:gd name="connsiteX9" fmla="*/ 8021879 w 9263816"/>
              <a:gd name="connsiteY9" fmla="*/ 6753751 h 6858000"/>
              <a:gd name="connsiteX10" fmla="*/ 7981316 w 9263816"/>
              <a:gd name="connsiteY10" fmla="*/ 6858000 h 6858000"/>
              <a:gd name="connsiteX11" fmla="*/ 6819486 w 9263816"/>
              <a:gd name="connsiteY11" fmla="*/ 6858000 h 6858000"/>
              <a:gd name="connsiteX12" fmla="*/ 6785199 w 9263816"/>
              <a:gd name="connsiteY12" fmla="*/ 6781101 h 6858000"/>
              <a:gd name="connsiteX13" fmla="*/ 7196747 w 9263816"/>
              <a:gd name="connsiteY13" fmla="*/ 5964309 h 6858000"/>
              <a:gd name="connsiteX14" fmla="*/ 7397485 w 9263816"/>
              <a:gd name="connsiteY14" fmla="*/ 5931706 h 6858000"/>
              <a:gd name="connsiteX15" fmla="*/ 1505570 w 9263816"/>
              <a:gd name="connsiteY15" fmla="*/ 227178 h 6858000"/>
              <a:gd name="connsiteX16" fmla="*/ 2026489 w 9263816"/>
              <a:gd name="connsiteY16" fmla="*/ 392370 h 6858000"/>
              <a:gd name="connsiteX17" fmla="*/ 2444553 w 9263816"/>
              <a:gd name="connsiteY17" fmla="*/ 1654853 h 6858000"/>
              <a:gd name="connsiteX18" fmla="*/ 3183153 w 9263816"/>
              <a:gd name="connsiteY18" fmla="*/ 2116208 h 6858000"/>
              <a:gd name="connsiteX19" fmla="*/ 4288384 w 9263816"/>
              <a:gd name="connsiteY19" fmla="*/ 1291908 h 6858000"/>
              <a:gd name="connsiteX20" fmla="*/ 5472602 w 9263816"/>
              <a:gd name="connsiteY20" fmla="*/ 1697818 h 6858000"/>
              <a:gd name="connsiteX21" fmla="*/ 5844697 w 9263816"/>
              <a:gd name="connsiteY21" fmla="*/ 3444791 h 6858000"/>
              <a:gd name="connsiteX22" fmla="*/ 6715674 w 9263816"/>
              <a:gd name="connsiteY22" fmla="*/ 4065208 h 6858000"/>
              <a:gd name="connsiteX23" fmla="*/ 8130429 w 9263816"/>
              <a:gd name="connsiteY23" fmla="*/ 4101787 h 6858000"/>
              <a:gd name="connsiteX24" fmla="*/ 8624630 w 9263816"/>
              <a:gd name="connsiteY24" fmla="*/ 4686202 h 6858000"/>
              <a:gd name="connsiteX25" fmla="*/ 8623843 w 9263816"/>
              <a:gd name="connsiteY25" fmla="*/ 4685749 h 6858000"/>
              <a:gd name="connsiteX26" fmla="*/ 8646859 w 9263816"/>
              <a:gd name="connsiteY26" fmla="*/ 4835156 h 6858000"/>
              <a:gd name="connsiteX27" fmla="*/ 8079403 w 9263816"/>
              <a:gd name="connsiteY27" fmla="*/ 5661624 h 6858000"/>
              <a:gd name="connsiteX28" fmla="*/ 6833105 w 9263816"/>
              <a:gd name="connsiteY28" fmla="*/ 5397208 h 6858000"/>
              <a:gd name="connsiteX29" fmla="*/ 5900832 w 9263816"/>
              <a:gd name="connsiteY29" fmla="*/ 5944462 h 6858000"/>
              <a:gd name="connsiteX30" fmla="*/ 6067212 w 9263816"/>
              <a:gd name="connsiteY30" fmla="*/ 6811916 h 6858000"/>
              <a:gd name="connsiteX31" fmla="*/ 6089565 w 9263816"/>
              <a:gd name="connsiteY31" fmla="*/ 6858000 h 6858000"/>
              <a:gd name="connsiteX32" fmla="*/ 0 w 9263816"/>
              <a:gd name="connsiteY32" fmla="*/ 6858000 h 6858000"/>
              <a:gd name="connsiteX33" fmla="*/ 0 w 9263816"/>
              <a:gd name="connsiteY33" fmla="*/ 2181377 h 6858000"/>
              <a:gd name="connsiteX34" fmla="*/ 73069 w 9263816"/>
              <a:gd name="connsiteY34" fmla="*/ 2215839 h 6858000"/>
              <a:gd name="connsiteX35" fmla="*/ 335445 w 9263816"/>
              <a:gd name="connsiteY35" fmla="*/ 2237140 h 6858000"/>
              <a:gd name="connsiteX36" fmla="*/ 752878 w 9263816"/>
              <a:gd name="connsiteY36" fmla="*/ 1445285 h 6858000"/>
              <a:gd name="connsiteX37" fmla="*/ 1202551 w 9263816"/>
              <a:gd name="connsiteY37" fmla="*/ 314229 h 6858000"/>
              <a:gd name="connsiteX38" fmla="*/ 1505570 w 9263816"/>
              <a:gd name="connsiteY38" fmla="*/ 227178 h 6858000"/>
              <a:gd name="connsiteX39" fmla="*/ 3142509 w 9263816"/>
              <a:gd name="connsiteY39" fmla="*/ 68854 h 6858000"/>
              <a:gd name="connsiteX40" fmla="*/ 3490978 w 9263816"/>
              <a:gd name="connsiteY40" fmla="*/ 211117 h 6858000"/>
              <a:gd name="connsiteX41" fmla="*/ 3572083 w 9263816"/>
              <a:gd name="connsiteY41" fmla="*/ 404131 h 6858000"/>
              <a:gd name="connsiteX42" fmla="*/ 3236814 w 9263816"/>
              <a:gd name="connsiteY42" fmla="*/ 833688 h 6858000"/>
              <a:gd name="connsiteX43" fmla="*/ 2807245 w 9263816"/>
              <a:gd name="connsiteY43" fmla="*/ 498425 h 6858000"/>
              <a:gd name="connsiteX44" fmla="*/ 3142509 w 9263816"/>
              <a:gd name="connsiteY44" fmla="*/ 68854 h 6858000"/>
              <a:gd name="connsiteX45" fmla="*/ 0 w 9263816"/>
              <a:gd name="connsiteY45" fmla="*/ 0 h 6858000"/>
              <a:gd name="connsiteX46" fmla="*/ 39858 w 9263816"/>
              <a:gd name="connsiteY46" fmla="*/ 0 h 6858000"/>
              <a:gd name="connsiteX47" fmla="*/ 65022 w 9263816"/>
              <a:gd name="connsiteY47" fmla="*/ 5834 h 6858000"/>
              <a:gd name="connsiteX48" fmla="*/ 389258 w 9263816"/>
              <a:gd name="connsiteY48" fmla="*/ 235630 h 6858000"/>
              <a:gd name="connsiteX49" fmla="*/ 485484 w 9263816"/>
              <a:gd name="connsiteY49" fmla="*/ 420070 h 6858000"/>
              <a:gd name="connsiteX50" fmla="*/ 74229 w 9263816"/>
              <a:gd name="connsiteY50" fmla="*/ 1237955 h 6858000"/>
              <a:gd name="connsiteX51" fmla="*/ 0 w 9263816"/>
              <a:gd name="connsiteY51" fmla="*/ 125447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9263816" h="6858000">
                <a:moveTo>
                  <a:pt x="8831314" y="5943878"/>
                </a:moveTo>
                <a:cubicBezTo>
                  <a:pt x="8964281" y="5927490"/>
                  <a:pt x="9096260" y="5981362"/>
                  <a:pt x="9179783" y="6086141"/>
                </a:cubicBezTo>
                <a:cubicBezTo>
                  <a:pt x="9224074" y="6141769"/>
                  <a:pt x="9252211" y="6208560"/>
                  <a:pt x="9260887" y="6279156"/>
                </a:cubicBezTo>
                <a:cubicBezTo>
                  <a:pt x="9286897" y="6490362"/>
                  <a:pt x="9136845" y="6682672"/>
                  <a:pt x="8925621" y="6708712"/>
                </a:cubicBezTo>
                <a:cubicBezTo>
                  <a:pt x="8714398" y="6734766"/>
                  <a:pt x="8522062" y="6584655"/>
                  <a:pt x="8496050" y="6373449"/>
                </a:cubicBezTo>
                <a:cubicBezTo>
                  <a:pt x="8470038" y="6162229"/>
                  <a:pt x="8620090" y="5969920"/>
                  <a:pt x="8831314" y="5943878"/>
                </a:cubicBezTo>
                <a:close/>
                <a:moveTo>
                  <a:pt x="7397485" y="5931706"/>
                </a:moveTo>
                <a:cubicBezTo>
                  <a:pt x="7598431" y="5931157"/>
                  <a:pt x="7792965" y="6024548"/>
                  <a:pt x="7917779" y="6191864"/>
                </a:cubicBezTo>
                <a:cubicBezTo>
                  <a:pt x="7959204" y="6247714"/>
                  <a:pt x="7991530" y="6309792"/>
                  <a:pt x="8013467" y="6375784"/>
                </a:cubicBezTo>
                <a:cubicBezTo>
                  <a:pt x="8055425" y="6502973"/>
                  <a:pt x="8055748" y="6633888"/>
                  <a:pt x="8021879" y="6753751"/>
                </a:cubicBezTo>
                <a:lnTo>
                  <a:pt x="7981316" y="6858000"/>
                </a:lnTo>
                <a:lnTo>
                  <a:pt x="6819486" y="6858000"/>
                </a:lnTo>
                <a:lnTo>
                  <a:pt x="6785199" y="6781101"/>
                </a:lnTo>
                <a:cubicBezTo>
                  <a:pt x="6673307" y="6441922"/>
                  <a:pt x="6857485" y="6076251"/>
                  <a:pt x="7196747" y="5964309"/>
                </a:cubicBezTo>
                <a:cubicBezTo>
                  <a:pt x="7262809" y="5942509"/>
                  <a:pt x="7330503" y="5931889"/>
                  <a:pt x="7397485" y="5931706"/>
                </a:cubicBezTo>
                <a:close/>
                <a:moveTo>
                  <a:pt x="1505570" y="227178"/>
                </a:moveTo>
                <a:cubicBezTo>
                  <a:pt x="1691018" y="218628"/>
                  <a:pt x="1889853" y="275403"/>
                  <a:pt x="2026489" y="392370"/>
                </a:cubicBezTo>
                <a:cubicBezTo>
                  <a:pt x="2369898" y="685965"/>
                  <a:pt x="2078266" y="1147857"/>
                  <a:pt x="2444553" y="1654853"/>
                </a:cubicBezTo>
                <a:cubicBezTo>
                  <a:pt x="2492906" y="1721679"/>
                  <a:pt x="2800482" y="2144546"/>
                  <a:pt x="3183153" y="2116208"/>
                </a:cubicBezTo>
                <a:cubicBezTo>
                  <a:pt x="3673561" y="2080541"/>
                  <a:pt x="3723222" y="1441614"/>
                  <a:pt x="4288384" y="1291908"/>
                </a:cubicBezTo>
                <a:cubicBezTo>
                  <a:pt x="4689065" y="1185875"/>
                  <a:pt x="5207943" y="1366633"/>
                  <a:pt x="5472602" y="1697818"/>
                </a:cubicBezTo>
                <a:cubicBezTo>
                  <a:pt x="5891294" y="2221754"/>
                  <a:pt x="5408012" y="2790179"/>
                  <a:pt x="5844697" y="3444791"/>
                </a:cubicBezTo>
                <a:cubicBezTo>
                  <a:pt x="6149900" y="3902467"/>
                  <a:pt x="6672672" y="4053594"/>
                  <a:pt x="6715674" y="4065208"/>
                </a:cubicBezTo>
                <a:cubicBezTo>
                  <a:pt x="7326423" y="4232519"/>
                  <a:pt x="7677158" y="3817020"/>
                  <a:pt x="8130429" y="4101787"/>
                </a:cubicBezTo>
                <a:cubicBezTo>
                  <a:pt x="8226340" y="4161985"/>
                  <a:pt x="8536372" y="4356819"/>
                  <a:pt x="8624630" y="4686202"/>
                </a:cubicBezTo>
                <a:lnTo>
                  <a:pt x="8623843" y="4685749"/>
                </a:lnTo>
                <a:cubicBezTo>
                  <a:pt x="8636924" y="4734567"/>
                  <a:pt x="8644635" y="4784678"/>
                  <a:pt x="8646859" y="4835156"/>
                </a:cubicBezTo>
                <a:cubicBezTo>
                  <a:pt x="8662596" y="5196604"/>
                  <a:pt x="8398383" y="5562326"/>
                  <a:pt x="8079403" y="5661624"/>
                </a:cubicBezTo>
                <a:cubicBezTo>
                  <a:pt x="7649807" y="5795217"/>
                  <a:pt x="7430996" y="5350293"/>
                  <a:pt x="6833105" y="5397208"/>
                </a:cubicBezTo>
                <a:cubicBezTo>
                  <a:pt x="6519033" y="5421527"/>
                  <a:pt x="6056658" y="5595550"/>
                  <a:pt x="5900832" y="5944462"/>
                </a:cubicBezTo>
                <a:cubicBezTo>
                  <a:pt x="5770548" y="6236600"/>
                  <a:pt x="5916359" y="6515160"/>
                  <a:pt x="6067212" y="6811916"/>
                </a:cubicBezTo>
                <a:lnTo>
                  <a:pt x="6089565" y="6858000"/>
                </a:lnTo>
                <a:lnTo>
                  <a:pt x="0" y="6858000"/>
                </a:lnTo>
                <a:lnTo>
                  <a:pt x="0" y="2181377"/>
                </a:lnTo>
                <a:lnTo>
                  <a:pt x="73069" y="2215839"/>
                </a:lnTo>
                <a:cubicBezTo>
                  <a:pt x="165116" y="2251829"/>
                  <a:pt x="254486" y="2263171"/>
                  <a:pt x="335445" y="2237140"/>
                </a:cubicBezTo>
                <a:cubicBezTo>
                  <a:pt x="594718" y="2153707"/>
                  <a:pt x="688441" y="1733807"/>
                  <a:pt x="752878" y="1445285"/>
                </a:cubicBezTo>
                <a:cubicBezTo>
                  <a:pt x="925059" y="674068"/>
                  <a:pt x="975076" y="456292"/>
                  <a:pt x="1202551" y="314229"/>
                </a:cubicBezTo>
                <a:cubicBezTo>
                  <a:pt x="1287853" y="260956"/>
                  <a:pt x="1394302" y="232308"/>
                  <a:pt x="1505570" y="227178"/>
                </a:cubicBezTo>
                <a:close/>
                <a:moveTo>
                  <a:pt x="3142509" y="68854"/>
                </a:moveTo>
                <a:cubicBezTo>
                  <a:pt x="3275474" y="52467"/>
                  <a:pt x="3407455" y="106339"/>
                  <a:pt x="3490978" y="211117"/>
                </a:cubicBezTo>
                <a:cubicBezTo>
                  <a:pt x="3535271" y="266744"/>
                  <a:pt x="3563404" y="333535"/>
                  <a:pt x="3572083" y="404131"/>
                </a:cubicBezTo>
                <a:cubicBezTo>
                  <a:pt x="3598092" y="615337"/>
                  <a:pt x="3448040" y="807648"/>
                  <a:pt x="3236814" y="833688"/>
                </a:cubicBezTo>
                <a:cubicBezTo>
                  <a:pt x="3025594" y="859741"/>
                  <a:pt x="2833255" y="709631"/>
                  <a:pt x="2807245" y="498425"/>
                </a:cubicBezTo>
                <a:cubicBezTo>
                  <a:pt x="2781232" y="287207"/>
                  <a:pt x="2931283" y="94896"/>
                  <a:pt x="3142509" y="68854"/>
                </a:cubicBezTo>
                <a:close/>
                <a:moveTo>
                  <a:pt x="0" y="0"/>
                </a:moveTo>
                <a:lnTo>
                  <a:pt x="39858" y="0"/>
                </a:lnTo>
                <a:lnTo>
                  <a:pt x="65022" y="5834"/>
                </a:lnTo>
                <a:cubicBezTo>
                  <a:pt x="191545" y="45606"/>
                  <a:pt x="305874" y="124173"/>
                  <a:pt x="389258" y="235630"/>
                </a:cubicBezTo>
                <a:cubicBezTo>
                  <a:pt x="430983" y="291600"/>
                  <a:pt x="463360" y="353876"/>
                  <a:pt x="485484" y="420070"/>
                </a:cubicBezTo>
                <a:cubicBezTo>
                  <a:pt x="597711" y="759508"/>
                  <a:pt x="413661" y="1125662"/>
                  <a:pt x="74229" y="1237955"/>
                </a:cubicBezTo>
                <a:lnTo>
                  <a:pt x="0" y="1254477"/>
                </a:lnTo>
                <a:close/>
              </a:path>
            </a:pathLst>
          </a:custGeom>
          <a:solidFill>
            <a:schemeClr val="bg1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60C036-BBCE-4F9E-AD56-DD36D4407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57784"/>
            <a:ext cx="109728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A5D7EC-1E6A-473F-B5A4-18CDFB6CF9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2106204"/>
            <a:ext cx="10972800" cy="40365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9981C7-34D5-49A4-949D-715FD4BD8F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US" sz="800" kern="1200" cap="all" spc="200" smtClean="0">
                <a:solidFill>
                  <a:schemeClr val="tx1"/>
                </a:soli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fld id="{F481A142-DA77-4A5F-AD1F-14E6C18F0F5F}" type="datetime1">
              <a:rPr lang="en-US" smtClean="0"/>
              <a:pPr/>
              <a:t>6/7/25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85CE6E-733D-4C60-B40B-C7C10CB5AF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800" kern="1200" cap="all" spc="200" dirty="0">
                <a:solidFill>
                  <a:schemeClr val="tx1"/>
                </a:soli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D80D8B-7909-4114-8EBA-C3086DC62B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34600" y="6356350"/>
            <a:ext cx="1447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n-US" sz="800" kern="1200" cap="all" spc="200" smtClean="0">
                <a:solidFill>
                  <a:schemeClr val="tx1"/>
                </a:soli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fld id="{1F646F3F-274D-499B-ABBE-824EB4ABDC3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7600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4" r:id="rId1"/>
    <p:sldLayoutId id="2147483725" r:id="rId2"/>
    <p:sldLayoutId id="2147483726" r:id="rId3"/>
    <p:sldLayoutId id="2147483727" r:id="rId4"/>
    <p:sldLayoutId id="2147483728" r:id="rId5"/>
    <p:sldLayoutId id="2147483734" r:id="rId6"/>
    <p:sldLayoutId id="2147483729" r:id="rId7"/>
    <p:sldLayoutId id="2147483730" r:id="rId8"/>
    <p:sldLayoutId id="2147483731" r:id="rId9"/>
    <p:sldLayoutId id="2147483733" r:id="rId10"/>
    <p:sldLayoutId id="2147483732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1000"/>
        </a:spcBef>
        <a:buClr>
          <a:schemeClr val="accent5"/>
        </a:buClr>
        <a:buFont typeface="Avenir Next LT Pro" panose="020B05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06E15305-164C-44CD-9E0F-420C2DC1B3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036A43E1-FF40-42FC-855B-DAB0A3DD99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71197648-88E1-AEBE-7D48-F2F509C6AB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4324574"/>
            <a:ext cx="6172200" cy="1895251"/>
          </a:xfrm>
        </p:spPr>
        <p:txBody>
          <a:bodyPr anchor="ctr">
            <a:normAutofit/>
          </a:bodyPr>
          <a:lstStyle/>
          <a:p>
            <a:r>
              <a:rPr kumimoji="1" lang="en-US" altLang="zh-TW" sz="4400" dirty="0"/>
              <a:t>MPU6050</a:t>
            </a:r>
            <a:br>
              <a:rPr kumimoji="1" lang="en-US" altLang="zh-TW" sz="4400" dirty="0"/>
            </a:br>
            <a:r>
              <a:rPr kumimoji="1" lang="en-US" altLang="zh-TW" sz="4400" dirty="0"/>
              <a:t>IMU sensor</a:t>
            </a:r>
            <a:endParaRPr kumimoji="1" lang="zh-TW" altLang="en-US" sz="4400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16D59AAC-D871-DA10-2D48-DC52159D70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13986" y="4324575"/>
            <a:ext cx="4568414" cy="1895250"/>
          </a:xfrm>
        </p:spPr>
        <p:txBody>
          <a:bodyPr anchor="ctr">
            <a:normAutofit/>
          </a:bodyPr>
          <a:lstStyle/>
          <a:p>
            <a:r>
              <a:rPr kumimoji="1" lang="en-US" altLang="zh-TW" dirty="0"/>
              <a:t>110611103</a:t>
            </a:r>
            <a:r>
              <a:rPr kumimoji="1" lang="zh-TW" altLang="en-US" dirty="0"/>
              <a:t>鄭庭安</a:t>
            </a:r>
            <a:endParaRPr kumimoji="1" lang="en-US" altLang="zh-TW" dirty="0"/>
          </a:p>
          <a:p>
            <a:r>
              <a:rPr kumimoji="1" lang="en-US" altLang="zh-TW" dirty="0"/>
              <a:t>111611073</a:t>
            </a:r>
            <a:r>
              <a:rPr kumimoji="1" lang="zh-TW" altLang="en-US" dirty="0"/>
              <a:t>高毓襄</a:t>
            </a:r>
            <a:endParaRPr kumimoji="1" lang="en-US" altLang="zh-TW" dirty="0"/>
          </a:p>
          <a:p>
            <a:r>
              <a:rPr kumimoji="1" lang="en-US" altLang="zh-TW" dirty="0"/>
              <a:t>111611038</a:t>
            </a:r>
            <a:r>
              <a:rPr kumimoji="1" lang="zh-TW" altLang="en-US" dirty="0"/>
              <a:t>陳千睿</a:t>
            </a:r>
          </a:p>
        </p:txBody>
      </p:sp>
      <p:pic>
        <p:nvPicPr>
          <p:cNvPr id="15" name="Picture 3" descr="棕色和淺綠色的大理石">
            <a:extLst>
              <a:ext uri="{FF2B5EF4-FFF2-40B4-BE49-F238E27FC236}">
                <a16:creationId xmlns:a16="http://schemas.microsoft.com/office/drawing/2014/main" id="{37C250CE-7B09-EF90-017C-AFBFFA5FDDA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479" b="10480"/>
          <a:stretch>
            <a:fillRect/>
          </a:stretch>
        </p:blipFill>
        <p:spPr>
          <a:xfrm>
            <a:off x="20" y="7"/>
            <a:ext cx="6095980" cy="3420995"/>
          </a:xfrm>
          <a:custGeom>
            <a:avLst/>
            <a:gdLst/>
            <a:ahLst/>
            <a:cxnLst/>
            <a:rect l="l" t="t" r="r" b="b"/>
            <a:pathLst>
              <a:path w="6321286" h="3547423">
                <a:moveTo>
                  <a:pt x="1767133" y="3042132"/>
                </a:moveTo>
                <a:cubicBezTo>
                  <a:pt x="1906665" y="3042132"/>
                  <a:pt x="2019778" y="3155246"/>
                  <a:pt x="2019778" y="3294778"/>
                </a:cubicBezTo>
                <a:cubicBezTo>
                  <a:pt x="2019778" y="3434310"/>
                  <a:pt x="1906665" y="3547423"/>
                  <a:pt x="1767133" y="3547423"/>
                </a:cubicBezTo>
                <a:cubicBezTo>
                  <a:pt x="1627601" y="3547423"/>
                  <a:pt x="1514487" y="3434310"/>
                  <a:pt x="1514487" y="3294778"/>
                </a:cubicBezTo>
                <a:cubicBezTo>
                  <a:pt x="1514487" y="3155246"/>
                  <a:pt x="1627601" y="3042132"/>
                  <a:pt x="1767133" y="3042132"/>
                </a:cubicBezTo>
                <a:close/>
                <a:moveTo>
                  <a:pt x="4944933" y="2414323"/>
                </a:moveTo>
                <a:cubicBezTo>
                  <a:pt x="5188063" y="2414323"/>
                  <a:pt x="5385159" y="2611419"/>
                  <a:pt x="5385159" y="2854550"/>
                </a:cubicBezTo>
                <a:cubicBezTo>
                  <a:pt x="5385159" y="3097681"/>
                  <a:pt x="5188063" y="3294778"/>
                  <a:pt x="4944933" y="3294778"/>
                </a:cubicBezTo>
                <a:cubicBezTo>
                  <a:pt x="4701802" y="3294778"/>
                  <a:pt x="4504705" y="3097681"/>
                  <a:pt x="4504705" y="2854550"/>
                </a:cubicBezTo>
                <a:cubicBezTo>
                  <a:pt x="4504705" y="2611419"/>
                  <a:pt x="4701802" y="2414323"/>
                  <a:pt x="4944933" y="2414323"/>
                </a:cubicBezTo>
                <a:close/>
                <a:moveTo>
                  <a:pt x="0" y="0"/>
                </a:moveTo>
                <a:lnTo>
                  <a:pt x="5635247" y="0"/>
                </a:lnTo>
                <a:lnTo>
                  <a:pt x="5638924" y="11266"/>
                </a:lnTo>
                <a:cubicBezTo>
                  <a:pt x="5795885" y="386795"/>
                  <a:pt x="6337644" y="655321"/>
                  <a:pt x="6320907" y="1191985"/>
                </a:cubicBezTo>
                <a:cubicBezTo>
                  <a:pt x="6309358" y="1550467"/>
                  <a:pt x="6052970" y="1921255"/>
                  <a:pt x="5739936" y="2060340"/>
                </a:cubicBezTo>
                <a:cubicBezTo>
                  <a:pt x="5259770" y="2273293"/>
                  <a:pt x="4898416" y="1830861"/>
                  <a:pt x="4498125" y="2055925"/>
                </a:cubicBezTo>
                <a:cubicBezTo>
                  <a:pt x="4165958" y="2242690"/>
                  <a:pt x="4217427" y="2743720"/>
                  <a:pt x="3820385" y="3111779"/>
                </a:cubicBezTo>
                <a:cubicBezTo>
                  <a:pt x="3523599" y="3386986"/>
                  <a:pt x="3196093" y="3364751"/>
                  <a:pt x="2828798" y="3321912"/>
                </a:cubicBezTo>
                <a:cubicBezTo>
                  <a:pt x="2332515" y="3263824"/>
                  <a:pt x="2319879" y="2944496"/>
                  <a:pt x="1898307" y="2879780"/>
                </a:cubicBezTo>
                <a:cubicBezTo>
                  <a:pt x="1222430" y="2775917"/>
                  <a:pt x="870937" y="3535443"/>
                  <a:pt x="319947" y="3521211"/>
                </a:cubicBezTo>
                <a:cubicBezTo>
                  <a:pt x="283215" y="3520263"/>
                  <a:pt x="245596" y="3515875"/>
                  <a:pt x="206934" y="3507563"/>
                </a:cubicBezTo>
                <a:cubicBezTo>
                  <a:pt x="159224" y="3497285"/>
                  <a:pt x="112712" y="3481511"/>
                  <a:pt x="67717" y="3461026"/>
                </a:cubicBezTo>
                <a:lnTo>
                  <a:pt x="0" y="3422094"/>
                </a:lnTo>
                <a:close/>
              </a:path>
            </a:pathLst>
          </a:custGeom>
        </p:spPr>
      </p:pic>
      <p:pic>
        <p:nvPicPr>
          <p:cNvPr id="1026" name="Picture 2" descr="一張含有 文字, 電子工程, 電路, 電子產品 的圖片&#10;&#10;自動產生的描述">
            <a:extLst>
              <a:ext uri="{FF2B5EF4-FFF2-40B4-BE49-F238E27FC236}">
                <a16:creationId xmlns:a16="http://schemas.microsoft.com/office/drawing/2014/main" id="{11B0C096-6D05-6D76-A122-2909EF127C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639" r="-1" b="6398"/>
          <a:stretch>
            <a:fillRect/>
          </a:stretch>
        </p:blipFill>
        <p:spPr bwMode="auto">
          <a:xfrm>
            <a:off x="6867525" y="-11"/>
            <a:ext cx="5324474" cy="4044576"/>
          </a:xfrm>
          <a:custGeom>
            <a:avLst/>
            <a:gdLst/>
            <a:ahLst/>
            <a:cxnLst/>
            <a:rect l="l" t="t" r="r" b="b"/>
            <a:pathLst>
              <a:path w="7067916" h="5679191">
                <a:moveTo>
                  <a:pt x="5937534" y="5135947"/>
                </a:moveTo>
                <a:cubicBezTo>
                  <a:pt x="5955933" y="5133031"/>
                  <a:pt x="5974326" y="5133563"/>
                  <a:pt x="5991684" y="5137321"/>
                </a:cubicBezTo>
                <a:cubicBezTo>
                  <a:pt x="6026400" y="5144836"/>
                  <a:pt x="6056978" y="5165255"/>
                  <a:pt x="6075187" y="5196795"/>
                </a:cubicBezTo>
                <a:cubicBezTo>
                  <a:pt x="6111607" y="5259875"/>
                  <a:pt x="6084765" y="5343555"/>
                  <a:pt x="6015234" y="5383699"/>
                </a:cubicBezTo>
                <a:cubicBezTo>
                  <a:pt x="5945703" y="5423842"/>
                  <a:pt x="5859813" y="5405248"/>
                  <a:pt x="5823394" y="5342168"/>
                </a:cubicBezTo>
                <a:cubicBezTo>
                  <a:pt x="5786974" y="5279088"/>
                  <a:pt x="5813816" y="5195408"/>
                  <a:pt x="5883347" y="5155264"/>
                </a:cubicBezTo>
                <a:cubicBezTo>
                  <a:pt x="5900730" y="5145228"/>
                  <a:pt x="5919135" y="5138864"/>
                  <a:pt x="5937534" y="5135947"/>
                </a:cubicBezTo>
                <a:close/>
                <a:moveTo>
                  <a:pt x="6569625" y="4727663"/>
                </a:moveTo>
                <a:cubicBezTo>
                  <a:pt x="6650640" y="4737356"/>
                  <a:pt x="6723696" y="4780631"/>
                  <a:pt x="6765110" y="4852362"/>
                </a:cubicBezTo>
                <a:cubicBezTo>
                  <a:pt x="6838735" y="4979883"/>
                  <a:pt x="6784472" y="5149048"/>
                  <a:pt x="6643912" y="5230200"/>
                </a:cubicBezTo>
                <a:cubicBezTo>
                  <a:pt x="6503351" y="5311353"/>
                  <a:pt x="6329720" y="5273763"/>
                  <a:pt x="6256095" y="5146242"/>
                </a:cubicBezTo>
                <a:cubicBezTo>
                  <a:pt x="6182471" y="5018721"/>
                  <a:pt x="6236733" y="4849557"/>
                  <a:pt x="6377294" y="4768404"/>
                </a:cubicBezTo>
                <a:cubicBezTo>
                  <a:pt x="6412434" y="4748116"/>
                  <a:pt x="6449641" y="4735249"/>
                  <a:pt x="6486836" y="4729354"/>
                </a:cubicBezTo>
                <a:cubicBezTo>
                  <a:pt x="6514732" y="4724932"/>
                  <a:pt x="6542621" y="4724432"/>
                  <a:pt x="6569625" y="4727663"/>
                </a:cubicBezTo>
                <a:close/>
                <a:moveTo>
                  <a:pt x="4883726" y="0"/>
                </a:moveTo>
                <a:lnTo>
                  <a:pt x="6067704" y="0"/>
                </a:lnTo>
                <a:lnTo>
                  <a:pt x="7067916" y="0"/>
                </a:lnTo>
                <a:lnTo>
                  <a:pt x="7067916" y="4561693"/>
                </a:lnTo>
                <a:lnTo>
                  <a:pt x="7034742" y="4557937"/>
                </a:lnTo>
                <a:cubicBezTo>
                  <a:pt x="6853258" y="4540713"/>
                  <a:pt x="6670056" y="4534243"/>
                  <a:pt x="6488514" y="4547719"/>
                </a:cubicBezTo>
                <a:cubicBezTo>
                  <a:pt x="6264162" y="4564516"/>
                  <a:pt x="6118747" y="4760666"/>
                  <a:pt x="5978019" y="4937720"/>
                </a:cubicBezTo>
                <a:cubicBezTo>
                  <a:pt x="5627350" y="5379064"/>
                  <a:pt x="5218215" y="5536615"/>
                  <a:pt x="4791586" y="5344798"/>
                </a:cubicBezTo>
                <a:cubicBezTo>
                  <a:pt x="4626126" y="5270408"/>
                  <a:pt x="4484365" y="5121197"/>
                  <a:pt x="4355354" y="4980490"/>
                </a:cubicBezTo>
                <a:cubicBezTo>
                  <a:pt x="4009469" y="4603119"/>
                  <a:pt x="3597504" y="4629399"/>
                  <a:pt x="3215143" y="4876126"/>
                </a:cubicBezTo>
                <a:cubicBezTo>
                  <a:pt x="2943692" y="5051874"/>
                  <a:pt x="2687599" y="5260847"/>
                  <a:pt x="2406113" y="5411544"/>
                </a:cubicBezTo>
                <a:cubicBezTo>
                  <a:pt x="1707773" y="5787063"/>
                  <a:pt x="1022273" y="5789747"/>
                  <a:pt x="421590" y="5276775"/>
                </a:cubicBezTo>
                <a:cubicBezTo>
                  <a:pt x="-56880" y="4867782"/>
                  <a:pt x="-271463" y="3840132"/>
                  <a:pt x="566218" y="3250270"/>
                </a:cubicBezTo>
                <a:cubicBezTo>
                  <a:pt x="760203" y="3113637"/>
                  <a:pt x="943222" y="2957027"/>
                  <a:pt x="1126371" y="2802345"/>
                </a:cubicBezTo>
                <a:cubicBezTo>
                  <a:pt x="1299556" y="2655997"/>
                  <a:pt x="1358675" y="2449385"/>
                  <a:pt x="1302357" y="2225687"/>
                </a:cubicBezTo>
                <a:cubicBezTo>
                  <a:pt x="1240067" y="1979799"/>
                  <a:pt x="1155407" y="1739276"/>
                  <a:pt x="1117638" y="1488008"/>
                </a:cubicBezTo>
                <a:cubicBezTo>
                  <a:pt x="1050261" y="1039959"/>
                  <a:pt x="1226674" y="663622"/>
                  <a:pt x="1730966" y="502696"/>
                </a:cubicBezTo>
                <a:cubicBezTo>
                  <a:pt x="2144524" y="370704"/>
                  <a:pt x="2521883" y="462351"/>
                  <a:pt x="2901105" y="610346"/>
                </a:cubicBezTo>
                <a:cubicBezTo>
                  <a:pt x="3229040" y="738211"/>
                  <a:pt x="3585064" y="864609"/>
                  <a:pt x="3927078" y="715576"/>
                </a:cubicBezTo>
                <a:cubicBezTo>
                  <a:pt x="4203888" y="594747"/>
                  <a:pt x="4439765" y="348646"/>
                  <a:pt x="4692158" y="155484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007594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Background Fill">
            <a:extLst>
              <a:ext uri="{FF2B5EF4-FFF2-40B4-BE49-F238E27FC236}">
                <a16:creationId xmlns:a16="http://schemas.microsoft.com/office/drawing/2014/main" id="{B937640E-EF7A-4A6C-A950-D12B7D5C92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76BDF4D-4826-490A-8307-7247A295E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2E0FF4CF-25CB-4537-9BBF-28B36C76BE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65328" y="1352190"/>
            <a:ext cx="7823624" cy="5505810"/>
          </a:xfrm>
          <a:custGeom>
            <a:avLst/>
            <a:gdLst>
              <a:gd name="connsiteX0" fmla="*/ 7676365 w 7823624"/>
              <a:gd name="connsiteY0" fmla="*/ 583688 h 5505810"/>
              <a:gd name="connsiteX1" fmla="*/ 7807957 w 7823624"/>
              <a:gd name="connsiteY1" fmla="*/ 609260 h 5505810"/>
              <a:gd name="connsiteX2" fmla="*/ 7823624 w 7823624"/>
              <a:gd name="connsiteY2" fmla="*/ 618028 h 5505810"/>
              <a:gd name="connsiteX3" fmla="*/ 7823624 w 7823624"/>
              <a:gd name="connsiteY3" fmla="*/ 1356037 h 5505810"/>
              <a:gd name="connsiteX4" fmla="*/ 7783921 w 7823624"/>
              <a:gd name="connsiteY4" fmla="*/ 1367061 h 5505810"/>
              <a:gd name="connsiteX5" fmla="*/ 7685829 w 7823624"/>
              <a:gd name="connsiteY5" fmla="*/ 1364631 h 5505810"/>
              <a:gd name="connsiteX6" fmla="*/ 7556041 w 7823624"/>
              <a:gd name="connsiteY6" fmla="*/ 1308528 h 5505810"/>
              <a:gd name="connsiteX7" fmla="*/ 7412440 w 7823624"/>
              <a:gd name="connsiteY7" fmla="*/ 765688 h 5505810"/>
              <a:gd name="connsiteX8" fmla="*/ 7676365 w 7823624"/>
              <a:gd name="connsiteY8" fmla="*/ 583688 h 5505810"/>
              <a:gd name="connsiteX9" fmla="*/ 7062857 w 7823624"/>
              <a:gd name="connsiteY9" fmla="*/ 396783 h 5505810"/>
              <a:gd name="connsiteX10" fmla="*/ 7127059 w 7823624"/>
              <a:gd name="connsiteY10" fmla="*/ 424535 h 5505810"/>
              <a:gd name="connsiteX11" fmla="*/ 7198094 w 7823624"/>
              <a:gd name="connsiteY11" fmla="*/ 693059 h 5505810"/>
              <a:gd name="connsiteX12" fmla="*/ 7099157 w 7823624"/>
              <a:gd name="connsiteY12" fmla="*/ 778505 h 5505810"/>
              <a:gd name="connsiteX13" fmla="*/ 7034998 w 7823624"/>
              <a:gd name="connsiteY13" fmla="*/ 780480 h 5505810"/>
              <a:gd name="connsiteX14" fmla="*/ 6970795 w 7823624"/>
              <a:gd name="connsiteY14" fmla="*/ 752727 h 5505810"/>
              <a:gd name="connsiteX15" fmla="*/ 6899760 w 7823624"/>
              <a:gd name="connsiteY15" fmla="*/ 484203 h 5505810"/>
              <a:gd name="connsiteX16" fmla="*/ 7062857 w 7823624"/>
              <a:gd name="connsiteY16" fmla="*/ 396783 h 5505810"/>
              <a:gd name="connsiteX17" fmla="*/ 1780739 w 7823624"/>
              <a:gd name="connsiteY17" fmla="*/ 1190 h 5505810"/>
              <a:gd name="connsiteX18" fmla="*/ 2850847 w 7823624"/>
              <a:gd name="connsiteY18" fmla="*/ 384530 h 5505810"/>
              <a:gd name="connsiteX19" fmla="*/ 3809413 w 7823624"/>
              <a:gd name="connsiteY19" fmla="*/ 1153764 h 5505810"/>
              <a:gd name="connsiteX20" fmla="*/ 5160376 w 7823624"/>
              <a:gd name="connsiteY20" fmla="*/ 1003825 h 5505810"/>
              <a:gd name="connsiteX21" fmla="*/ 5677238 w 7823624"/>
              <a:gd name="connsiteY21" fmla="*/ 480424 h 5505810"/>
              <a:gd name="connsiteX22" fmla="*/ 7082965 w 7823624"/>
              <a:gd name="connsiteY22" fmla="*/ 1065272 h 5505810"/>
              <a:gd name="connsiteX23" fmla="*/ 7687818 w 7823624"/>
              <a:gd name="connsiteY23" fmla="*/ 1625585 h 5505810"/>
              <a:gd name="connsiteX24" fmla="*/ 7823624 w 7823624"/>
              <a:gd name="connsiteY24" fmla="*/ 1633445 h 5505810"/>
              <a:gd name="connsiteX25" fmla="*/ 7823624 w 7823624"/>
              <a:gd name="connsiteY25" fmla="*/ 5505810 h 5505810"/>
              <a:gd name="connsiteX26" fmla="*/ 1419133 w 7823624"/>
              <a:gd name="connsiteY26" fmla="*/ 5505810 h 5505810"/>
              <a:gd name="connsiteX27" fmla="*/ 1422753 w 7823624"/>
              <a:gd name="connsiteY27" fmla="*/ 5488656 h 5505810"/>
              <a:gd name="connsiteX28" fmla="*/ 1543078 w 7823624"/>
              <a:gd name="connsiteY28" fmla="*/ 4961644 h 5505810"/>
              <a:gd name="connsiteX29" fmla="*/ 1334564 w 7823624"/>
              <a:gd name="connsiteY29" fmla="*/ 4133160 h 5505810"/>
              <a:gd name="connsiteX30" fmla="*/ 670875 w 7823624"/>
              <a:gd name="connsiteY30" fmla="*/ 3489628 h 5505810"/>
              <a:gd name="connsiteX31" fmla="*/ 499515 w 7823624"/>
              <a:gd name="connsiteY31" fmla="*/ 578153 h 5505810"/>
              <a:gd name="connsiteX32" fmla="*/ 1780739 w 7823624"/>
              <a:gd name="connsiteY32" fmla="*/ 1190 h 5505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7823624" h="5505810">
                <a:moveTo>
                  <a:pt x="7676365" y="583688"/>
                </a:moveTo>
                <a:cubicBezTo>
                  <a:pt x="7719804" y="582304"/>
                  <a:pt x="7764489" y="590613"/>
                  <a:pt x="7807957" y="609260"/>
                </a:cubicBezTo>
                <a:lnTo>
                  <a:pt x="7823624" y="618028"/>
                </a:lnTo>
                <a:lnTo>
                  <a:pt x="7823624" y="1356037"/>
                </a:lnTo>
                <a:lnTo>
                  <a:pt x="7783921" y="1367061"/>
                </a:lnTo>
                <a:cubicBezTo>
                  <a:pt x="7751926" y="1371702"/>
                  <a:pt x="7718882" y="1370985"/>
                  <a:pt x="7685829" y="1364631"/>
                </a:cubicBezTo>
                <a:cubicBezTo>
                  <a:pt x="7641760" y="1356162"/>
                  <a:pt x="7597675" y="1337676"/>
                  <a:pt x="7556041" y="1308528"/>
                </a:cubicBezTo>
                <a:cubicBezTo>
                  <a:pt x="7389499" y="1191936"/>
                  <a:pt x="7325207" y="948898"/>
                  <a:pt x="7412440" y="765688"/>
                </a:cubicBezTo>
                <a:cubicBezTo>
                  <a:pt x="7466961" y="651183"/>
                  <a:pt x="7567768" y="587147"/>
                  <a:pt x="7676365" y="583688"/>
                </a:cubicBezTo>
                <a:close/>
                <a:moveTo>
                  <a:pt x="7062857" y="396783"/>
                </a:moveTo>
                <a:cubicBezTo>
                  <a:pt x="7084657" y="400973"/>
                  <a:pt x="7106463" y="410117"/>
                  <a:pt x="7127059" y="424535"/>
                </a:cubicBezTo>
                <a:cubicBezTo>
                  <a:pt x="7209442" y="482209"/>
                  <a:pt x="7241245" y="602433"/>
                  <a:pt x="7198094" y="693059"/>
                </a:cubicBezTo>
                <a:cubicBezTo>
                  <a:pt x="7176519" y="738373"/>
                  <a:pt x="7140289" y="767709"/>
                  <a:pt x="7099157" y="778505"/>
                </a:cubicBezTo>
                <a:cubicBezTo>
                  <a:pt x="7078590" y="783905"/>
                  <a:pt x="7056797" y="784670"/>
                  <a:pt x="7034998" y="780480"/>
                </a:cubicBezTo>
                <a:cubicBezTo>
                  <a:pt x="7013198" y="776289"/>
                  <a:pt x="6991391" y="767146"/>
                  <a:pt x="6970795" y="752727"/>
                </a:cubicBezTo>
                <a:cubicBezTo>
                  <a:pt x="6888412" y="695052"/>
                  <a:pt x="6856608" y="574829"/>
                  <a:pt x="6899760" y="484203"/>
                </a:cubicBezTo>
                <a:cubicBezTo>
                  <a:pt x="6932124" y="416232"/>
                  <a:pt x="6997458" y="384213"/>
                  <a:pt x="7062857" y="396783"/>
                </a:cubicBezTo>
                <a:close/>
                <a:moveTo>
                  <a:pt x="1780739" y="1190"/>
                </a:moveTo>
                <a:cubicBezTo>
                  <a:pt x="2129768" y="14988"/>
                  <a:pt x="2488852" y="148495"/>
                  <a:pt x="2850847" y="384530"/>
                </a:cubicBezTo>
                <a:cubicBezTo>
                  <a:pt x="3184362" y="601036"/>
                  <a:pt x="3487788" y="901267"/>
                  <a:pt x="3809413" y="1153764"/>
                </a:cubicBezTo>
                <a:cubicBezTo>
                  <a:pt x="4262448" y="1508236"/>
                  <a:pt x="4750558" y="1545992"/>
                  <a:pt x="5160376" y="1003825"/>
                </a:cubicBezTo>
                <a:cubicBezTo>
                  <a:pt x="5313232" y="801671"/>
                  <a:pt x="5481196" y="587300"/>
                  <a:pt x="5677238" y="480424"/>
                </a:cubicBezTo>
                <a:cubicBezTo>
                  <a:pt x="6182723" y="204840"/>
                  <a:pt x="6667481" y="431193"/>
                  <a:pt x="7082965" y="1065272"/>
                </a:cubicBezTo>
                <a:cubicBezTo>
                  <a:pt x="7249706" y="1319645"/>
                  <a:pt x="7421998" y="1601453"/>
                  <a:pt x="7687818" y="1625585"/>
                </a:cubicBezTo>
                <a:lnTo>
                  <a:pt x="7823624" y="1633445"/>
                </a:lnTo>
                <a:lnTo>
                  <a:pt x="7823624" y="5505810"/>
                </a:lnTo>
                <a:lnTo>
                  <a:pt x="1419133" y="5505810"/>
                </a:lnTo>
                <a:lnTo>
                  <a:pt x="1422753" y="5488656"/>
                </a:lnTo>
                <a:cubicBezTo>
                  <a:pt x="1462649" y="5312984"/>
                  <a:pt x="1506176" y="5138278"/>
                  <a:pt x="1543078" y="4961644"/>
                </a:cubicBezTo>
                <a:cubicBezTo>
                  <a:pt x="1609806" y="4640258"/>
                  <a:pt x="1539760" y="4343419"/>
                  <a:pt x="1334564" y="4133160"/>
                </a:cubicBezTo>
                <a:cubicBezTo>
                  <a:pt x="1117562" y="3910930"/>
                  <a:pt x="900716" y="3685928"/>
                  <a:pt x="670875" y="3489628"/>
                </a:cubicBezTo>
                <a:cubicBezTo>
                  <a:pt x="-321639" y="2642174"/>
                  <a:pt x="-67393" y="1165752"/>
                  <a:pt x="499515" y="578153"/>
                </a:cubicBezTo>
                <a:cubicBezTo>
                  <a:pt x="899852" y="163598"/>
                  <a:pt x="1331986" y="-16550"/>
                  <a:pt x="1780739" y="119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7FC81DEF-5556-FDFA-1DF9-D5BBED720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52783"/>
            <a:ext cx="10972800" cy="1570804"/>
          </a:xfrm>
        </p:spPr>
        <p:txBody>
          <a:bodyPr>
            <a:normAutofit fontScale="90000"/>
          </a:bodyPr>
          <a:lstStyle/>
          <a:p>
            <a:pPr>
              <a:lnSpc>
                <a:spcPct val="90000"/>
              </a:lnSpc>
            </a:pPr>
            <a:br>
              <a:rPr kumimoji="1" lang="en" altLang="zh-TW" sz="2400" dirty="0">
                <a:latin typeface="Times New Roman" panose="02020603050405020304" pitchFamily="18" charset="0"/>
                <a:ea typeface="Heiti SC Light" panose="02000000000000000000" pitchFamily="2" charset="-128"/>
                <a:cs typeface="Times New Roman" panose="02020603050405020304" pitchFamily="18" charset="0"/>
              </a:rPr>
            </a:br>
            <a:r>
              <a:rPr kumimoji="1" lang="en-US" altLang="zh-TW" sz="2400" dirty="0">
                <a:latin typeface="Times New Roman" panose="02020603050405020304" pitchFamily="18" charset="0"/>
                <a:ea typeface="Heiti SC Light" panose="02000000000000000000" pitchFamily="2" charset="-128"/>
                <a:cs typeface="Times New Roman" panose="02020603050405020304" pitchFamily="18" charset="0"/>
              </a:rPr>
              <a:t>110611103</a:t>
            </a:r>
            <a:r>
              <a:rPr kumimoji="1" lang="zh-TW" altLang="en-US" sz="2400" dirty="0">
                <a:latin typeface="Times New Roman" panose="02020603050405020304" pitchFamily="18" charset="0"/>
                <a:ea typeface="Heiti SC Light" panose="02000000000000000000" pitchFamily="2" charset="-128"/>
                <a:cs typeface="Times New Roman" panose="02020603050405020304" pitchFamily="18" charset="0"/>
              </a:rPr>
              <a:t>鄭庭安</a:t>
            </a:r>
            <a:br>
              <a:rPr kumimoji="1" lang="zh-TW" altLang="en-US" sz="2400" dirty="0">
                <a:latin typeface="Times New Roman" panose="02020603050405020304" pitchFamily="18" charset="0"/>
                <a:ea typeface="Heiti SC Light" panose="02000000000000000000" pitchFamily="2" charset="-128"/>
                <a:cs typeface="Times New Roman" panose="02020603050405020304" pitchFamily="18" charset="0"/>
              </a:rPr>
            </a:br>
            <a:br>
              <a:rPr kumimoji="1" lang="en" altLang="zh-TW" sz="2400" dirty="0">
                <a:latin typeface="Times New Roman" panose="02020603050405020304" pitchFamily="18" charset="0"/>
                <a:ea typeface="Heiti SC Light" panose="02000000000000000000" pitchFamily="2" charset="-128"/>
                <a:cs typeface="Times New Roman" panose="02020603050405020304" pitchFamily="18" charset="0"/>
              </a:rPr>
            </a:br>
            <a:r>
              <a:rPr kumimoji="1" lang="en" altLang="zh-TW" sz="2400" dirty="0">
                <a:latin typeface="Times New Roman" panose="02020603050405020304" pitchFamily="18" charset="0"/>
                <a:ea typeface="Heiti SC Light" panose="02000000000000000000" pitchFamily="2" charset="-128"/>
                <a:cs typeface="Times New Roman" panose="02020603050405020304" pitchFamily="18" charset="0"/>
              </a:rPr>
              <a:t>Paper: Noise Attenuation on IMU Measurement For Drone Balance by Sensor Fusion</a:t>
            </a:r>
            <a:br>
              <a:rPr kumimoji="1" lang="en" altLang="zh-TW" sz="2400" dirty="0">
                <a:latin typeface="Times New Roman" panose="02020603050405020304" pitchFamily="18" charset="0"/>
                <a:ea typeface="Heiti SC Light" panose="02000000000000000000" pitchFamily="2" charset="-128"/>
                <a:cs typeface="Times New Roman" panose="02020603050405020304" pitchFamily="18" charset="0"/>
              </a:rPr>
            </a:br>
            <a:r>
              <a:rPr kumimoji="1" lang="zh-TW" altLang="en-US" sz="2400" dirty="0">
                <a:latin typeface="Times New Roman" panose="02020603050405020304" pitchFamily="18" charset="0"/>
                <a:ea typeface="Heiti SC Light" panose="02000000000000000000" pitchFamily="2" charset="-128"/>
                <a:cs typeface="Times New Roman" panose="02020603050405020304" pitchFamily="18" charset="0"/>
              </a:rPr>
              <a:t>無人機穩定性提升：基</a:t>
            </a:r>
            <a:r>
              <a:rPr kumimoji="1" lang="en-US" altLang="zh-TW" sz="2400" dirty="0">
                <a:latin typeface="Times New Roman" panose="02020603050405020304" pitchFamily="18" charset="0"/>
                <a:ea typeface="Heiti SC Light" panose="02000000000000000000" pitchFamily="2" charset="-128"/>
                <a:cs typeface="Times New Roman" panose="02020603050405020304" pitchFamily="18" charset="0"/>
              </a:rPr>
              <a:t>­</a:t>
            </a:r>
            <a:r>
              <a:rPr kumimoji="1" lang="zh-TW" altLang="en-US" sz="2400" dirty="0">
                <a:latin typeface="Times New Roman" panose="02020603050405020304" pitchFamily="18" charset="0"/>
                <a:ea typeface="Heiti SC Light" panose="02000000000000000000" pitchFamily="2" charset="-128"/>
                <a:cs typeface="Times New Roman" panose="02020603050405020304" pitchFamily="18" charset="0"/>
              </a:rPr>
              <a:t>於 </a:t>
            </a:r>
            <a:r>
              <a:rPr kumimoji="1" lang="en" altLang="zh-TW" sz="2400" dirty="0">
                <a:solidFill>
                  <a:srgbClr val="FF0000"/>
                </a:solidFill>
                <a:latin typeface="Times New Roman" panose="02020603050405020304" pitchFamily="18" charset="0"/>
                <a:ea typeface="Heiti SC Light" panose="02000000000000000000" pitchFamily="2" charset="-128"/>
                <a:cs typeface="Times New Roman" panose="02020603050405020304" pitchFamily="18" charset="0"/>
              </a:rPr>
              <a:t>MPU-6050</a:t>
            </a:r>
            <a:r>
              <a:rPr kumimoji="1" lang="en" altLang="zh-TW" sz="2400" dirty="0">
                <a:latin typeface="Times New Roman" panose="02020603050405020304" pitchFamily="18" charset="0"/>
                <a:ea typeface="Heiti SC Light" panose="02000000000000000000" pitchFamily="2" charset="-128"/>
                <a:cs typeface="Times New Roman" panose="02020603050405020304" pitchFamily="18" charset="0"/>
              </a:rPr>
              <a:t> IMU</a:t>
            </a:r>
            <a:r>
              <a:rPr kumimoji="1" lang="zh-TW" altLang="en-US" sz="2400" dirty="0">
                <a:latin typeface="Times New Roman" panose="02020603050405020304" pitchFamily="18" charset="0"/>
                <a:ea typeface="Heiti SC Light" panose="02000000000000000000" pitchFamily="2" charset="-128"/>
                <a:cs typeface="Times New Roman" panose="02020603050405020304" pitchFamily="18" charset="0"/>
              </a:rPr>
              <a:t>感測器整合技術之研究分析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73440D2-BD7D-4EE0-DCDE-0B440339F6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2397689"/>
            <a:ext cx="3750023" cy="3445893"/>
          </a:xfrm>
        </p:spPr>
        <p:txBody>
          <a:bodyPr>
            <a:normAutofit lnSpcReduction="10000"/>
          </a:bodyPr>
          <a:lstStyle/>
          <a:p>
            <a:pPr marL="228600">
              <a:lnSpc>
                <a:spcPct val="100000"/>
              </a:lnSpc>
              <a:spcAft>
                <a:spcPts val="600"/>
              </a:spcAft>
            </a:pPr>
            <a:endParaRPr lang="en-US" altLang="zh-TW" sz="170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Heiti SC Light" panose="02000000000000000000" pitchFamily="2" charset="-128"/>
              <a:cs typeface="Times New Roman" panose="02020603050405020304" pitchFamily="18" charset="0"/>
            </a:endParaRPr>
          </a:p>
          <a:p>
            <a:pPr marL="228600">
              <a:lnSpc>
                <a:spcPct val="100000"/>
              </a:lnSpc>
              <a:spcAft>
                <a:spcPts val="600"/>
              </a:spcAft>
            </a:pPr>
            <a:r>
              <a:rPr lang="zh-TW" altLang="zh-TW" sz="1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Heiti SC Light" panose="02000000000000000000" pitchFamily="2" charset="-128"/>
                <a:cs typeface="Times New Roman" panose="02020603050405020304" pitchFamily="18" charset="0"/>
              </a:rPr>
              <a:t>背景</a:t>
            </a:r>
            <a:r>
              <a:rPr lang="zh-TW" altLang="zh-TW" sz="1800" dirty="0">
                <a:effectLst/>
                <a:latin typeface="Times New Roman" panose="02020603050405020304" pitchFamily="18" charset="0"/>
                <a:ea typeface="Heiti SC Light" panose="02000000000000000000" pitchFamily="2" charset="-128"/>
                <a:cs typeface="Times New Roman" panose="02020603050405020304" pitchFamily="18" charset="0"/>
              </a:rPr>
              <a:t>：無人機要確保在空中控制、飛行順利，</a:t>
            </a:r>
            <a:r>
              <a:rPr lang="zh-TW" altLang="zh-TW" sz="1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Heiti SC Light" panose="02000000000000000000" pitchFamily="2" charset="-128"/>
                <a:cs typeface="Times New Roman" panose="02020603050405020304" pitchFamily="18" charset="0"/>
              </a:rPr>
              <a:t>穩定性</a:t>
            </a:r>
            <a:r>
              <a:rPr lang="zh-TW" altLang="zh-TW" sz="1800" dirty="0">
                <a:effectLst/>
                <a:latin typeface="Times New Roman" panose="02020603050405020304" pitchFamily="18" charset="0"/>
                <a:ea typeface="Heiti SC Light" panose="02000000000000000000" pitchFamily="2" charset="-128"/>
                <a:cs typeface="Times New Roman" panose="02020603050405020304" pitchFamily="18" charset="0"/>
              </a:rPr>
              <a:t>是重要的一環。</a:t>
            </a:r>
          </a:p>
          <a:p>
            <a:pPr marL="228600">
              <a:lnSpc>
                <a:spcPct val="100000"/>
              </a:lnSpc>
              <a:spcAft>
                <a:spcPts val="600"/>
              </a:spcAft>
            </a:pPr>
            <a:r>
              <a:rPr lang="zh-TW" altLang="zh-TW" sz="1800" dirty="0">
                <a:effectLst/>
                <a:latin typeface="Times New Roman" panose="02020603050405020304" pitchFamily="18" charset="0"/>
                <a:ea typeface="Heiti SC Light" panose="02000000000000000000" pitchFamily="2" charset="-128"/>
                <a:cs typeface="Times New Roman" panose="02020603050405020304" pitchFamily="18" charset="0"/>
              </a:rPr>
              <a:t>但由其馬達和外界（</a:t>
            </a:r>
            <a:r>
              <a:rPr lang="en-US" altLang="zh-TW" sz="1800" dirty="0">
                <a:effectLst/>
                <a:latin typeface="Times New Roman" panose="02020603050405020304" pitchFamily="18" charset="0"/>
                <a:ea typeface="Heiti SC Light" panose="02000000000000000000" pitchFamily="2" charset="-128"/>
                <a:cs typeface="Times New Roman" panose="02020603050405020304" pitchFamily="18" charset="0"/>
              </a:rPr>
              <a:t>e.g.</a:t>
            </a:r>
            <a:r>
              <a:rPr lang="zh-TW" altLang="zh-TW" sz="1800" dirty="0">
                <a:effectLst/>
                <a:latin typeface="Times New Roman" panose="02020603050405020304" pitchFamily="18" charset="0"/>
                <a:ea typeface="Heiti SC Light" panose="02000000000000000000" pitchFamily="2" charset="-128"/>
                <a:cs typeface="Times New Roman" panose="02020603050405020304" pitchFamily="18" charset="0"/>
              </a:rPr>
              <a:t>風）造成的</a:t>
            </a:r>
            <a:r>
              <a:rPr lang="zh-TW" altLang="zh-TW" sz="1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Heiti SC Light" panose="02000000000000000000" pitchFamily="2" charset="-128"/>
                <a:cs typeface="Times New Roman" panose="02020603050405020304" pitchFamily="18" charset="0"/>
              </a:rPr>
              <a:t>雜訊</a:t>
            </a:r>
            <a:r>
              <a:rPr lang="zh-TW" altLang="zh-TW" sz="1800" dirty="0">
                <a:effectLst/>
                <a:latin typeface="Times New Roman" panose="02020603050405020304" pitchFamily="18" charset="0"/>
                <a:ea typeface="Heiti SC Light" panose="02000000000000000000" pitchFamily="2" charset="-128"/>
                <a:cs typeface="Times New Roman" panose="02020603050405020304" pitchFamily="18" charset="0"/>
              </a:rPr>
              <a:t>，皆會對穩定性造成不良影響。</a:t>
            </a:r>
          </a:p>
          <a:p>
            <a:pPr marL="228600">
              <a:lnSpc>
                <a:spcPct val="100000"/>
              </a:lnSpc>
              <a:spcAft>
                <a:spcPts val="600"/>
              </a:spcAft>
            </a:pPr>
            <a:r>
              <a:rPr lang="zh-TW" altLang="zh-TW" sz="1800" dirty="0">
                <a:effectLst/>
                <a:latin typeface="Times New Roman" panose="02020603050405020304" pitchFamily="18" charset="0"/>
                <a:ea typeface="Heiti SC Light" panose="02000000000000000000" pitchFamily="2" charset="-128"/>
                <a:cs typeface="Times New Roman" panose="02020603050405020304" pitchFamily="18" charset="0"/>
              </a:rPr>
              <a:t>因此此研究著重於透過</a:t>
            </a:r>
            <a:r>
              <a:rPr lang="en-US" altLang="zh-TW" sz="1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Heiti SC Light" panose="02000000000000000000" pitchFamily="2" charset="-128"/>
                <a:cs typeface="Times New Roman" panose="02020603050405020304" pitchFamily="18" charset="0"/>
              </a:rPr>
              <a:t>Kalman filter /Complementary filter </a:t>
            </a:r>
            <a:r>
              <a:rPr lang="zh-TW" altLang="zh-TW" sz="1800" dirty="0">
                <a:effectLst/>
                <a:latin typeface="Times New Roman" panose="02020603050405020304" pitchFamily="18" charset="0"/>
                <a:ea typeface="Heiti SC Light" panose="02000000000000000000" pitchFamily="2" charset="-128"/>
                <a:cs typeface="Times New Roman" panose="02020603050405020304" pitchFamily="18" charset="0"/>
              </a:rPr>
              <a:t>處理</a:t>
            </a:r>
            <a:r>
              <a:rPr lang="en-US" altLang="zh-TW" sz="1800" dirty="0">
                <a:effectLst/>
                <a:latin typeface="Times New Roman" panose="02020603050405020304" pitchFamily="18" charset="0"/>
                <a:ea typeface="Heiti SC Light" panose="02000000000000000000" pitchFamily="2" charset="-128"/>
                <a:cs typeface="Times New Roman" panose="02020603050405020304" pitchFamily="18" charset="0"/>
              </a:rPr>
              <a:t> IMU</a:t>
            </a:r>
            <a:r>
              <a:rPr lang="zh-TW" altLang="zh-TW" sz="1800" dirty="0">
                <a:effectLst/>
                <a:latin typeface="Times New Roman" panose="02020603050405020304" pitchFamily="18" charset="0"/>
                <a:ea typeface="Heiti SC Light" panose="02000000000000000000" pitchFamily="2" charset="-128"/>
                <a:cs typeface="Times New Roman" panose="02020603050405020304" pitchFamily="18" charset="0"/>
              </a:rPr>
              <a:t>（慣性量測單元）數據，以提升無人機的飛行穩定性。</a:t>
            </a:r>
            <a:endParaRPr lang="en-US" altLang="zh-TW" sz="1800" dirty="0">
              <a:effectLst/>
              <a:latin typeface="Times New Roman" panose="02020603050405020304" pitchFamily="18" charset="0"/>
              <a:ea typeface="Heiti SC Light" panose="02000000000000000000" pitchFamily="2" charset="-128"/>
              <a:cs typeface="Times New Roman" panose="02020603050405020304" pitchFamily="18" charset="0"/>
            </a:endParaRPr>
          </a:p>
          <a:p>
            <a:pPr marL="228600">
              <a:lnSpc>
                <a:spcPct val="100000"/>
              </a:lnSpc>
              <a:spcAft>
                <a:spcPts val="600"/>
              </a:spcAft>
            </a:pPr>
            <a:endParaRPr lang="en-US" altLang="zh-TW" sz="1700" dirty="0">
              <a:effectLst/>
              <a:latin typeface="Times New Roman" panose="02020603050405020304" pitchFamily="18" charset="0"/>
              <a:ea typeface="Heiti SC Light" panose="02000000000000000000" pitchFamily="2" charset="-128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kumimoji="1" lang="zh-TW" altLang="en-US" sz="1700" dirty="0">
              <a:latin typeface="Times New Roman" panose="02020603050405020304" pitchFamily="18" charset="0"/>
              <a:ea typeface="Heiti SC Light" panose="02000000000000000000" pitchFamily="2" charset="-128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kumimoji="1" lang="zh-TW" altLang="en-US" sz="1700" dirty="0">
              <a:latin typeface="Times New Roman" panose="02020603050405020304" pitchFamily="18" charset="0"/>
              <a:ea typeface="Heiti SC Light" panose="02000000000000000000" pitchFamily="2" charset="-128"/>
              <a:cs typeface="Times New Roman" panose="02020603050405020304" pitchFamily="18" charset="0"/>
            </a:endParaRPr>
          </a:p>
        </p:txBody>
      </p:sp>
      <p:pic>
        <p:nvPicPr>
          <p:cNvPr id="7" name="圖片 6" descr="一張含有 玩具, 螢幕擷取畫面, 螺旋槳 的圖片&#10;&#10;自動產生的描述">
            <a:extLst>
              <a:ext uri="{FF2B5EF4-FFF2-40B4-BE49-F238E27FC236}">
                <a16:creationId xmlns:a16="http://schemas.microsoft.com/office/drawing/2014/main" id="{4A5E200D-6CFC-7A7D-5BB7-7F6207FA00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1391" y="3110290"/>
            <a:ext cx="5047918" cy="2274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39842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8">
            <a:extLst>
              <a:ext uri="{FF2B5EF4-FFF2-40B4-BE49-F238E27FC236}">
                <a16:creationId xmlns:a16="http://schemas.microsoft.com/office/drawing/2014/main" id="{9ACF2585-117F-F670-9AC1-C786E66882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4017" y="4461817"/>
            <a:ext cx="4728990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TW" altLang="en-US" dirty="0">
                <a:solidFill>
                  <a:srgbClr val="FF0000"/>
                </a:solidFill>
                <a:latin typeface="Heiti SC Light" panose="02000000000000000000" pitchFamily="2" charset="-128"/>
                <a:ea typeface="Heiti SC Light" panose="02000000000000000000" pitchFamily="2" charset="-128"/>
                <a:cs typeface="新細明體" panose="02020500000000000000" pitchFamily="18" charset="-120"/>
              </a:rPr>
              <a:t>工作</a:t>
            </a:r>
            <a:r>
              <a:rPr kumimoji="0" lang="zh-TW" altLang="zh-TW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Heiti SC Light" panose="02000000000000000000" pitchFamily="2" charset="-128"/>
                <a:ea typeface="Heiti SC Light" panose="02000000000000000000" pitchFamily="2" charset="-128"/>
                <a:cs typeface="新細明體" panose="02020500000000000000" pitchFamily="18" charset="-120"/>
              </a:rPr>
              <a:t>原理</a:t>
            </a:r>
            <a:r>
              <a:rPr kumimoji="0" lang="zh-TW" altLang="zh-TW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eiti SC Light" panose="02000000000000000000" pitchFamily="2" charset="-128"/>
                <a:ea typeface="Heiti SC Light" panose="02000000000000000000" pitchFamily="2" charset="-128"/>
                <a:cs typeface="新細明體" panose="02020500000000000000" pitchFamily="18" charset="-120"/>
              </a:rPr>
              <a:t>(Working principles)：</a:t>
            </a:r>
            <a:endParaRPr kumimoji="0" lang="zh-TW" altLang="zh-TW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Heiti SC Light" panose="02000000000000000000" pitchFamily="2" charset="-128"/>
              <a:ea typeface="Heiti SC Light" panose="02000000000000000000" pitchFamily="2" charset="-128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zh-TW" altLang="zh-TW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eiti SC Light" panose="02000000000000000000" pitchFamily="2" charset="-128"/>
                <a:ea typeface="Heiti SC Light" panose="02000000000000000000" pitchFamily="2" charset="-128"/>
                <a:cs typeface="新細明體" panose="02020500000000000000" pitchFamily="18" charset="-120"/>
              </a:rPr>
              <a:t>陀螺儀（Gyroscope）：透過微機電系統（MEMS）技術測量三軸角速度</a:t>
            </a:r>
            <a:r>
              <a:rPr kumimoji="0" lang="zh-TW" altLang="zh-TW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eiti SC Light" panose="02000000000000000000" pitchFamily="2" charset="-128"/>
                <a:ea typeface="Heiti SC Light" panose="02000000000000000000" pitchFamily="2" charset="-128"/>
                <a:cs typeface="Segoe UI" panose="020B0502040204020203" pitchFamily="34" charset="0"/>
              </a:rPr>
              <a:t> </a:t>
            </a:r>
            <a:r>
              <a:rPr kumimoji="0" lang="zh-TW" altLang="zh-TW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eiti SC Light" panose="02000000000000000000" pitchFamily="2" charset="-128"/>
                <a:ea typeface="Heiti SC Light" panose="02000000000000000000" pitchFamily="2" charset="-128"/>
                <a:cs typeface="Times New Roman" panose="02020603050405020304" pitchFamily="18" charset="0"/>
              </a:rPr>
              <a:t> (ωx,ωy,ωz)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zh-TW" altLang="zh-TW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eiti SC Light" panose="02000000000000000000" pitchFamily="2" charset="-128"/>
                <a:ea typeface="Heiti SC Light" panose="02000000000000000000" pitchFamily="2" charset="-128"/>
                <a:cs typeface="新細明體" panose="02020500000000000000" pitchFamily="18" charset="-120"/>
              </a:rPr>
              <a:t>加速度計（Accelerometer）：感測相對重力加速度的三軸線性加速度</a:t>
            </a:r>
            <a:r>
              <a:rPr kumimoji="0" lang="zh-TW" altLang="zh-TW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eiti SC Light" panose="02000000000000000000" pitchFamily="2" charset="-128"/>
                <a:ea typeface="Heiti SC Light" panose="02000000000000000000" pitchFamily="2" charset="-128"/>
                <a:cs typeface="Times New Roman" panose="02020603050405020304" pitchFamily="18" charset="0"/>
              </a:rPr>
              <a:t>(ax,ay,az) 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56ACB0BD-D47B-2623-5F0A-CA83C7110F4F}"/>
              </a:ext>
            </a:extLst>
          </p:cNvPr>
          <p:cNvSpPr txBox="1"/>
          <p:nvPr/>
        </p:nvSpPr>
        <p:spPr>
          <a:xfrm>
            <a:off x="1154017" y="1657519"/>
            <a:ext cx="4728990" cy="140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>
              <a:lnSpc>
                <a:spcPts val="1200"/>
              </a:lnSpc>
              <a:spcAft>
                <a:spcPts val="600"/>
              </a:spcAft>
            </a:pPr>
            <a:r>
              <a:rPr lang="zh-TW" altLang="zh-TW" sz="1800" dirty="0">
                <a:solidFill>
                  <a:srgbClr val="FF0000"/>
                </a:solidFill>
                <a:effectLst/>
                <a:latin typeface="Heiti SC Light" panose="02000000000000000000" pitchFamily="2" charset="-128"/>
                <a:ea typeface="Heiti SC Light" panose="02000000000000000000" pitchFamily="2" charset="-128"/>
                <a:cs typeface="新細明體" panose="02020500000000000000" pitchFamily="18" charset="-120"/>
              </a:rPr>
              <a:t>應用</a:t>
            </a:r>
            <a:r>
              <a:rPr lang="zh-TW" altLang="zh-TW" sz="1800" dirty="0">
                <a:effectLst/>
                <a:latin typeface="Heiti SC Light" panose="02000000000000000000" pitchFamily="2" charset="-128"/>
                <a:ea typeface="Heiti SC Light" panose="02000000000000000000" pitchFamily="2" charset="-128"/>
                <a:cs typeface="新細明體" panose="02020500000000000000" pitchFamily="18" charset="-120"/>
              </a:rPr>
              <a:t>：採用 </a:t>
            </a:r>
            <a:r>
              <a:rPr lang="en-US" altLang="zh-TW" sz="1800" dirty="0">
                <a:solidFill>
                  <a:srgbClr val="FF0000"/>
                </a:solidFill>
                <a:effectLst/>
                <a:latin typeface="Heiti SC Light" panose="02000000000000000000" pitchFamily="2" charset="-128"/>
                <a:ea typeface="Heiti SC Light" panose="02000000000000000000" pitchFamily="2" charset="-128"/>
                <a:cs typeface="新細明體" panose="02020500000000000000" pitchFamily="18" charset="-120"/>
              </a:rPr>
              <a:t>MPU-6050 </a:t>
            </a:r>
            <a:r>
              <a:rPr lang="en-US" altLang="zh-TW" sz="1800" dirty="0">
                <a:effectLst/>
                <a:latin typeface="Heiti SC Light" panose="02000000000000000000" pitchFamily="2" charset="-128"/>
                <a:ea typeface="Heiti SC Light" panose="02000000000000000000" pitchFamily="2" charset="-128"/>
                <a:cs typeface="新細明體" panose="02020500000000000000" pitchFamily="18" charset="-120"/>
              </a:rPr>
              <a:t>IMU </a:t>
            </a:r>
            <a:r>
              <a:rPr lang="zh-TW" altLang="zh-TW" sz="1800" dirty="0">
                <a:effectLst/>
                <a:latin typeface="Heiti SC Light" panose="02000000000000000000" pitchFamily="2" charset="-128"/>
                <a:ea typeface="Heiti SC Light" panose="02000000000000000000" pitchFamily="2" charset="-128"/>
                <a:cs typeface="新細明體" panose="02020500000000000000" pitchFamily="18" charset="-120"/>
              </a:rPr>
              <a:t>感測器。</a:t>
            </a:r>
            <a:endParaRPr lang="en-US" altLang="zh-TW" sz="1800" dirty="0">
              <a:effectLst/>
              <a:latin typeface="Heiti SC Light" panose="02000000000000000000" pitchFamily="2" charset="-128"/>
              <a:ea typeface="Heiti SC Light" panose="02000000000000000000" pitchFamily="2" charset="-128"/>
              <a:cs typeface="新細明體" panose="02020500000000000000" pitchFamily="18" charset="-120"/>
            </a:endParaRPr>
          </a:p>
          <a:p>
            <a:pPr marL="228600">
              <a:lnSpc>
                <a:spcPts val="1200"/>
              </a:lnSpc>
              <a:spcAft>
                <a:spcPts val="600"/>
              </a:spcAft>
            </a:pPr>
            <a:r>
              <a:rPr lang="zh-TW" altLang="zh-TW" sz="1800" dirty="0">
                <a:effectLst/>
                <a:latin typeface="Heiti SC Light" panose="02000000000000000000" pitchFamily="2" charset="-128"/>
                <a:ea typeface="Heiti SC Light" panose="02000000000000000000" pitchFamily="2" charset="-128"/>
                <a:cs typeface="新細明體" panose="02020500000000000000" pitchFamily="18" charset="-120"/>
              </a:rPr>
              <a:t>即時</a:t>
            </a:r>
            <a:r>
              <a:rPr lang="zh-TW" altLang="zh-TW" sz="1800" dirty="0">
                <a:solidFill>
                  <a:srgbClr val="FF0000"/>
                </a:solidFill>
                <a:effectLst/>
                <a:latin typeface="Heiti SC Light" panose="02000000000000000000" pitchFamily="2" charset="-128"/>
                <a:ea typeface="Heiti SC Light" panose="02000000000000000000" pitchFamily="2" charset="-128"/>
                <a:cs typeface="新細明體" panose="02020500000000000000" pitchFamily="18" charset="-120"/>
              </a:rPr>
              <a:t>測量滾轉角（</a:t>
            </a:r>
            <a:r>
              <a:rPr lang="en-US" altLang="zh-TW" sz="1800" dirty="0">
                <a:solidFill>
                  <a:srgbClr val="FF0000"/>
                </a:solidFill>
                <a:effectLst/>
                <a:latin typeface="Heiti SC Light" panose="02000000000000000000" pitchFamily="2" charset="-128"/>
                <a:ea typeface="Heiti SC Light" panose="02000000000000000000" pitchFamily="2" charset="-128"/>
                <a:cs typeface="新細明體" panose="02020500000000000000" pitchFamily="18" charset="-120"/>
              </a:rPr>
              <a:t>Roll</a:t>
            </a:r>
            <a:r>
              <a:rPr lang="zh-TW" altLang="zh-TW" sz="1800" dirty="0">
                <a:solidFill>
                  <a:srgbClr val="FF0000"/>
                </a:solidFill>
                <a:effectLst/>
                <a:latin typeface="Heiti SC Light" panose="02000000000000000000" pitchFamily="2" charset="-128"/>
                <a:ea typeface="Heiti SC Light" panose="02000000000000000000" pitchFamily="2" charset="-128"/>
                <a:cs typeface="新細明體" panose="02020500000000000000" pitchFamily="18" charset="-120"/>
              </a:rPr>
              <a:t>）、俯仰角（</a:t>
            </a:r>
            <a:r>
              <a:rPr lang="en-US" altLang="zh-TW" sz="1800" dirty="0">
                <a:solidFill>
                  <a:srgbClr val="FF0000"/>
                </a:solidFill>
                <a:effectLst/>
                <a:latin typeface="Heiti SC Light" panose="02000000000000000000" pitchFamily="2" charset="-128"/>
                <a:ea typeface="Heiti SC Light" panose="02000000000000000000" pitchFamily="2" charset="-128"/>
                <a:cs typeface="新細明體" panose="02020500000000000000" pitchFamily="18" charset="-120"/>
              </a:rPr>
              <a:t>Pitch</a:t>
            </a:r>
            <a:r>
              <a:rPr lang="zh-TW" altLang="zh-TW" sz="1800" dirty="0">
                <a:solidFill>
                  <a:srgbClr val="FF0000"/>
                </a:solidFill>
                <a:effectLst/>
                <a:latin typeface="Heiti SC Light" panose="02000000000000000000" pitchFamily="2" charset="-128"/>
                <a:ea typeface="Heiti SC Light" panose="02000000000000000000" pitchFamily="2" charset="-128"/>
                <a:cs typeface="新細明體" panose="02020500000000000000" pitchFamily="18" charset="-120"/>
              </a:rPr>
              <a:t>）</a:t>
            </a:r>
            <a:endParaRPr lang="en-US" altLang="zh-TW" sz="1800" dirty="0">
              <a:solidFill>
                <a:srgbClr val="FF0000"/>
              </a:solidFill>
              <a:effectLst/>
              <a:latin typeface="Heiti SC Light" panose="02000000000000000000" pitchFamily="2" charset="-128"/>
              <a:ea typeface="Heiti SC Light" panose="02000000000000000000" pitchFamily="2" charset="-128"/>
              <a:cs typeface="新細明體" panose="02020500000000000000" pitchFamily="18" charset="-120"/>
            </a:endParaRPr>
          </a:p>
          <a:p>
            <a:pPr marL="228600">
              <a:lnSpc>
                <a:spcPts val="1200"/>
              </a:lnSpc>
              <a:spcAft>
                <a:spcPts val="600"/>
              </a:spcAft>
            </a:pPr>
            <a:r>
              <a:rPr lang="zh-TW" altLang="zh-TW" sz="1800" dirty="0">
                <a:solidFill>
                  <a:srgbClr val="FF0000"/>
                </a:solidFill>
                <a:effectLst/>
                <a:latin typeface="Heiti SC Light" panose="02000000000000000000" pitchFamily="2" charset="-128"/>
                <a:ea typeface="Heiti SC Light" panose="02000000000000000000" pitchFamily="2" charset="-128"/>
                <a:cs typeface="新細明體" panose="02020500000000000000" pitchFamily="18" charset="-120"/>
              </a:rPr>
              <a:t>與偏航角（</a:t>
            </a:r>
            <a:r>
              <a:rPr lang="en-US" altLang="zh-TW" sz="1800" dirty="0">
                <a:solidFill>
                  <a:srgbClr val="FF0000"/>
                </a:solidFill>
                <a:effectLst/>
                <a:latin typeface="Heiti SC Light" panose="02000000000000000000" pitchFamily="2" charset="-128"/>
                <a:ea typeface="Heiti SC Light" panose="02000000000000000000" pitchFamily="2" charset="-128"/>
                <a:cs typeface="新細明體" panose="02020500000000000000" pitchFamily="18" charset="-120"/>
              </a:rPr>
              <a:t>Yaw</a:t>
            </a:r>
            <a:r>
              <a:rPr lang="zh-TW" altLang="zh-TW" sz="1800" dirty="0">
                <a:solidFill>
                  <a:srgbClr val="FF0000"/>
                </a:solidFill>
                <a:effectLst/>
                <a:latin typeface="Heiti SC Light" panose="02000000000000000000" pitchFamily="2" charset="-128"/>
                <a:ea typeface="Heiti SC Light" panose="02000000000000000000" pitchFamily="2" charset="-128"/>
                <a:cs typeface="新細明體" panose="02020500000000000000" pitchFamily="18" charset="-120"/>
              </a:rPr>
              <a:t>），</a:t>
            </a:r>
            <a:endParaRPr lang="en-US" altLang="zh-TW" dirty="0">
              <a:solidFill>
                <a:srgbClr val="FF0000"/>
              </a:solidFill>
              <a:latin typeface="Heiti SC Light" panose="02000000000000000000" pitchFamily="2" charset="-128"/>
              <a:ea typeface="Heiti SC Light" panose="02000000000000000000" pitchFamily="2" charset="-128"/>
              <a:cs typeface="新細明體" panose="02020500000000000000" pitchFamily="18" charset="-120"/>
            </a:endParaRPr>
          </a:p>
          <a:p>
            <a:pPr marL="228600">
              <a:lnSpc>
                <a:spcPts val="1200"/>
              </a:lnSpc>
              <a:spcAft>
                <a:spcPts val="600"/>
              </a:spcAft>
            </a:pPr>
            <a:endParaRPr lang="en-US" altLang="zh-TW" sz="1800" dirty="0">
              <a:solidFill>
                <a:srgbClr val="FF0000"/>
              </a:solidFill>
              <a:effectLst/>
              <a:latin typeface="Heiti SC Light" panose="02000000000000000000" pitchFamily="2" charset="-128"/>
              <a:ea typeface="Heiti SC Light" panose="02000000000000000000" pitchFamily="2" charset="-128"/>
              <a:cs typeface="新細明體" panose="02020500000000000000" pitchFamily="18" charset="-120"/>
            </a:endParaRPr>
          </a:p>
          <a:p>
            <a:pPr marL="228600">
              <a:lnSpc>
                <a:spcPts val="1200"/>
              </a:lnSpc>
              <a:spcAft>
                <a:spcPts val="600"/>
              </a:spcAft>
            </a:pPr>
            <a:r>
              <a:rPr lang="zh-TW" altLang="zh-TW" sz="1800" dirty="0">
                <a:solidFill>
                  <a:srgbClr val="FF0000"/>
                </a:solidFill>
                <a:effectLst/>
                <a:latin typeface="Heiti SC Light" panose="02000000000000000000" pitchFamily="2" charset="-128"/>
                <a:ea typeface="Heiti SC Light" panose="02000000000000000000" pitchFamily="2" charset="-128"/>
                <a:cs typeface="新細明體" panose="02020500000000000000" pitchFamily="18" charset="-120"/>
              </a:rPr>
              <a:t>輸出</a:t>
            </a:r>
            <a:r>
              <a:rPr lang="zh-TW" altLang="zh-TW" sz="1800" dirty="0">
                <a:solidFill>
                  <a:srgbClr val="000000"/>
                </a:solidFill>
                <a:effectLst/>
                <a:latin typeface="Heiti SC Light" panose="02000000000000000000" pitchFamily="2" charset="-128"/>
                <a:ea typeface="Heiti SC Light" panose="02000000000000000000" pitchFamily="2" charset="-128"/>
                <a:cs typeface="新細明體" panose="02020500000000000000" pitchFamily="18" charset="-120"/>
              </a:rPr>
              <a:t>包含</a:t>
            </a:r>
            <a:r>
              <a:rPr lang="zh-TW" altLang="zh-TW" sz="1800" dirty="0">
                <a:solidFill>
                  <a:srgbClr val="FF0000"/>
                </a:solidFill>
                <a:effectLst/>
                <a:latin typeface="Heiti SC Light" panose="02000000000000000000" pitchFamily="2" charset="-128"/>
                <a:ea typeface="Heiti SC Light" panose="02000000000000000000" pitchFamily="2" charset="-128"/>
                <a:cs typeface="新細明體" panose="02020500000000000000" pitchFamily="18" charset="-120"/>
              </a:rPr>
              <a:t>角速度</a:t>
            </a:r>
            <a:r>
              <a:rPr lang="zh-TW" altLang="zh-TW" sz="1800" dirty="0">
                <a:solidFill>
                  <a:srgbClr val="000000"/>
                </a:solidFill>
                <a:effectLst/>
                <a:latin typeface="Heiti SC Light" panose="02000000000000000000" pitchFamily="2" charset="-128"/>
                <a:ea typeface="Heiti SC Light" panose="02000000000000000000" pitchFamily="2" charset="-128"/>
                <a:cs typeface="新細明體" panose="02020500000000000000" pitchFamily="18" charset="-120"/>
              </a:rPr>
              <a:t>（來自陀螺儀）與</a:t>
            </a:r>
            <a:endParaRPr lang="en-US" altLang="zh-TW" sz="1800" dirty="0">
              <a:solidFill>
                <a:srgbClr val="000000"/>
              </a:solidFill>
              <a:effectLst/>
              <a:latin typeface="Heiti SC Light" panose="02000000000000000000" pitchFamily="2" charset="-128"/>
              <a:ea typeface="Heiti SC Light" panose="02000000000000000000" pitchFamily="2" charset="-128"/>
              <a:cs typeface="新細明體" panose="02020500000000000000" pitchFamily="18" charset="-120"/>
            </a:endParaRPr>
          </a:p>
          <a:p>
            <a:pPr marL="228600">
              <a:lnSpc>
                <a:spcPts val="1200"/>
              </a:lnSpc>
              <a:spcAft>
                <a:spcPts val="600"/>
              </a:spcAft>
            </a:pPr>
            <a:r>
              <a:rPr lang="zh-TW" altLang="zh-TW" sz="1800" dirty="0">
                <a:solidFill>
                  <a:srgbClr val="FF0000"/>
                </a:solidFill>
                <a:effectLst/>
                <a:latin typeface="Heiti SC Light" panose="02000000000000000000" pitchFamily="2" charset="-128"/>
                <a:ea typeface="Heiti SC Light" panose="02000000000000000000" pitchFamily="2" charset="-128"/>
                <a:cs typeface="新細明體" panose="02020500000000000000" pitchFamily="18" charset="-120"/>
              </a:rPr>
              <a:t>線性加速度</a:t>
            </a:r>
            <a:r>
              <a:rPr lang="zh-TW" altLang="zh-TW" sz="1800" dirty="0">
                <a:solidFill>
                  <a:srgbClr val="000000"/>
                </a:solidFill>
                <a:effectLst/>
                <a:latin typeface="Heiti SC Light" panose="02000000000000000000" pitchFamily="2" charset="-128"/>
                <a:ea typeface="Heiti SC Light" panose="02000000000000000000" pitchFamily="2" charset="-128"/>
                <a:cs typeface="新細明體" panose="02020500000000000000" pitchFamily="18" charset="-120"/>
              </a:rPr>
              <a:t>（加速度計</a:t>
            </a:r>
            <a:r>
              <a:rPr lang="zh-TW" altLang="en-US" sz="1800" dirty="0">
                <a:solidFill>
                  <a:srgbClr val="000000"/>
                </a:solidFill>
                <a:effectLst/>
                <a:latin typeface="Heiti SC Light" panose="02000000000000000000" pitchFamily="2" charset="-128"/>
                <a:ea typeface="Heiti SC Light" panose="02000000000000000000" pitchFamily="2" charset="-128"/>
                <a:cs typeface="新細明體" panose="02020500000000000000" pitchFamily="18" charset="-120"/>
              </a:rPr>
              <a:t>）</a:t>
            </a:r>
            <a:endParaRPr lang="en-US" altLang="zh-TW" sz="1800" dirty="0">
              <a:effectLst/>
              <a:latin typeface="Heiti SC Light" panose="02000000000000000000" pitchFamily="2" charset="-128"/>
              <a:ea typeface="Heiti SC Light" panose="02000000000000000000" pitchFamily="2" charset="-128"/>
              <a:cs typeface="新細明體" panose="02020500000000000000" pitchFamily="18" charset="-120"/>
            </a:endParaRPr>
          </a:p>
        </p:txBody>
      </p:sp>
      <p:pic>
        <p:nvPicPr>
          <p:cNvPr id="5" name="圖片 4" descr="一張含有 資料表, 設計, 圖表 的圖片&#10;&#10;描述是以中可信度自動產生">
            <a:extLst>
              <a:ext uri="{FF2B5EF4-FFF2-40B4-BE49-F238E27FC236}">
                <a16:creationId xmlns:a16="http://schemas.microsoft.com/office/drawing/2014/main" id="{4B0B0868-E8C3-DAD6-41E2-8719A6AEB2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8995" y="2206698"/>
            <a:ext cx="5181792" cy="3445892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543F5F27-85BD-E745-8942-077C8306DDA4}"/>
              </a:ext>
            </a:extLst>
          </p:cNvPr>
          <p:cNvSpPr txBox="1"/>
          <p:nvPr/>
        </p:nvSpPr>
        <p:spPr>
          <a:xfrm>
            <a:off x="1363338" y="3058223"/>
            <a:ext cx="4288315" cy="93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>
              <a:lnSpc>
                <a:spcPts val="1200"/>
              </a:lnSpc>
              <a:spcAft>
                <a:spcPts val="600"/>
              </a:spcAft>
            </a:pPr>
            <a:endParaRPr lang="zh-TW" altLang="zh-TW" sz="1800" dirty="0">
              <a:effectLst/>
              <a:latin typeface="Heiti SC Light" panose="02000000000000000000" pitchFamily="2" charset="-128"/>
              <a:ea typeface="Heiti SC Light" panose="02000000000000000000" pitchFamily="2" charset="-128"/>
              <a:cs typeface="Times New Roman" panose="02020603050405020304" pitchFamily="18" charset="0"/>
            </a:endParaRPr>
          </a:p>
          <a:p>
            <a:pPr>
              <a:lnSpc>
                <a:spcPts val="1200"/>
              </a:lnSpc>
              <a:spcAft>
                <a:spcPts val="600"/>
              </a:spcAft>
            </a:pPr>
            <a:r>
              <a:rPr lang="zh-TW" altLang="zh-TW" sz="1800" dirty="0">
                <a:effectLst/>
                <a:latin typeface="Heiti SC Light" panose="02000000000000000000" pitchFamily="2" charset="-128"/>
                <a:ea typeface="Heiti SC Light" panose="02000000000000000000" pitchFamily="2" charset="-128"/>
                <a:cs typeface="新細明體" panose="02020500000000000000" pitchFamily="18" charset="-120"/>
              </a:rPr>
              <a:t>這些感測數據經</a:t>
            </a:r>
            <a:r>
              <a:rPr lang="en-US" altLang="zh-TW" sz="1800" dirty="0">
                <a:effectLst/>
                <a:latin typeface="Heiti SC Light" panose="02000000000000000000" pitchFamily="2" charset="-128"/>
                <a:ea typeface="Heiti SC Light" panose="02000000000000000000" pitchFamily="2" charset="-128"/>
                <a:cs typeface="新細明體" panose="02020500000000000000" pitchFamily="18" charset="-120"/>
              </a:rPr>
              <a:t>filter</a:t>
            </a:r>
            <a:r>
              <a:rPr lang="zh-TW" altLang="zh-TW" sz="1800" dirty="0">
                <a:effectLst/>
                <a:latin typeface="Heiti SC Light" panose="02000000000000000000" pitchFamily="2" charset="-128"/>
                <a:ea typeface="Heiti SC Light" panose="02000000000000000000" pitchFamily="2" charset="-128"/>
                <a:cs typeface="新細明體" panose="02020500000000000000" pitchFamily="18" charset="-120"/>
              </a:rPr>
              <a:t>後，</a:t>
            </a:r>
            <a:endParaRPr lang="en-US" altLang="zh-TW" sz="1800" dirty="0">
              <a:effectLst/>
              <a:latin typeface="Heiti SC Light" panose="02000000000000000000" pitchFamily="2" charset="-128"/>
              <a:ea typeface="Heiti SC Light" panose="02000000000000000000" pitchFamily="2" charset="-128"/>
              <a:cs typeface="新細明體" panose="02020500000000000000" pitchFamily="18" charset="-120"/>
            </a:endParaRPr>
          </a:p>
          <a:p>
            <a:pPr>
              <a:lnSpc>
                <a:spcPts val="1200"/>
              </a:lnSpc>
              <a:spcAft>
                <a:spcPts val="600"/>
              </a:spcAft>
            </a:pPr>
            <a:r>
              <a:rPr lang="zh-TW" altLang="zh-TW" sz="1800" dirty="0">
                <a:effectLst/>
                <a:latin typeface="Heiti SC Light" panose="02000000000000000000" pitchFamily="2" charset="-128"/>
                <a:ea typeface="Heiti SC Light" panose="02000000000000000000" pitchFamily="2" charset="-128"/>
                <a:cs typeface="新細明體" panose="02020500000000000000" pitchFamily="18" charset="-120"/>
              </a:rPr>
              <a:t>用於強化飛控系統中的</a:t>
            </a:r>
            <a:r>
              <a:rPr lang="en-US" altLang="zh-TW" sz="1800" dirty="0">
                <a:effectLst/>
                <a:latin typeface="Heiti SC Light" panose="02000000000000000000" pitchFamily="2" charset="-128"/>
                <a:ea typeface="Heiti SC Light" panose="02000000000000000000" pitchFamily="2" charset="-128"/>
                <a:cs typeface="新細明體" panose="02020500000000000000" pitchFamily="18" charset="-120"/>
              </a:rPr>
              <a:t> PID </a:t>
            </a:r>
            <a:r>
              <a:rPr lang="zh-TW" altLang="zh-TW" sz="1800" dirty="0">
                <a:effectLst/>
                <a:latin typeface="Heiti SC Light" panose="02000000000000000000" pitchFamily="2" charset="-128"/>
                <a:ea typeface="Heiti SC Light" panose="02000000000000000000" pitchFamily="2" charset="-128"/>
                <a:cs typeface="新細明體" panose="02020500000000000000" pitchFamily="18" charset="-120"/>
              </a:rPr>
              <a:t>控制</a:t>
            </a:r>
            <a:endParaRPr lang="en-US" altLang="zh-TW" sz="1800" dirty="0">
              <a:effectLst/>
              <a:latin typeface="Heiti SC Light" panose="02000000000000000000" pitchFamily="2" charset="-128"/>
              <a:ea typeface="Heiti SC Light" panose="02000000000000000000" pitchFamily="2" charset="-128"/>
              <a:cs typeface="新細明體" panose="02020500000000000000" pitchFamily="18" charset="-120"/>
            </a:endParaRPr>
          </a:p>
          <a:p>
            <a:pPr>
              <a:lnSpc>
                <a:spcPts val="1200"/>
              </a:lnSpc>
              <a:spcAft>
                <a:spcPts val="600"/>
              </a:spcAft>
            </a:pPr>
            <a:r>
              <a:rPr lang="zh-TW" altLang="zh-TW" sz="1800" dirty="0">
                <a:effectLst/>
                <a:latin typeface="Heiti SC Light" panose="02000000000000000000" pitchFamily="2" charset="-128"/>
                <a:ea typeface="Heiti SC Light" panose="02000000000000000000" pitchFamily="2" charset="-128"/>
                <a:cs typeface="新細明體" panose="02020500000000000000" pitchFamily="18" charset="-120"/>
              </a:rPr>
              <a:t>確保飛行中的穩定</a:t>
            </a:r>
            <a:r>
              <a:rPr lang="zh-TW" altLang="en-US" dirty="0">
                <a:latin typeface="Heiti SC Light" panose="02000000000000000000" pitchFamily="2" charset="-128"/>
                <a:ea typeface="Heiti SC Light" panose="02000000000000000000" pitchFamily="2" charset="-128"/>
                <a:cs typeface="新細明體" panose="02020500000000000000" pitchFamily="18" charset="-120"/>
              </a:rPr>
              <a:t>。</a:t>
            </a:r>
            <a:endParaRPr lang="zh-TW" altLang="zh-TW" sz="1800" dirty="0">
              <a:effectLst/>
              <a:latin typeface="Heiti SC Light" panose="02000000000000000000" pitchFamily="2" charset="-128"/>
              <a:ea typeface="Heiti SC Light" panose="02000000000000000000" pitchFamily="2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98896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042E603F-28B7-4831-BF23-65FBAB13D5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4D39700F-2B10-4402-A7DD-06EE224588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232968"/>
            <a:ext cx="9560477" cy="6625032"/>
          </a:xfrm>
          <a:custGeom>
            <a:avLst/>
            <a:gdLst>
              <a:gd name="connsiteX0" fmla="*/ 8831314 w 9263816"/>
              <a:gd name="connsiteY0" fmla="*/ 5943878 h 6858000"/>
              <a:gd name="connsiteX1" fmla="*/ 9179783 w 9263816"/>
              <a:gd name="connsiteY1" fmla="*/ 6086141 h 6858000"/>
              <a:gd name="connsiteX2" fmla="*/ 9260887 w 9263816"/>
              <a:gd name="connsiteY2" fmla="*/ 6279156 h 6858000"/>
              <a:gd name="connsiteX3" fmla="*/ 8925621 w 9263816"/>
              <a:gd name="connsiteY3" fmla="*/ 6708712 h 6858000"/>
              <a:gd name="connsiteX4" fmla="*/ 8496050 w 9263816"/>
              <a:gd name="connsiteY4" fmla="*/ 6373449 h 6858000"/>
              <a:gd name="connsiteX5" fmla="*/ 8831314 w 9263816"/>
              <a:gd name="connsiteY5" fmla="*/ 5943878 h 6858000"/>
              <a:gd name="connsiteX6" fmla="*/ 7397485 w 9263816"/>
              <a:gd name="connsiteY6" fmla="*/ 5931706 h 6858000"/>
              <a:gd name="connsiteX7" fmla="*/ 7917779 w 9263816"/>
              <a:gd name="connsiteY7" fmla="*/ 6191864 h 6858000"/>
              <a:gd name="connsiteX8" fmla="*/ 8013467 w 9263816"/>
              <a:gd name="connsiteY8" fmla="*/ 6375784 h 6858000"/>
              <a:gd name="connsiteX9" fmla="*/ 8021879 w 9263816"/>
              <a:gd name="connsiteY9" fmla="*/ 6753751 h 6858000"/>
              <a:gd name="connsiteX10" fmla="*/ 7981316 w 9263816"/>
              <a:gd name="connsiteY10" fmla="*/ 6858000 h 6858000"/>
              <a:gd name="connsiteX11" fmla="*/ 6819486 w 9263816"/>
              <a:gd name="connsiteY11" fmla="*/ 6858000 h 6858000"/>
              <a:gd name="connsiteX12" fmla="*/ 6785199 w 9263816"/>
              <a:gd name="connsiteY12" fmla="*/ 6781101 h 6858000"/>
              <a:gd name="connsiteX13" fmla="*/ 7196747 w 9263816"/>
              <a:gd name="connsiteY13" fmla="*/ 5964309 h 6858000"/>
              <a:gd name="connsiteX14" fmla="*/ 7397485 w 9263816"/>
              <a:gd name="connsiteY14" fmla="*/ 5931706 h 6858000"/>
              <a:gd name="connsiteX15" fmla="*/ 1505570 w 9263816"/>
              <a:gd name="connsiteY15" fmla="*/ 227178 h 6858000"/>
              <a:gd name="connsiteX16" fmla="*/ 2026489 w 9263816"/>
              <a:gd name="connsiteY16" fmla="*/ 392370 h 6858000"/>
              <a:gd name="connsiteX17" fmla="*/ 2444553 w 9263816"/>
              <a:gd name="connsiteY17" fmla="*/ 1654853 h 6858000"/>
              <a:gd name="connsiteX18" fmla="*/ 3183153 w 9263816"/>
              <a:gd name="connsiteY18" fmla="*/ 2116208 h 6858000"/>
              <a:gd name="connsiteX19" fmla="*/ 4288384 w 9263816"/>
              <a:gd name="connsiteY19" fmla="*/ 1291908 h 6858000"/>
              <a:gd name="connsiteX20" fmla="*/ 5472602 w 9263816"/>
              <a:gd name="connsiteY20" fmla="*/ 1697818 h 6858000"/>
              <a:gd name="connsiteX21" fmla="*/ 5844697 w 9263816"/>
              <a:gd name="connsiteY21" fmla="*/ 3444791 h 6858000"/>
              <a:gd name="connsiteX22" fmla="*/ 6715674 w 9263816"/>
              <a:gd name="connsiteY22" fmla="*/ 4065208 h 6858000"/>
              <a:gd name="connsiteX23" fmla="*/ 8130429 w 9263816"/>
              <a:gd name="connsiteY23" fmla="*/ 4101787 h 6858000"/>
              <a:gd name="connsiteX24" fmla="*/ 8624630 w 9263816"/>
              <a:gd name="connsiteY24" fmla="*/ 4686202 h 6858000"/>
              <a:gd name="connsiteX25" fmla="*/ 8623843 w 9263816"/>
              <a:gd name="connsiteY25" fmla="*/ 4685749 h 6858000"/>
              <a:gd name="connsiteX26" fmla="*/ 8646859 w 9263816"/>
              <a:gd name="connsiteY26" fmla="*/ 4835156 h 6858000"/>
              <a:gd name="connsiteX27" fmla="*/ 8079403 w 9263816"/>
              <a:gd name="connsiteY27" fmla="*/ 5661624 h 6858000"/>
              <a:gd name="connsiteX28" fmla="*/ 6833105 w 9263816"/>
              <a:gd name="connsiteY28" fmla="*/ 5397208 h 6858000"/>
              <a:gd name="connsiteX29" fmla="*/ 5900832 w 9263816"/>
              <a:gd name="connsiteY29" fmla="*/ 5944462 h 6858000"/>
              <a:gd name="connsiteX30" fmla="*/ 6067212 w 9263816"/>
              <a:gd name="connsiteY30" fmla="*/ 6811916 h 6858000"/>
              <a:gd name="connsiteX31" fmla="*/ 6089565 w 9263816"/>
              <a:gd name="connsiteY31" fmla="*/ 6858000 h 6858000"/>
              <a:gd name="connsiteX32" fmla="*/ 0 w 9263816"/>
              <a:gd name="connsiteY32" fmla="*/ 6858000 h 6858000"/>
              <a:gd name="connsiteX33" fmla="*/ 0 w 9263816"/>
              <a:gd name="connsiteY33" fmla="*/ 2181377 h 6858000"/>
              <a:gd name="connsiteX34" fmla="*/ 73069 w 9263816"/>
              <a:gd name="connsiteY34" fmla="*/ 2215839 h 6858000"/>
              <a:gd name="connsiteX35" fmla="*/ 335445 w 9263816"/>
              <a:gd name="connsiteY35" fmla="*/ 2237140 h 6858000"/>
              <a:gd name="connsiteX36" fmla="*/ 752878 w 9263816"/>
              <a:gd name="connsiteY36" fmla="*/ 1445285 h 6858000"/>
              <a:gd name="connsiteX37" fmla="*/ 1202551 w 9263816"/>
              <a:gd name="connsiteY37" fmla="*/ 314229 h 6858000"/>
              <a:gd name="connsiteX38" fmla="*/ 1505570 w 9263816"/>
              <a:gd name="connsiteY38" fmla="*/ 227178 h 6858000"/>
              <a:gd name="connsiteX39" fmla="*/ 3142509 w 9263816"/>
              <a:gd name="connsiteY39" fmla="*/ 68854 h 6858000"/>
              <a:gd name="connsiteX40" fmla="*/ 3490978 w 9263816"/>
              <a:gd name="connsiteY40" fmla="*/ 211117 h 6858000"/>
              <a:gd name="connsiteX41" fmla="*/ 3572083 w 9263816"/>
              <a:gd name="connsiteY41" fmla="*/ 404131 h 6858000"/>
              <a:gd name="connsiteX42" fmla="*/ 3236814 w 9263816"/>
              <a:gd name="connsiteY42" fmla="*/ 833688 h 6858000"/>
              <a:gd name="connsiteX43" fmla="*/ 2807245 w 9263816"/>
              <a:gd name="connsiteY43" fmla="*/ 498425 h 6858000"/>
              <a:gd name="connsiteX44" fmla="*/ 3142509 w 9263816"/>
              <a:gd name="connsiteY44" fmla="*/ 68854 h 6858000"/>
              <a:gd name="connsiteX45" fmla="*/ 0 w 9263816"/>
              <a:gd name="connsiteY45" fmla="*/ 0 h 6858000"/>
              <a:gd name="connsiteX46" fmla="*/ 39858 w 9263816"/>
              <a:gd name="connsiteY46" fmla="*/ 0 h 6858000"/>
              <a:gd name="connsiteX47" fmla="*/ 65022 w 9263816"/>
              <a:gd name="connsiteY47" fmla="*/ 5834 h 6858000"/>
              <a:gd name="connsiteX48" fmla="*/ 389258 w 9263816"/>
              <a:gd name="connsiteY48" fmla="*/ 235630 h 6858000"/>
              <a:gd name="connsiteX49" fmla="*/ 485484 w 9263816"/>
              <a:gd name="connsiteY49" fmla="*/ 420070 h 6858000"/>
              <a:gd name="connsiteX50" fmla="*/ 74229 w 9263816"/>
              <a:gd name="connsiteY50" fmla="*/ 1237955 h 6858000"/>
              <a:gd name="connsiteX51" fmla="*/ 0 w 9263816"/>
              <a:gd name="connsiteY51" fmla="*/ 125447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9263816" h="6858000">
                <a:moveTo>
                  <a:pt x="8831314" y="5943878"/>
                </a:moveTo>
                <a:cubicBezTo>
                  <a:pt x="8964281" y="5927490"/>
                  <a:pt x="9096260" y="5981362"/>
                  <a:pt x="9179783" y="6086141"/>
                </a:cubicBezTo>
                <a:cubicBezTo>
                  <a:pt x="9224074" y="6141769"/>
                  <a:pt x="9252211" y="6208560"/>
                  <a:pt x="9260887" y="6279156"/>
                </a:cubicBezTo>
                <a:cubicBezTo>
                  <a:pt x="9286897" y="6490362"/>
                  <a:pt x="9136845" y="6682672"/>
                  <a:pt x="8925621" y="6708712"/>
                </a:cubicBezTo>
                <a:cubicBezTo>
                  <a:pt x="8714398" y="6734766"/>
                  <a:pt x="8522062" y="6584655"/>
                  <a:pt x="8496050" y="6373449"/>
                </a:cubicBezTo>
                <a:cubicBezTo>
                  <a:pt x="8470038" y="6162229"/>
                  <a:pt x="8620090" y="5969920"/>
                  <a:pt x="8831314" y="5943878"/>
                </a:cubicBezTo>
                <a:close/>
                <a:moveTo>
                  <a:pt x="7397485" y="5931706"/>
                </a:moveTo>
                <a:cubicBezTo>
                  <a:pt x="7598431" y="5931157"/>
                  <a:pt x="7792965" y="6024548"/>
                  <a:pt x="7917779" y="6191864"/>
                </a:cubicBezTo>
                <a:cubicBezTo>
                  <a:pt x="7959204" y="6247714"/>
                  <a:pt x="7991530" y="6309792"/>
                  <a:pt x="8013467" y="6375784"/>
                </a:cubicBezTo>
                <a:cubicBezTo>
                  <a:pt x="8055425" y="6502973"/>
                  <a:pt x="8055748" y="6633888"/>
                  <a:pt x="8021879" y="6753751"/>
                </a:cubicBezTo>
                <a:lnTo>
                  <a:pt x="7981316" y="6858000"/>
                </a:lnTo>
                <a:lnTo>
                  <a:pt x="6819486" y="6858000"/>
                </a:lnTo>
                <a:lnTo>
                  <a:pt x="6785199" y="6781101"/>
                </a:lnTo>
                <a:cubicBezTo>
                  <a:pt x="6673307" y="6441922"/>
                  <a:pt x="6857485" y="6076251"/>
                  <a:pt x="7196747" y="5964309"/>
                </a:cubicBezTo>
                <a:cubicBezTo>
                  <a:pt x="7262809" y="5942509"/>
                  <a:pt x="7330503" y="5931889"/>
                  <a:pt x="7397485" y="5931706"/>
                </a:cubicBezTo>
                <a:close/>
                <a:moveTo>
                  <a:pt x="1505570" y="227178"/>
                </a:moveTo>
                <a:cubicBezTo>
                  <a:pt x="1691018" y="218628"/>
                  <a:pt x="1889853" y="275403"/>
                  <a:pt x="2026489" y="392370"/>
                </a:cubicBezTo>
                <a:cubicBezTo>
                  <a:pt x="2369898" y="685965"/>
                  <a:pt x="2078266" y="1147857"/>
                  <a:pt x="2444553" y="1654853"/>
                </a:cubicBezTo>
                <a:cubicBezTo>
                  <a:pt x="2492906" y="1721679"/>
                  <a:pt x="2800482" y="2144546"/>
                  <a:pt x="3183153" y="2116208"/>
                </a:cubicBezTo>
                <a:cubicBezTo>
                  <a:pt x="3673561" y="2080541"/>
                  <a:pt x="3723222" y="1441614"/>
                  <a:pt x="4288384" y="1291908"/>
                </a:cubicBezTo>
                <a:cubicBezTo>
                  <a:pt x="4689065" y="1185875"/>
                  <a:pt x="5207943" y="1366633"/>
                  <a:pt x="5472602" y="1697818"/>
                </a:cubicBezTo>
                <a:cubicBezTo>
                  <a:pt x="5891294" y="2221754"/>
                  <a:pt x="5408012" y="2790179"/>
                  <a:pt x="5844697" y="3444791"/>
                </a:cubicBezTo>
                <a:cubicBezTo>
                  <a:pt x="6149900" y="3902467"/>
                  <a:pt x="6672672" y="4053594"/>
                  <a:pt x="6715674" y="4065208"/>
                </a:cubicBezTo>
                <a:cubicBezTo>
                  <a:pt x="7326423" y="4232519"/>
                  <a:pt x="7677158" y="3817020"/>
                  <a:pt x="8130429" y="4101787"/>
                </a:cubicBezTo>
                <a:cubicBezTo>
                  <a:pt x="8226340" y="4161985"/>
                  <a:pt x="8536372" y="4356819"/>
                  <a:pt x="8624630" y="4686202"/>
                </a:cubicBezTo>
                <a:lnTo>
                  <a:pt x="8623843" y="4685749"/>
                </a:lnTo>
                <a:cubicBezTo>
                  <a:pt x="8636924" y="4734567"/>
                  <a:pt x="8644635" y="4784678"/>
                  <a:pt x="8646859" y="4835156"/>
                </a:cubicBezTo>
                <a:cubicBezTo>
                  <a:pt x="8662596" y="5196604"/>
                  <a:pt x="8398383" y="5562326"/>
                  <a:pt x="8079403" y="5661624"/>
                </a:cubicBezTo>
                <a:cubicBezTo>
                  <a:pt x="7649807" y="5795217"/>
                  <a:pt x="7430996" y="5350293"/>
                  <a:pt x="6833105" y="5397208"/>
                </a:cubicBezTo>
                <a:cubicBezTo>
                  <a:pt x="6519033" y="5421527"/>
                  <a:pt x="6056658" y="5595550"/>
                  <a:pt x="5900832" y="5944462"/>
                </a:cubicBezTo>
                <a:cubicBezTo>
                  <a:pt x="5770548" y="6236600"/>
                  <a:pt x="5916359" y="6515160"/>
                  <a:pt x="6067212" y="6811916"/>
                </a:cubicBezTo>
                <a:lnTo>
                  <a:pt x="6089565" y="6858000"/>
                </a:lnTo>
                <a:lnTo>
                  <a:pt x="0" y="6858000"/>
                </a:lnTo>
                <a:lnTo>
                  <a:pt x="0" y="2181377"/>
                </a:lnTo>
                <a:lnTo>
                  <a:pt x="73069" y="2215839"/>
                </a:lnTo>
                <a:cubicBezTo>
                  <a:pt x="165116" y="2251829"/>
                  <a:pt x="254486" y="2263171"/>
                  <a:pt x="335445" y="2237140"/>
                </a:cubicBezTo>
                <a:cubicBezTo>
                  <a:pt x="594718" y="2153707"/>
                  <a:pt x="688441" y="1733807"/>
                  <a:pt x="752878" y="1445285"/>
                </a:cubicBezTo>
                <a:cubicBezTo>
                  <a:pt x="925059" y="674068"/>
                  <a:pt x="975076" y="456292"/>
                  <a:pt x="1202551" y="314229"/>
                </a:cubicBezTo>
                <a:cubicBezTo>
                  <a:pt x="1287853" y="260956"/>
                  <a:pt x="1394302" y="232308"/>
                  <a:pt x="1505570" y="227178"/>
                </a:cubicBezTo>
                <a:close/>
                <a:moveTo>
                  <a:pt x="3142509" y="68854"/>
                </a:moveTo>
                <a:cubicBezTo>
                  <a:pt x="3275474" y="52467"/>
                  <a:pt x="3407455" y="106339"/>
                  <a:pt x="3490978" y="211117"/>
                </a:cubicBezTo>
                <a:cubicBezTo>
                  <a:pt x="3535271" y="266744"/>
                  <a:pt x="3563404" y="333535"/>
                  <a:pt x="3572083" y="404131"/>
                </a:cubicBezTo>
                <a:cubicBezTo>
                  <a:pt x="3598092" y="615337"/>
                  <a:pt x="3448040" y="807648"/>
                  <a:pt x="3236814" y="833688"/>
                </a:cubicBezTo>
                <a:cubicBezTo>
                  <a:pt x="3025594" y="859741"/>
                  <a:pt x="2833255" y="709631"/>
                  <a:pt x="2807245" y="498425"/>
                </a:cubicBezTo>
                <a:cubicBezTo>
                  <a:pt x="2781232" y="287207"/>
                  <a:pt x="2931283" y="94896"/>
                  <a:pt x="3142509" y="68854"/>
                </a:cubicBezTo>
                <a:close/>
                <a:moveTo>
                  <a:pt x="0" y="0"/>
                </a:moveTo>
                <a:lnTo>
                  <a:pt x="39858" y="0"/>
                </a:lnTo>
                <a:lnTo>
                  <a:pt x="65022" y="5834"/>
                </a:lnTo>
                <a:cubicBezTo>
                  <a:pt x="191545" y="45606"/>
                  <a:pt x="305874" y="124173"/>
                  <a:pt x="389258" y="235630"/>
                </a:cubicBezTo>
                <a:cubicBezTo>
                  <a:pt x="430983" y="291600"/>
                  <a:pt x="463360" y="353876"/>
                  <a:pt x="485484" y="420070"/>
                </a:cubicBezTo>
                <a:cubicBezTo>
                  <a:pt x="597711" y="759508"/>
                  <a:pt x="413661" y="1125662"/>
                  <a:pt x="74229" y="1237955"/>
                </a:cubicBezTo>
                <a:lnTo>
                  <a:pt x="0" y="1254477"/>
                </a:lnTo>
                <a:close/>
              </a:path>
            </a:pathLst>
          </a:custGeom>
          <a:solidFill>
            <a:schemeClr val="bg1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27" name="Background Fill">
            <a:extLst>
              <a:ext uri="{FF2B5EF4-FFF2-40B4-BE49-F238E27FC236}">
                <a16:creationId xmlns:a16="http://schemas.microsoft.com/office/drawing/2014/main" id="{6DA65B90-7B06-4499-91BA-CDDD361324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96868F2-FC80-4334-887B-7DB3103A73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7EF79062-B5BB-45DF-810C-95A324A9D6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0" y="2140699"/>
            <a:ext cx="12192000" cy="4717301"/>
          </a:xfrm>
          <a:custGeom>
            <a:avLst/>
            <a:gdLst>
              <a:gd name="connsiteX0" fmla="*/ 8930642 w 12192000"/>
              <a:gd name="connsiteY0" fmla="*/ 4273734 h 4717301"/>
              <a:gd name="connsiteX1" fmla="*/ 9143134 w 12192000"/>
              <a:gd name="connsiteY1" fmla="*/ 4396362 h 4717301"/>
              <a:gd name="connsiteX2" fmla="*/ 9043549 w 12192000"/>
              <a:gd name="connsiteY2" fmla="*/ 4693978 h 4717301"/>
              <a:gd name="connsiteX3" fmla="*/ 8745984 w 12192000"/>
              <a:gd name="connsiteY3" fmla="*/ 4594249 h 4717301"/>
              <a:gd name="connsiteX4" fmla="*/ 8845568 w 12192000"/>
              <a:gd name="connsiteY4" fmla="*/ 4296634 h 4717301"/>
              <a:gd name="connsiteX5" fmla="*/ 8930642 w 12192000"/>
              <a:gd name="connsiteY5" fmla="*/ 4273734 h 4717301"/>
              <a:gd name="connsiteX6" fmla="*/ 9842642 w 12192000"/>
              <a:gd name="connsiteY6" fmla="*/ 3718743 h 4717301"/>
              <a:gd name="connsiteX7" fmla="*/ 10272210 w 12192000"/>
              <a:gd name="connsiteY7" fmla="*/ 3966645 h 4717301"/>
              <a:gd name="connsiteX8" fmla="*/ 10070896 w 12192000"/>
              <a:gd name="connsiteY8" fmla="*/ 4568292 h 4717301"/>
              <a:gd name="connsiteX9" fmla="*/ 9469346 w 12192000"/>
              <a:gd name="connsiteY9" fmla="*/ 4366686 h 4717301"/>
              <a:gd name="connsiteX10" fmla="*/ 9670660 w 12192000"/>
              <a:gd name="connsiteY10" fmla="*/ 3765038 h 4717301"/>
              <a:gd name="connsiteX11" fmla="*/ 9842642 w 12192000"/>
              <a:gd name="connsiteY11" fmla="*/ 3718743 h 4717301"/>
              <a:gd name="connsiteX12" fmla="*/ 0 w 12192000"/>
              <a:gd name="connsiteY12" fmla="*/ 0 h 4717301"/>
              <a:gd name="connsiteX13" fmla="*/ 12192000 w 12192000"/>
              <a:gd name="connsiteY13" fmla="*/ 0 h 4717301"/>
              <a:gd name="connsiteX14" fmla="*/ 12192000 w 12192000"/>
              <a:gd name="connsiteY14" fmla="*/ 3369891 h 4717301"/>
              <a:gd name="connsiteX15" fmla="*/ 12124015 w 12192000"/>
              <a:gd name="connsiteY15" fmla="*/ 3410713 h 4717301"/>
              <a:gd name="connsiteX16" fmla="*/ 11077457 w 12192000"/>
              <a:gd name="connsiteY16" fmla="*/ 3501725 h 4717301"/>
              <a:gd name="connsiteX17" fmla="*/ 9867246 w 12192000"/>
              <a:gd name="connsiteY17" fmla="*/ 3351592 h 4717301"/>
              <a:gd name="connsiteX18" fmla="*/ 8994802 w 12192000"/>
              <a:gd name="connsiteY18" fmla="*/ 3878378 h 4717301"/>
              <a:gd name="connsiteX19" fmla="*/ 6994655 w 12192000"/>
              <a:gd name="connsiteY19" fmla="*/ 4335637 h 4717301"/>
              <a:gd name="connsiteX20" fmla="*/ 6287534 w 12192000"/>
              <a:gd name="connsiteY20" fmla="*/ 3714199 h 4717301"/>
              <a:gd name="connsiteX21" fmla="*/ 4392596 w 12192000"/>
              <a:gd name="connsiteY21" fmla="*/ 3392344 h 4717301"/>
              <a:gd name="connsiteX22" fmla="*/ 3014500 w 12192000"/>
              <a:gd name="connsiteY22" fmla="*/ 4100222 h 4717301"/>
              <a:gd name="connsiteX23" fmla="*/ 86414 w 12192000"/>
              <a:gd name="connsiteY23" fmla="*/ 3903305 h 4717301"/>
              <a:gd name="connsiteX24" fmla="*/ 0 w 12192000"/>
              <a:gd name="connsiteY24" fmla="*/ 3840566 h 47173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12192000" h="4717301">
                <a:moveTo>
                  <a:pt x="8930642" y="4273734"/>
                </a:moveTo>
                <a:cubicBezTo>
                  <a:pt x="9016941" y="4268381"/>
                  <a:pt x="9102130" y="4314070"/>
                  <a:pt x="9143134" y="4396362"/>
                </a:cubicBezTo>
                <a:cubicBezTo>
                  <a:pt x="9197806" y="4506087"/>
                  <a:pt x="9153221" y="4639333"/>
                  <a:pt x="9043549" y="4693978"/>
                </a:cubicBezTo>
                <a:cubicBezTo>
                  <a:pt x="8933879" y="4748622"/>
                  <a:pt x="8800655" y="4703973"/>
                  <a:pt x="8745984" y="4594249"/>
                </a:cubicBezTo>
                <a:cubicBezTo>
                  <a:pt x="8691311" y="4484525"/>
                  <a:pt x="8735897" y="4351279"/>
                  <a:pt x="8845568" y="4296634"/>
                </a:cubicBezTo>
                <a:cubicBezTo>
                  <a:pt x="8872986" y="4282973"/>
                  <a:pt x="8901875" y="4275517"/>
                  <a:pt x="8930642" y="4273734"/>
                </a:cubicBezTo>
                <a:close/>
                <a:moveTo>
                  <a:pt x="9842642" y="3718743"/>
                </a:moveTo>
                <a:cubicBezTo>
                  <a:pt x="10017101" y="3707923"/>
                  <a:pt x="10189318" y="3800286"/>
                  <a:pt x="10272210" y="3966645"/>
                </a:cubicBezTo>
                <a:cubicBezTo>
                  <a:pt x="10382732" y="4188458"/>
                  <a:pt x="10292600" y="4457825"/>
                  <a:pt x="10070896" y="4568292"/>
                </a:cubicBezTo>
                <a:cubicBezTo>
                  <a:pt x="9849191" y="4678760"/>
                  <a:pt x="9579867" y="4588498"/>
                  <a:pt x="9469346" y="4366686"/>
                </a:cubicBezTo>
                <a:cubicBezTo>
                  <a:pt x="9358824" y="4144873"/>
                  <a:pt x="9448956" y="3875506"/>
                  <a:pt x="9670660" y="3765038"/>
                </a:cubicBezTo>
                <a:cubicBezTo>
                  <a:pt x="9726087" y="3737421"/>
                  <a:pt x="9784490" y="3722349"/>
                  <a:pt x="9842642" y="3718743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3369891"/>
                </a:lnTo>
                <a:lnTo>
                  <a:pt x="12124015" y="3410713"/>
                </a:lnTo>
                <a:cubicBezTo>
                  <a:pt x="11792041" y="3581538"/>
                  <a:pt x="11443617" y="3577252"/>
                  <a:pt x="11077457" y="3501725"/>
                </a:cubicBezTo>
                <a:cubicBezTo>
                  <a:pt x="10679189" y="3419860"/>
                  <a:pt x="10271734" y="3358281"/>
                  <a:pt x="9867246" y="3351592"/>
                </a:cubicBezTo>
                <a:cubicBezTo>
                  <a:pt x="9492336" y="3345611"/>
                  <a:pt x="9239136" y="3626329"/>
                  <a:pt x="8994802" y="3878378"/>
                </a:cubicBezTo>
                <a:cubicBezTo>
                  <a:pt x="8385954" y="4506678"/>
                  <a:pt x="7695268" y="4690742"/>
                  <a:pt x="6994655" y="4335637"/>
                </a:cubicBezTo>
                <a:cubicBezTo>
                  <a:pt x="6722938" y="4197922"/>
                  <a:pt x="6494843" y="3948626"/>
                  <a:pt x="6287534" y="3714199"/>
                </a:cubicBezTo>
                <a:cubicBezTo>
                  <a:pt x="5731733" y="3085491"/>
                  <a:pt x="5043559" y="3067499"/>
                  <a:pt x="4392596" y="3392344"/>
                </a:cubicBezTo>
                <a:cubicBezTo>
                  <a:pt x="3930423" y="3623867"/>
                  <a:pt x="3492022" y="3908604"/>
                  <a:pt x="3014500" y="4100222"/>
                </a:cubicBezTo>
                <a:cubicBezTo>
                  <a:pt x="1977820" y="4518409"/>
                  <a:pt x="973242" y="4499486"/>
                  <a:pt x="86414" y="3903305"/>
                </a:cubicBezTo>
                <a:lnTo>
                  <a:pt x="0" y="384056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1DF60D0D-5C1F-E1C9-18F3-4A29CCB95D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69856"/>
            <a:ext cx="6658405" cy="145117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</a:pPr>
            <a:r>
              <a:rPr kumimoji="1" lang="zh-TW" altLang="en-US" sz="2400" dirty="0">
                <a:solidFill>
                  <a:srgbClr val="FF0000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效能分析</a:t>
            </a:r>
            <a:r>
              <a:rPr kumimoji="1" lang="en-US" altLang="zh-TW" sz="2400" dirty="0">
                <a:solidFill>
                  <a:srgbClr val="FF0000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/</a:t>
            </a:r>
            <a:r>
              <a:rPr kumimoji="1" lang="zh-TW" altLang="en-US" sz="2400" dirty="0">
                <a:solidFill>
                  <a:srgbClr val="FF0000"/>
                </a:solidFill>
                <a:latin typeface="Heiti SC Light" panose="02000000000000000000" pitchFamily="2" charset="-128"/>
                <a:ea typeface="Heiti SC Light" panose="02000000000000000000" pitchFamily="2" charset="-128"/>
              </a:rPr>
              <a:t>數據處理</a:t>
            </a:r>
            <a:r>
              <a:rPr kumimoji="1" lang="zh-TW" altLang="en-US" sz="2400" dirty="0">
                <a:latin typeface="Heiti SC Light" panose="02000000000000000000" pitchFamily="2" charset="-128"/>
                <a:ea typeface="Heiti SC Light" panose="02000000000000000000" pitchFamily="2" charset="-128"/>
              </a:rPr>
              <a:t>：</a:t>
            </a:r>
            <a:br>
              <a:rPr kumimoji="1" lang="en-US" altLang="zh-TW" sz="1800" dirty="0">
                <a:latin typeface="Heiti SC Light" panose="02000000000000000000" pitchFamily="2" charset="-128"/>
                <a:ea typeface="Heiti SC Light" panose="02000000000000000000" pitchFamily="2" charset="-128"/>
              </a:rPr>
            </a:br>
            <a:r>
              <a:rPr kumimoji="1" lang="zh-TW" altLang="en-US" sz="1800" dirty="0">
                <a:latin typeface="Heiti SC Light" panose="02000000000000000000" pitchFamily="2" charset="-128"/>
                <a:ea typeface="Heiti SC Light" panose="02000000000000000000" pitchFamily="2" charset="-128"/>
              </a:rPr>
              <a:t>加速度計：</a:t>
            </a:r>
            <a:r>
              <a:rPr lang="zh-TW" altLang="zh-TW" sz="1800" dirty="0">
                <a:effectLst/>
                <a:latin typeface="Heiti SC Light" panose="02000000000000000000" pitchFamily="2" charset="-128"/>
                <a:ea typeface="Heiti SC Light" panose="02000000000000000000" pitchFamily="2" charset="-128"/>
                <a:cs typeface="微軟正黑體" panose="020B0604030504040204" pitchFamily="34" charset="-120"/>
              </a:rPr>
              <a:t>受雜訊影響</a:t>
            </a:r>
            <a:r>
              <a:rPr lang="zh-TW" altLang="zh-TW" sz="1800" dirty="0">
                <a:solidFill>
                  <a:srgbClr val="FF0000"/>
                </a:solidFill>
                <a:effectLst/>
                <a:latin typeface="Heiti SC Light" panose="02000000000000000000" pitchFamily="2" charset="-128"/>
                <a:ea typeface="Heiti SC Light" panose="02000000000000000000" pitchFamily="2" charset="-128"/>
                <a:cs typeface="微軟正黑體" panose="020B0604030504040204" pitchFamily="34" charset="-120"/>
              </a:rPr>
              <a:t>不大</a:t>
            </a:r>
            <a:r>
              <a:rPr lang="zh-TW" altLang="zh-TW" sz="1800" dirty="0">
                <a:effectLst/>
                <a:latin typeface="Heiti SC Light" panose="02000000000000000000" pitchFamily="2" charset="-128"/>
                <a:ea typeface="Heiti SC Light" panose="02000000000000000000" pitchFamily="2" charset="-128"/>
              </a:rPr>
              <a:t> </a:t>
            </a:r>
            <a:r>
              <a:rPr lang="zh-TW" altLang="en-US" sz="1800" dirty="0">
                <a:latin typeface="Heiti SC Light" panose="02000000000000000000" pitchFamily="2" charset="-128"/>
                <a:ea typeface="Heiti SC Light" panose="02000000000000000000" pitchFamily="2" charset="-128"/>
              </a:rPr>
              <a:t>，不需</a:t>
            </a:r>
            <a:r>
              <a:rPr lang="zh-TW" altLang="zh-TW" sz="1800" dirty="0">
                <a:effectLst/>
                <a:latin typeface="Heiti SC Light" panose="02000000000000000000" pitchFamily="2" charset="-128"/>
                <a:ea typeface="Heiti SC Light" panose="02000000000000000000" pitchFamily="2" charset="-128"/>
                <a:cs typeface="微軟正黑體" panose="020B0604030504040204" pitchFamily="34" charset="-120"/>
              </a:rPr>
              <a:t>濾波器</a:t>
            </a:r>
            <a:r>
              <a:rPr lang="zh-TW" altLang="zh-TW" sz="1800" dirty="0">
                <a:effectLst/>
                <a:latin typeface="Heiti SC Light" panose="02000000000000000000" pitchFamily="2" charset="-128"/>
                <a:ea typeface="Heiti SC Light" panose="02000000000000000000" pitchFamily="2" charset="-128"/>
              </a:rPr>
              <a:t> </a:t>
            </a:r>
            <a:br>
              <a:rPr kumimoji="1" lang="en-US" altLang="zh-TW" sz="1800" dirty="0">
                <a:latin typeface="Heiti SC Light" panose="02000000000000000000" pitchFamily="2" charset="-128"/>
                <a:ea typeface="Heiti SC Light" panose="02000000000000000000" pitchFamily="2" charset="-128"/>
              </a:rPr>
            </a:br>
            <a:r>
              <a:rPr kumimoji="1" lang="zh-TW" altLang="en-US" sz="1800" dirty="0">
                <a:latin typeface="Heiti SC Light" panose="02000000000000000000" pitchFamily="2" charset="-128"/>
                <a:ea typeface="Heiti SC Light" panose="02000000000000000000" pitchFamily="2" charset="-128"/>
              </a:rPr>
              <a:t>陀螺儀：</a:t>
            </a:r>
            <a:r>
              <a:rPr lang="zh-TW" altLang="zh-TW" sz="1800" dirty="0">
                <a:effectLst/>
                <a:latin typeface="Heiti SC Light" panose="02000000000000000000" pitchFamily="2" charset="-128"/>
                <a:ea typeface="Heiti SC Light" panose="02000000000000000000" pitchFamily="2" charset="-128"/>
                <a:cs typeface="微軟正黑體" panose="020B0604030504040204" pitchFamily="34" charset="-120"/>
              </a:rPr>
              <a:t>角速率受雜訊影響</a:t>
            </a:r>
            <a:r>
              <a:rPr lang="zh-TW" altLang="zh-TW" sz="1800" dirty="0">
                <a:solidFill>
                  <a:srgbClr val="FF0000"/>
                </a:solidFill>
                <a:effectLst/>
                <a:latin typeface="Heiti SC Light" panose="02000000000000000000" pitchFamily="2" charset="-128"/>
                <a:ea typeface="Heiti SC Light" panose="02000000000000000000" pitchFamily="2" charset="-128"/>
                <a:cs typeface="微軟正黑體" panose="020B0604030504040204" pitchFamily="34" charset="-120"/>
              </a:rPr>
              <a:t>大</a:t>
            </a:r>
            <a:r>
              <a:rPr lang="zh-TW" altLang="en-US" sz="1800" dirty="0">
                <a:effectLst/>
                <a:latin typeface="Heiti SC Light" panose="02000000000000000000" pitchFamily="2" charset="-128"/>
                <a:ea typeface="Heiti SC Light" panose="02000000000000000000" pitchFamily="2" charset="-128"/>
                <a:cs typeface="微軟正黑體" panose="020B0604030504040204" pitchFamily="34" charset="-120"/>
              </a:rPr>
              <a:t>，</a:t>
            </a:r>
            <a:r>
              <a:rPr lang="zh-TW" altLang="zh-TW" sz="1800" dirty="0">
                <a:effectLst/>
                <a:latin typeface="Heiti SC Light" panose="02000000000000000000" pitchFamily="2" charset="-128"/>
                <a:ea typeface="Heiti SC Light" panose="02000000000000000000" pitchFamily="2" charset="-128"/>
                <a:cs typeface="Times New Roman" panose="02020603050405020304" pitchFamily="18" charset="0"/>
              </a:rPr>
              <a:t>使用</a:t>
            </a:r>
            <a:r>
              <a:rPr lang="en-US" altLang="zh-TW" sz="1800" dirty="0">
                <a:effectLst/>
                <a:latin typeface="Heiti SC Light" panose="02000000000000000000" pitchFamily="2" charset="-128"/>
                <a:ea typeface="Heiti SC Light" panose="02000000000000000000" pitchFamily="2" charset="-128"/>
                <a:cs typeface="Times New Roman" panose="02020603050405020304" pitchFamily="18" charset="0"/>
              </a:rPr>
              <a:t>EMA</a:t>
            </a:r>
            <a:r>
              <a:rPr lang="zh-TW" altLang="zh-TW" sz="1800" dirty="0">
                <a:effectLst/>
                <a:latin typeface="Heiti SC Light" panose="02000000000000000000" pitchFamily="2" charset="-128"/>
                <a:ea typeface="Heiti SC Light" panose="02000000000000000000" pitchFamily="2" charset="-128"/>
                <a:cs typeface="Times New Roman" panose="02020603050405020304" pitchFamily="18" charset="0"/>
              </a:rPr>
              <a:t>濾波器</a:t>
            </a:r>
            <a:r>
              <a:rPr lang="zh-TW" altLang="en-US" sz="1800" dirty="0">
                <a:effectLst/>
                <a:latin typeface="Heiti SC Light" panose="02000000000000000000" pitchFamily="2" charset="-128"/>
                <a:ea typeface="Heiti SC Light" panose="02000000000000000000" pitchFamily="2" charset="-128"/>
                <a:cs typeface="Times New Roman" panose="02020603050405020304" pitchFamily="18" charset="0"/>
              </a:rPr>
              <a:t>後</a:t>
            </a:r>
            <a:br>
              <a:rPr lang="en-US" altLang="zh-TW" sz="1800" dirty="0">
                <a:effectLst/>
                <a:latin typeface="Heiti SC Light" panose="02000000000000000000" pitchFamily="2" charset="-128"/>
                <a:ea typeface="Heiti SC Light" panose="02000000000000000000" pitchFamily="2" charset="-128"/>
                <a:cs typeface="Times New Roman" panose="02020603050405020304" pitchFamily="18" charset="0"/>
              </a:rPr>
            </a:br>
            <a:r>
              <a:rPr lang="zh-TW" altLang="zh-TW" sz="1800" dirty="0">
                <a:effectLst/>
                <a:latin typeface="Heiti SC Light" panose="02000000000000000000" pitchFamily="2" charset="-128"/>
                <a:ea typeface="Heiti SC Light" panose="02000000000000000000" pitchFamily="2" charset="-128"/>
                <a:cs typeface="Times New Roman" panose="02020603050405020304" pitchFamily="18" charset="0"/>
              </a:rPr>
              <a:t>有效減少雜訊，接收訊號</a:t>
            </a:r>
            <a:r>
              <a:rPr lang="zh-TW" altLang="zh-TW" sz="1800" dirty="0">
                <a:solidFill>
                  <a:srgbClr val="FF0000"/>
                </a:solidFill>
                <a:effectLst/>
                <a:latin typeface="Heiti SC Light" panose="02000000000000000000" pitchFamily="2" charset="-128"/>
                <a:ea typeface="Heiti SC Light" panose="02000000000000000000" pitchFamily="2" charset="-128"/>
                <a:cs typeface="Times New Roman" panose="02020603050405020304" pitchFamily="18" charset="0"/>
              </a:rPr>
              <a:t>標準差減小</a:t>
            </a:r>
            <a:r>
              <a:rPr lang="zh-TW" altLang="zh-TW" sz="1800" dirty="0">
                <a:effectLst/>
                <a:latin typeface="Heiti SC Light" panose="02000000000000000000" pitchFamily="2" charset="-128"/>
                <a:ea typeface="Heiti SC Light" panose="02000000000000000000" pitchFamily="2" charset="-128"/>
              </a:rPr>
              <a:t> </a:t>
            </a:r>
            <a:br>
              <a:rPr kumimoji="1" lang="en-US" altLang="zh-TW" sz="1800" dirty="0"/>
            </a:br>
            <a:endParaRPr kumimoji="1" lang="en-US" altLang="zh-TW" sz="1800" dirty="0"/>
          </a:p>
        </p:txBody>
      </p:sp>
      <p:pic>
        <p:nvPicPr>
          <p:cNvPr id="7" name="圖片 6" descr="一張含有 文字, 螢幕擷取畫面, 行, 字型 的圖片&#10;&#10;自動產生的描述">
            <a:extLst>
              <a:ext uri="{FF2B5EF4-FFF2-40B4-BE49-F238E27FC236}">
                <a16:creationId xmlns:a16="http://schemas.microsoft.com/office/drawing/2014/main" id="{8C70248F-91DB-9886-171B-A9CC2D13D2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3803" y="124676"/>
            <a:ext cx="3264659" cy="3093264"/>
          </a:xfrm>
          <a:prstGeom prst="rect">
            <a:avLst/>
          </a:prstGeom>
        </p:spPr>
      </p:pic>
      <p:pic>
        <p:nvPicPr>
          <p:cNvPr id="9" name="圖片 8" descr="一張含有 文字, 螢幕擷取畫面, 字型, 數字 的圖片&#10;&#10;自動產生的描述">
            <a:extLst>
              <a:ext uri="{FF2B5EF4-FFF2-40B4-BE49-F238E27FC236}">
                <a16:creationId xmlns:a16="http://schemas.microsoft.com/office/drawing/2014/main" id="{2E911F35-5D84-2311-3F9D-D0217CFB79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3803" y="3450908"/>
            <a:ext cx="3529559" cy="3194250"/>
          </a:xfrm>
          <a:prstGeom prst="rect">
            <a:avLst/>
          </a:prstGeom>
        </p:spPr>
      </p:pic>
      <p:pic>
        <p:nvPicPr>
          <p:cNvPr id="5" name="圖片 4" descr="一張含有 文字, 螢幕擷取畫面, 電子藍, 字型 的圖片&#10;&#10;自動產生的描述">
            <a:extLst>
              <a:ext uri="{FF2B5EF4-FFF2-40B4-BE49-F238E27FC236}">
                <a16:creationId xmlns:a16="http://schemas.microsoft.com/office/drawing/2014/main" id="{DAFB9C81-650B-134A-A875-B0F2984018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1612" y="1888063"/>
            <a:ext cx="5460421" cy="4300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22791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6FCCFA0-076A-2839-2A96-CDA40E9238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" altLang="zh-TW" sz="2400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EMA Filter (Exponential moving average filter)</a:t>
            </a:r>
            <a:br>
              <a:rPr lang="en" altLang="zh-TW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</a:br>
            <a:endParaRPr kumimoji="1" lang="zh-TW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8FC0B0A4-9790-DD16-9CE7-A6999BF7E54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" altLang="zh-TW" sz="1800" dirty="0"/>
                  <a:t>EMA</a:t>
                </a:r>
                <a:r>
                  <a:rPr lang="zh-TW" altLang="en" sz="1800" dirty="0"/>
                  <a:t>（</a:t>
                </a:r>
                <a:r>
                  <a:rPr lang="zh-TW" altLang="en-US" sz="1800" dirty="0"/>
                  <a:t>指數移動平均）是一種一階無限脈衝響應（</a:t>
                </a:r>
                <a:r>
                  <a:rPr lang="en" altLang="zh-TW" sz="1800" dirty="0"/>
                  <a:t>IIR</a:t>
                </a:r>
                <a:r>
                  <a:rPr lang="zh-TW" altLang="en" sz="1800" dirty="0"/>
                  <a:t>）</a:t>
                </a:r>
                <a:r>
                  <a:rPr lang="zh-TW" altLang="en-US" sz="1800" dirty="0"/>
                  <a:t>濾波器，</a:t>
                </a:r>
                <a:endParaRPr lang="en-US" altLang="zh-TW" sz="1800" dirty="0"/>
              </a:p>
              <a:p>
                <a:r>
                  <a:rPr lang="zh-TW" altLang="en-US" sz="1800" dirty="0"/>
                  <a:t>透過對舊資料施以</a:t>
                </a:r>
                <a:r>
                  <a:rPr lang="zh-TW" altLang="en-US" sz="1800" dirty="0">
                    <a:solidFill>
                      <a:srgbClr val="FF0000"/>
                    </a:solidFill>
                  </a:rPr>
                  <a:t>指數遞減的加權係數</a:t>
                </a:r>
                <a:r>
                  <a:rPr lang="zh-TW" altLang="en-US" sz="1800" dirty="0"/>
                  <a:t>，使其影響逐漸減弱，</a:t>
                </a:r>
                <a:endParaRPr lang="en-US" altLang="zh-TW" sz="1800" dirty="0"/>
              </a:p>
              <a:p>
                <a:r>
                  <a:rPr lang="zh-TW" altLang="en-US" sz="1800" dirty="0"/>
                  <a:t>從而有效</a:t>
                </a:r>
                <a:r>
                  <a:rPr lang="zh-TW" altLang="en-US" sz="1800" dirty="0">
                    <a:solidFill>
                      <a:srgbClr val="FF0000"/>
                    </a:solidFill>
                  </a:rPr>
                  <a:t>抑制雜訊</a:t>
                </a:r>
                <a:r>
                  <a:rPr lang="zh-TW" altLang="en-US" sz="1800" dirty="0"/>
                  <a:t>，並使其趨近於零。</a:t>
                </a:r>
                <a:endParaRPr lang="en-US" altLang="zh-TW" sz="1800" dirty="0"/>
              </a:p>
              <a:p>
                <a:endParaRPr lang="en-US" altLang="zh-TW" sz="1800" i="1" dirty="0">
                  <a:effectLst/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endParaRPr lang="en-US" altLang="zh-TW" sz="1800" i="1" dirty="0">
                  <a:effectLst/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zh-TW" sz="1800" i="1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TW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en-US" altLang="zh-TW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zh-TW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𝐸𝑀𝐴</m:t>
                          </m:r>
                          <m:r>
                            <a:rPr lang="en-US" altLang="zh-TW" sz="1800" b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zh-TW" sz="1800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𝐭</m:t>
                          </m:r>
                          <m:r>
                            <a:rPr lang="en-US" altLang="zh-TW" sz="1800" b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​</m:t>
                          </m:r>
                        </m:sub>
                      </m:sSub>
                      <m:r>
                        <a:rPr lang="en-US" altLang="zh-TW" sz="18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TW" sz="1800" b="1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𝛃</m:t>
                      </m:r>
                      <m:sSub>
                        <m:sSubPr>
                          <m:ctrlPr>
                            <a:rPr lang="zh-TW" altLang="zh-TW" sz="1800" b="1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TW" sz="1800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𝑾</m:t>
                          </m:r>
                        </m:e>
                        <m:sub>
                          <m:r>
                            <a:rPr lang="en-US" altLang="zh-TW" sz="1800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𝐫𝐚𝐰</m:t>
                          </m:r>
                          <m:r>
                            <a:rPr lang="en-US" altLang="zh-TW" sz="1800" b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​</m:t>
                          </m:r>
                        </m:sub>
                      </m:sSub>
                      <m:r>
                        <a:rPr lang="en-US" altLang="zh-TW" sz="1800" b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altLang="zh-TW" sz="18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TW" sz="1800" b="1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𝟏</m:t>
                      </m:r>
                      <m:r>
                        <a:rPr lang="en-US" altLang="zh-TW" sz="1800" b="1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en-US" altLang="zh-TW" sz="1800" b="1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𝛃</m:t>
                      </m:r>
                      <m:r>
                        <a:rPr lang="en-US" altLang="zh-TW" sz="18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)</m:t>
                      </m:r>
                      <m:sSub>
                        <m:sSubPr>
                          <m:ctrlPr>
                            <a:rPr lang="zh-TW" altLang="zh-TW" sz="18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TW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zh-TW" sz="1800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𝐄𝐌𝐀</m:t>
                          </m:r>
                          <m:r>
                            <a:rPr lang="en-US" altLang="zh-TW" sz="1800" b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zh-TW" sz="1800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𝐭</m:t>
                          </m:r>
                          <m:r>
                            <a:rPr lang="en-US" altLang="zh-TW" sz="1800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US" altLang="zh-TW" sz="1800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𝟏</m:t>
                          </m:r>
                          <m:r>
                            <a:rPr lang="en-US" altLang="zh-TW" sz="1800" b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​</m:t>
                          </m:r>
                        </m:sub>
                      </m:sSub>
                    </m:oMath>
                  </m:oMathPara>
                </a14:m>
                <a:endParaRPr lang="zh-TW" altLang="zh-TW" sz="1800" dirty="0">
                  <a:effectLst/>
                  <a:latin typeface="Georgia" panose="02040502050405020303" pitchFamily="18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endParaRPr kumimoji="1" lang="zh-TW" altLang="en-US" sz="1800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8FC0B0A4-9790-DD16-9CE7-A6999BF7E54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62" t="-62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F07B71CE-D7A6-C332-7220-58BF2A0CAD58}"/>
                  </a:ext>
                </a:extLst>
              </p:cNvPr>
              <p:cNvSpPr txBox="1"/>
              <p:nvPr/>
            </p:nvSpPr>
            <p:spPr>
              <a:xfrm>
                <a:off x="609600" y="4933533"/>
                <a:ext cx="6096000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TW" altLang="en-US" b="1" dirty="0"/>
                  <a:t>平滑因子</a:t>
                </a:r>
                <a14:m>
                  <m:oMath xmlns:m="http://schemas.openxmlformats.org/officeDocument/2006/math">
                    <m:r>
                      <a:rPr lang="en-US" altLang="zh-TW" sz="1800" b="1" i="1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𝛃</m:t>
                    </m:r>
                  </m:oMath>
                </a14:m>
                <a:r>
                  <a:rPr lang="zh-TW" altLang="en-US" b="1" dirty="0"/>
                  <a:t>的影響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TW" sz="1800" b="1" i="1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𝛃</m:t>
                    </m:r>
                  </m:oMath>
                </a14:m>
                <a:r>
                  <a:rPr lang="zh-TW" altLang="en-US" dirty="0"/>
                  <a:t>越大，</a:t>
                </a:r>
                <a:r>
                  <a:rPr lang="en" altLang="zh-TW" dirty="0"/>
                  <a:t>EMA </a:t>
                </a:r>
                <a:r>
                  <a:rPr lang="zh-TW" altLang="en-US" dirty="0"/>
                  <a:t>對新數據變化反應越快（但平滑效果變差）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TW" sz="1800" b="1" i="1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𝛃</m:t>
                    </m:r>
                  </m:oMath>
                </a14:m>
                <a:r>
                  <a:rPr lang="zh-TW" altLang="en-US" dirty="0"/>
                  <a:t>越小，</a:t>
                </a:r>
                <a:r>
                  <a:rPr lang="en" altLang="zh-TW" dirty="0"/>
                  <a:t>EMA </a:t>
                </a:r>
                <a:r>
                  <a:rPr lang="zh-TW" altLang="en-US" dirty="0"/>
                  <a:t>越平滑，但對變化反應較慢</a:t>
                </a:r>
              </a:p>
            </p:txBody>
          </p:sp>
        </mc:Choice>
        <mc:Fallback xmlns="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F07B71CE-D7A6-C332-7220-58BF2A0CAD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4933533"/>
                <a:ext cx="6096000" cy="923330"/>
              </a:xfrm>
              <a:prstGeom prst="rect">
                <a:avLst/>
              </a:prstGeom>
              <a:blipFill>
                <a:blip r:embed="rId3"/>
                <a:stretch>
                  <a:fillRect l="-833" t="-2703" b="-810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195114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3F6713B-9E2B-8F09-7FCA-AAF33B6B32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517" y="52480"/>
            <a:ext cx="10972800" cy="1325563"/>
          </a:xfrm>
        </p:spPr>
        <p:txBody>
          <a:bodyPr>
            <a:normAutofit/>
          </a:bodyPr>
          <a:lstStyle/>
          <a:p>
            <a:r>
              <a:rPr lang="zh-TW" altLang="zh-TW" sz="2400" dirty="0">
                <a:effectLst/>
                <a:latin typeface="Georgia" panose="02040502050405020303" pitchFamily="18" charset="0"/>
                <a:ea typeface="新細明體" panose="02020500000000000000" pitchFamily="18" charset="-120"/>
                <a:cs typeface="微軟正黑體" panose="020B0604030504040204" pitchFamily="34" charset="-120"/>
              </a:rPr>
              <a:t>設計</a:t>
            </a:r>
            <a:r>
              <a:rPr lang="zh-TW" altLang="zh-TW" sz="2400" dirty="0">
                <a:solidFill>
                  <a:srgbClr val="FF0000"/>
                </a:solidFill>
                <a:effectLst/>
                <a:latin typeface="Georgia" panose="02040502050405020303" pitchFamily="18" charset="0"/>
                <a:ea typeface="新細明體" panose="02020500000000000000" pitchFamily="18" charset="-120"/>
                <a:cs typeface="微軟正黑體" panose="020B0604030504040204" pitchFamily="34" charset="-120"/>
              </a:rPr>
              <a:t>挑戰</a:t>
            </a:r>
            <a:br>
              <a:rPr lang="zh-TW" altLang="zh-TW" sz="2400" dirty="0">
                <a:effectLst/>
                <a:latin typeface="Georgia" panose="02040502050405020303" pitchFamily="18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kumimoji="1" lang="zh-TW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00C636AE-213D-3814-D93F-6B711E32AF8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0110" y="1517625"/>
                <a:ext cx="6022428" cy="4036534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ts val="1200"/>
                  </a:lnSpc>
                  <a:spcAft>
                    <a:spcPts val="600"/>
                  </a:spcAft>
                </a:pPr>
                <a:r>
                  <a:rPr lang="en-US" altLang="zh-TW" sz="1800" dirty="0">
                    <a:effectLst/>
                    <a:latin typeface="Heiti SC Light" panose="02000000000000000000" pitchFamily="2" charset="-128"/>
                    <a:ea typeface="Heiti SC Light" panose="02000000000000000000" pitchFamily="2" charset="-128"/>
                    <a:cs typeface="Times New Roman" panose="02020603050405020304" pitchFamily="18" charset="0"/>
                  </a:rPr>
                  <a:t>1. </a:t>
                </a:r>
                <a:r>
                  <a:rPr lang="zh-TW" altLang="zh-TW" sz="1800" dirty="0">
                    <a:effectLst/>
                    <a:latin typeface="Heiti SC Light" panose="02000000000000000000" pitchFamily="2" charset="-128"/>
                    <a:ea typeface="Heiti SC Light" panose="02000000000000000000" pitchFamily="2" charset="-128"/>
                    <a:cs typeface="Times New Roman" panose="02020603050405020304" pitchFamily="18" charset="0"/>
                  </a:rPr>
                  <a:t>馬達震動雜訊</a:t>
                </a:r>
              </a:p>
              <a:p>
                <a:pPr>
                  <a:lnSpc>
                    <a:spcPts val="1200"/>
                  </a:lnSpc>
                  <a:spcAft>
                    <a:spcPts val="600"/>
                  </a:spcAft>
                </a:pPr>
                <a:r>
                  <a:rPr lang="zh-TW" altLang="zh-TW" sz="1800" dirty="0">
                    <a:effectLst/>
                    <a:latin typeface="Heiti SC Light" panose="02000000000000000000" pitchFamily="2" charset="-128"/>
                    <a:ea typeface="Heiti SC Light" panose="02000000000000000000" pitchFamily="2" charset="-128"/>
                    <a:cs typeface="Times New Roman" panose="02020603050405020304" pitchFamily="18" charset="0"/>
                  </a:rPr>
                  <a:t>無人機馬達運轉時會產生高頻雜訊（最高可達</a:t>
                </a:r>
                <a:r>
                  <a:rPr lang="en-US" altLang="zh-TW" sz="1800" dirty="0">
                    <a:effectLst/>
                    <a:latin typeface="Heiti SC Light" panose="02000000000000000000" pitchFamily="2" charset="-128"/>
                    <a:ea typeface="Heiti SC Light" panose="02000000000000000000" pitchFamily="2" charset="-128"/>
                    <a:cs typeface="Times New Roman" panose="02020603050405020304" pitchFamily="18" charset="0"/>
                  </a:rPr>
                  <a:t> 480Hz</a:t>
                </a:r>
                <a:r>
                  <a:rPr lang="zh-TW" altLang="zh-TW" sz="1800" dirty="0">
                    <a:effectLst/>
                    <a:latin typeface="Heiti SC Light" panose="02000000000000000000" pitchFamily="2" charset="-128"/>
                    <a:ea typeface="Heiti SC Light" panose="02000000000000000000" pitchFamily="2" charset="-128"/>
                    <a:cs typeface="Times New Roman" panose="02020603050405020304" pitchFamily="18" charset="0"/>
                  </a:rPr>
                  <a:t>），</a:t>
                </a:r>
                <a:endParaRPr lang="en-US" altLang="zh-TW" sz="1800" dirty="0">
                  <a:effectLst/>
                  <a:latin typeface="Heiti SC Light" panose="02000000000000000000" pitchFamily="2" charset="-128"/>
                  <a:ea typeface="Heiti SC Light" panose="02000000000000000000" pitchFamily="2" charset="-128"/>
                  <a:cs typeface="Times New Roman" panose="02020603050405020304" pitchFamily="18" charset="0"/>
                </a:endParaRPr>
              </a:p>
              <a:p>
                <a:pPr>
                  <a:lnSpc>
                    <a:spcPts val="1200"/>
                  </a:lnSpc>
                  <a:spcAft>
                    <a:spcPts val="600"/>
                  </a:spcAft>
                </a:pPr>
                <a:r>
                  <a:rPr lang="zh-TW" altLang="zh-TW" sz="1800" dirty="0">
                    <a:effectLst/>
                    <a:latin typeface="Heiti SC Light" panose="02000000000000000000" pitchFamily="2" charset="-128"/>
                    <a:ea typeface="Heiti SC Light" panose="02000000000000000000" pitchFamily="2" charset="-128"/>
                    <a:cs typeface="Times New Roman" panose="02020603050405020304" pitchFamily="18" charset="0"/>
                  </a:rPr>
                  <a:t>干擾陀螺儀的量測資料，</a:t>
                </a:r>
                <a:endParaRPr lang="en-US" altLang="zh-TW" sz="1800" dirty="0">
                  <a:effectLst/>
                  <a:latin typeface="Heiti SC Light" panose="02000000000000000000" pitchFamily="2" charset="-128"/>
                  <a:ea typeface="Heiti SC Light" panose="02000000000000000000" pitchFamily="2" charset="-128"/>
                  <a:cs typeface="Times New Roman" panose="02020603050405020304" pitchFamily="18" charset="0"/>
                </a:endParaRPr>
              </a:p>
              <a:p>
                <a:pPr>
                  <a:lnSpc>
                    <a:spcPts val="1200"/>
                  </a:lnSpc>
                  <a:spcAft>
                    <a:spcPts val="600"/>
                  </a:spcAft>
                </a:pPr>
                <a:r>
                  <a:rPr lang="zh-TW" altLang="zh-TW" sz="1800" dirty="0">
                    <a:effectLst/>
                    <a:latin typeface="Heiti SC Light" panose="02000000000000000000" pitchFamily="2" charset="-128"/>
                    <a:ea typeface="Heiti SC Light" panose="02000000000000000000" pitchFamily="2" charset="-128"/>
                    <a:cs typeface="Times New Roman" panose="02020603050405020304" pitchFamily="18" charset="0"/>
                  </a:rPr>
                  <a:t>進而導致</a:t>
                </a:r>
                <a:r>
                  <a:rPr lang="en-US" altLang="zh-TW" sz="1800" dirty="0">
                    <a:effectLst/>
                    <a:latin typeface="Heiti SC Light" panose="02000000000000000000" pitchFamily="2" charset="-128"/>
                    <a:ea typeface="Heiti SC Light" panose="02000000000000000000" pitchFamily="2" charset="-128"/>
                    <a:cs typeface="Times New Roman" panose="02020603050405020304" pitchFamily="18" charset="0"/>
                  </a:rPr>
                  <a:t> PID </a:t>
                </a:r>
                <a:r>
                  <a:rPr lang="zh-TW" altLang="zh-TW" sz="1800" dirty="0">
                    <a:effectLst/>
                    <a:latin typeface="Heiti SC Light" panose="02000000000000000000" pitchFamily="2" charset="-128"/>
                    <a:ea typeface="Heiti SC Light" panose="02000000000000000000" pitchFamily="2" charset="-128"/>
                    <a:cs typeface="Times New Roman" panose="02020603050405020304" pitchFamily="18" charset="0"/>
                  </a:rPr>
                  <a:t>控制不穩，甚至造成馬達過熱。</a:t>
                </a:r>
              </a:p>
              <a:p>
                <a:pPr>
                  <a:lnSpc>
                    <a:spcPts val="1200"/>
                  </a:lnSpc>
                  <a:spcAft>
                    <a:spcPts val="600"/>
                  </a:spcAft>
                </a:pPr>
                <a:r>
                  <a:rPr lang="zh-TW" altLang="zh-TW" sz="1800" dirty="0">
                    <a:effectLst/>
                    <a:latin typeface="Heiti SC Light" panose="02000000000000000000" pitchFamily="2" charset="-128"/>
                    <a:ea typeface="Heiti SC Light" panose="02000000000000000000" pitchFamily="2" charset="-128"/>
                    <a:cs typeface="Times New Roman" panose="02020603050405020304" pitchFamily="18" charset="0"/>
                  </a:rPr>
                  <a:t>解決方案：</a:t>
                </a:r>
                <a:r>
                  <a:rPr lang="en-US" altLang="zh-TW" sz="1800" dirty="0">
                    <a:effectLst/>
                    <a:latin typeface="Heiti SC Light" panose="02000000000000000000" pitchFamily="2" charset="-128"/>
                    <a:ea typeface="Heiti SC Light" panose="02000000000000000000" pitchFamily="2" charset="-128"/>
                    <a:cs typeface="Times New Roman" panose="02020603050405020304" pitchFamily="18" charset="0"/>
                  </a:rPr>
                  <a:t>EMA </a:t>
                </a:r>
                <a:r>
                  <a:rPr lang="zh-TW" altLang="zh-TW" sz="1800" dirty="0">
                    <a:effectLst/>
                    <a:latin typeface="Heiti SC Light" panose="02000000000000000000" pitchFamily="2" charset="-128"/>
                    <a:ea typeface="Heiti SC Light" panose="02000000000000000000" pitchFamily="2" charset="-128"/>
                    <a:cs typeface="Times New Roman" panose="02020603050405020304" pitchFamily="18" charset="0"/>
                  </a:rPr>
                  <a:t>濾波器應用於陀螺儀數據，採用平滑係</a:t>
                </a:r>
                <a:endParaRPr lang="en-US" altLang="zh-TW" sz="1800" dirty="0">
                  <a:effectLst/>
                  <a:latin typeface="Heiti SC Light" panose="02000000000000000000" pitchFamily="2" charset="-128"/>
                  <a:ea typeface="Heiti SC Light" panose="02000000000000000000" pitchFamily="2" charset="-128"/>
                  <a:cs typeface="Times New Roman" panose="02020603050405020304" pitchFamily="18" charset="0"/>
                </a:endParaRPr>
              </a:p>
              <a:p>
                <a:pPr>
                  <a:lnSpc>
                    <a:spcPts val="1200"/>
                  </a:lnSpc>
                  <a:spcAft>
                    <a:spcPts val="600"/>
                  </a:spcAft>
                </a:pPr>
                <a:r>
                  <a:rPr lang="zh-TW" altLang="zh-TW" sz="1800" dirty="0">
                    <a:effectLst/>
                    <a:latin typeface="Heiti SC Light" panose="02000000000000000000" pitchFamily="2" charset="-128"/>
                    <a:ea typeface="Heiti SC Light" panose="02000000000000000000" pitchFamily="2" charset="-128"/>
                    <a:cs typeface="Times New Roman" panose="02020603050405020304" pitchFamily="18" charset="0"/>
                  </a:rPr>
                  <a:t>數 </a:t>
                </a:r>
                <a:r>
                  <a:rPr lang="en-US" altLang="zh-TW" sz="1800" dirty="0">
                    <a:effectLst/>
                    <a:latin typeface="Heiti SC Light" panose="02000000000000000000" pitchFamily="2" charset="-128"/>
                    <a:ea typeface="Heiti SC Light" panose="02000000000000000000" pitchFamily="2" charset="-128"/>
                    <a:cs typeface="Times New Roman" panose="02020603050405020304" pitchFamily="18" charset="0"/>
                  </a:rPr>
                  <a:t>β=0.1 </a:t>
                </a:r>
                <a:r>
                  <a:rPr lang="zh-TW" altLang="zh-TW" sz="1800" dirty="0">
                    <a:effectLst/>
                    <a:latin typeface="Heiti SC Light" panose="02000000000000000000" pitchFamily="2" charset="-128"/>
                    <a:ea typeface="Heiti SC Light" panose="02000000000000000000" pitchFamily="2" charset="-128"/>
                    <a:cs typeface="Times New Roman" panose="02020603050405020304" pitchFamily="18" charset="0"/>
                  </a:rPr>
                  <a:t>抑制高頻雜訊</a:t>
                </a:r>
                <a:r>
                  <a:rPr lang="zh-TW" altLang="en-US" sz="1800" dirty="0">
                    <a:effectLst/>
                    <a:latin typeface="Heiti SC Light" panose="02000000000000000000" pitchFamily="2" charset="-128"/>
                    <a:ea typeface="Heiti SC Light" panose="02000000000000000000" pitchFamily="2" charset="-128"/>
                    <a:cs typeface="Times New Roman" panose="02020603050405020304" pitchFamily="18" charset="0"/>
                  </a:rPr>
                  <a:t>（</a:t>
                </a:r>
                <a:r>
                  <a:rPr lang="zh-TW" altLang="en-US" sz="1800" dirty="0">
                    <a:latin typeface="Heiti SC Light" panose="02000000000000000000" pitchFamily="2" charset="-128"/>
                    <a:ea typeface="Heiti SC Light" panose="02000000000000000000" pitchFamily="2" charset="-128"/>
                  </a:rPr>
                  <a:t>平滑，但對變化反應較慢）</a:t>
                </a:r>
                <a:endParaRPr lang="zh-TW" altLang="zh-TW" sz="1800" dirty="0">
                  <a:effectLst/>
                  <a:latin typeface="Heiti SC Light" panose="02000000000000000000" pitchFamily="2" charset="-128"/>
                  <a:ea typeface="Heiti SC Light" panose="02000000000000000000" pitchFamily="2" charset="-128"/>
                  <a:cs typeface="Times New Roman" panose="02020603050405020304" pitchFamily="18" charset="0"/>
                </a:endParaRPr>
              </a:p>
              <a:p>
                <a:pPr>
                  <a:lnSpc>
                    <a:spcPts val="1200"/>
                  </a:lnSpc>
                  <a:spcAft>
                    <a:spcPts val="600"/>
                  </a:spcAft>
                </a:pPr>
                <a:endParaRPr lang="en-US" altLang="zh-TW" sz="1800" dirty="0">
                  <a:effectLst/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ts val="1200"/>
                  </a:lnSpc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zh-TW" sz="18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TW" sz="1800" b="0" i="0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TW" sz="1800" b="0" i="0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W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 sz="1800" b="0" i="0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EMA</m:t>
                          </m:r>
                          <m:r>
                            <a:rPr lang="en-US" altLang="zh-TW" sz="1800" b="0" i="0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altLang="zh-TW" sz="1800" b="0" i="0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t</m:t>
                          </m:r>
                          <m:r>
                            <a:rPr lang="en-US" altLang="zh-TW" sz="1800" b="0" i="0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​</m:t>
                          </m:r>
                        </m:sub>
                      </m:sSub>
                      <m:r>
                        <a:rPr lang="en-US" altLang="zh-TW" sz="1800" b="0" i="0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TW" sz="1800" b="0" i="0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β</m:t>
                      </m:r>
                      <m:sSub>
                        <m:sSubPr>
                          <m:ctrlPr>
                            <a:rPr lang="zh-TW" altLang="zh-TW" sz="18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TW" sz="1800" b="0" i="0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W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 sz="1800" b="0" i="0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raw</m:t>
                          </m:r>
                          <m:r>
                            <a:rPr lang="en-US" altLang="zh-TW" sz="1800" b="0" i="0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​</m:t>
                          </m:r>
                        </m:sub>
                      </m:sSub>
                      <m:r>
                        <a:rPr lang="en-US" altLang="zh-TW" sz="1800" b="0" i="0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+(1−</m:t>
                      </m:r>
                      <m:r>
                        <m:rPr>
                          <m:sty m:val="p"/>
                        </m:rPr>
                        <a:rPr lang="en-US" altLang="zh-TW" sz="1800" b="0" i="0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β</m:t>
                      </m:r>
                      <m:r>
                        <a:rPr lang="en-US" altLang="zh-TW" sz="1800" b="0" i="0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m:t>)</m:t>
                      </m:r>
                      <m:sSub>
                        <m:sSubPr>
                          <m:ctrlPr>
                            <a:rPr lang="zh-TW" altLang="zh-TW" sz="18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TW" sz="1800" b="0" i="0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W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 sz="1800" b="0" i="0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EMA</m:t>
                          </m:r>
                          <m:r>
                            <a:rPr lang="en-US" altLang="zh-TW" sz="1800" b="0" i="0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altLang="zh-TW" sz="1800" b="0" i="0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t</m:t>
                          </m:r>
                          <m:r>
                            <a:rPr lang="en-US" altLang="zh-TW" sz="1800" b="0" i="0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imes New Roman" panose="02020603050405020304" pitchFamily="18" charset="0"/>
                            </a:rPr>
                            <m:t>−1​</m:t>
                          </m:r>
                        </m:sub>
                      </m:sSub>
                    </m:oMath>
                  </m:oMathPara>
                </a14:m>
                <a:endParaRPr lang="zh-TW" altLang="zh-TW" sz="1800" dirty="0">
                  <a:effectLst/>
                  <a:latin typeface="Heiti SC Light" panose="02000000000000000000" pitchFamily="2" charset="-128"/>
                  <a:ea typeface="Heiti SC Light" panose="02000000000000000000" pitchFamily="2" charset="-128"/>
                  <a:cs typeface="Times New Roman" panose="02020603050405020304" pitchFamily="18" charset="0"/>
                </a:endParaRPr>
              </a:p>
              <a:p>
                <a:pPr>
                  <a:lnSpc>
                    <a:spcPts val="1200"/>
                  </a:lnSpc>
                  <a:spcAft>
                    <a:spcPts val="600"/>
                  </a:spcAft>
                </a:pPr>
                <a:endParaRPr lang="en-US" altLang="zh-TW" sz="1800" dirty="0">
                  <a:effectLst/>
                  <a:latin typeface="Heiti SC Light" panose="02000000000000000000" pitchFamily="2" charset="-128"/>
                  <a:ea typeface="Heiti SC Light" panose="02000000000000000000" pitchFamily="2" charset="-128"/>
                  <a:cs typeface="Times New Roman" panose="02020603050405020304" pitchFamily="18" charset="0"/>
                </a:endParaRPr>
              </a:p>
              <a:p>
                <a:pPr>
                  <a:lnSpc>
                    <a:spcPts val="1200"/>
                  </a:lnSpc>
                  <a:spcAft>
                    <a:spcPts val="600"/>
                  </a:spcAft>
                </a:pPr>
                <a:r>
                  <a:rPr lang="en-US" altLang="zh-TW" sz="1800" dirty="0">
                    <a:effectLst/>
                    <a:latin typeface="Heiti SC Light" panose="02000000000000000000" pitchFamily="2" charset="-128"/>
                    <a:ea typeface="Heiti SC Light" panose="02000000000000000000" pitchFamily="2" charset="-128"/>
                    <a:cs typeface="Times New Roman" panose="02020603050405020304" pitchFamily="18" charset="0"/>
                  </a:rPr>
                  <a:t>2. PID </a:t>
                </a:r>
                <a:r>
                  <a:rPr lang="zh-TW" altLang="zh-TW" sz="1800" dirty="0">
                    <a:effectLst/>
                    <a:latin typeface="Heiti SC Light" panose="02000000000000000000" pitchFamily="2" charset="-128"/>
                    <a:ea typeface="Heiti SC Light" panose="02000000000000000000" pitchFamily="2" charset="-128"/>
                    <a:cs typeface="微軟正黑體" panose="020B0604030504040204" pitchFamily="34" charset="-120"/>
                  </a:rPr>
                  <a:t>控制不穩定：</a:t>
                </a:r>
                <a:endParaRPr lang="en-US" altLang="zh-TW" sz="1800" dirty="0">
                  <a:effectLst/>
                  <a:latin typeface="Heiti SC Light" panose="02000000000000000000" pitchFamily="2" charset="-128"/>
                  <a:ea typeface="Heiti SC Light" panose="02000000000000000000" pitchFamily="2" charset="-128"/>
                  <a:cs typeface="微軟正黑體" panose="020B0604030504040204" pitchFamily="34" charset="-120"/>
                </a:endParaRPr>
              </a:p>
              <a:p>
                <a:pPr>
                  <a:lnSpc>
                    <a:spcPts val="1200"/>
                  </a:lnSpc>
                  <a:spcAft>
                    <a:spcPts val="600"/>
                  </a:spcAft>
                </a:pPr>
                <a:r>
                  <a:rPr lang="en-US" altLang="zh-TW" sz="1800" dirty="0">
                    <a:effectLst/>
                    <a:latin typeface="Heiti SC Light" panose="02000000000000000000" pitchFamily="2" charset="-128"/>
                    <a:ea typeface="Heiti SC Light" panose="02000000000000000000" pitchFamily="2" charset="-128"/>
                    <a:cs typeface="Times New Roman" panose="02020603050405020304" pitchFamily="18" charset="0"/>
                  </a:rPr>
                  <a:t>IMU </a:t>
                </a:r>
                <a:r>
                  <a:rPr lang="zh-TW" altLang="zh-TW" sz="1800" dirty="0">
                    <a:effectLst/>
                    <a:latin typeface="Heiti SC Light" panose="02000000000000000000" pitchFamily="2" charset="-128"/>
                    <a:ea typeface="Heiti SC Light" panose="02000000000000000000" pitchFamily="2" charset="-128"/>
                    <a:cs typeface="微軟正黑體" panose="020B0604030504040204" pitchFamily="34" charset="-120"/>
                  </a:rPr>
                  <a:t>數據不準可能導致</a:t>
                </a:r>
                <a:r>
                  <a:rPr lang="en-US" altLang="zh-TW" sz="1800" dirty="0">
                    <a:effectLst/>
                    <a:latin typeface="Heiti SC Light" panose="02000000000000000000" pitchFamily="2" charset="-128"/>
                    <a:ea typeface="Heiti SC Light" panose="02000000000000000000" pitchFamily="2" charset="-128"/>
                    <a:cs typeface="Times New Roman" panose="02020603050405020304" pitchFamily="18" charset="0"/>
                  </a:rPr>
                  <a:t> PID </a:t>
                </a:r>
                <a:r>
                  <a:rPr lang="zh-TW" altLang="zh-TW" sz="1800" dirty="0">
                    <a:effectLst/>
                    <a:latin typeface="Heiti SC Light" panose="02000000000000000000" pitchFamily="2" charset="-128"/>
                    <a:ea typeface="Heiti SC Light" panose="02000000000000000000" pitchFamily="2" charset="-128"/>
                    <a:cs typeface="微軟正黑體" panose="020B0604030504040204" pitchFamily="34" charset="-120"/>
                  </a:rPr>
                  <a:t>調整過度，</a:t>
                </a:r>
                <a:endParaRPr lang="en-US" altLang="zh-TW" sz="1800" dirty="0">
                  <a:effectLst/>
                  <a:latin typeface="Heiti SC Light" panose="02000000000000000000" pitchFamily="2" charset="-128"/>
                  <a:ea typeface="Heiti SC Light" panose="02000000000000000000" pitchFamily="2" charset="-128"/>
                  <a:cs typeface="微軟正黑體" panose="020B0604030504040204" pitchFamily="34" charset="-120"/>
                </a:endParaRPr>
              </a:p>
              <a:p>
                <a:pPr>
                  <a:lnSpc>
                    <a:spcPts val="1200"/>
                  </a:lnSpc>
                  <a:spcAft>
                    <a:spcPts val="600"/>
                  </a:spcAft>
                </a:pPr>
                <a:r>
                  <a:rPr lang="zh-TW" altLang="zh-TW" sz="1800" dirty="0">
                    <a:effectLst/>
                    <a:latin typeface="Heiti SC Light" panose="02000000000000000000" pitchFamily="2" charset="-128"/>
                    <a:ea typeface="Heiti SC Light" panose="02000000000000000000" pitchFamily="2" charset="-128"/>
                    <a:cs typeface="微軟正黑體" panose="020B0604030504040204" pitchFamily="34" charset="-120"/>
                  </a:rPr>
                  <a:t>引發電機過熱與損壞</a:t>
                </a:r>
                <a:endParaRPr lang="zh-TW" altLang="zh-TW" sz="1800" dirty="0">
                  <a:effectLst/>
                  <a:latin typeface="Heiti SC Light" panose="02000000000000000000" pitchFamily="2" charset="-128"/>
                  <a:ea typeface="Heiti SC Light" panose="02000000000000000000" pitchFamily="2" charset="-128"/>
                  <a:cs typeface="Times New Roman" panose="02020603050405020304" pitchFamily="18" charset="0"/>
                </a:endParaRPr>
              </a:p>
              <a:p>
                <a:r>
                  <a:rPr lang="zh-TW" altLang="zh-TW" sz="1800" dirty="0">
                    <a:effectLst/>
                    <a:latin typeface="Heiti SC Light" panose="02000000000000000000" pitchFamily="2" charset="-128"/>
                    <a:ea typeface="Heiti SC Light" panose="02000000000000000000" pitchFamily="2" charset="-128"/>
                    <a:cs typeface="新細明體" panose="02020500000000000000" pitchFamily="18" charset="-120"/>
                  </a:rPr>
                  <a:t>解決方案：感測器整合加速度與角速度資料，以降低雜訊</a:t>
                </a:r>
              </a:p>
              <a:p>
                <a:endParaRPr kumimoji="1" lang="zh-TW" altLang="en-US" sz="1800" dirty="0">
                  <a:latin typeface="Heiti SC Light" panose="02000000000000000000" pitchFamily="2" charset="-128"/>
                  <a:ea typeface="Heiti SC Light" panose="02000000000000000000" pitchFamily="2" charset="-128"/>
                </a:endParaRPr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00C636AE-213D-3814-D93F-6B711E32AF8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0110" y="1517625"/>
                <a:ext cx="6022428" cy="4036534"/>
              </a:xfrm>
              <a:blipFill>
                <a:blip r:embed="rId2"/>
                <a:stretch>
                  <a:fillRect l="-840" t="-3762" b="-1379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215542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Background Fill">
            <a:extLst>
              <a:ext uri="{FF2B5EF4-FFF2-40B4-BE49-F238E27FC236}">
                <a16:creationId xmlns:a16="http://schemas.microsoft.com/office/drawing/2014/main" id="{B937640E-EF7A-4A6C-A950-D12B7D5C92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76BDF4D-4826-490A-8307-7247A295E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2E0FF4CF-25CB-4537-9BBF-28B36C76BE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65328" y="1352190"/>
            <a:ext cx="7823624" cy="5505810"/>
          </a:xfrm>
          <a:custGeom>
            <a:avLst/>
            <a:gdLst>
              <a:gd name="connsiteX0" fmla="*/ 7676365 w 7823624"/>
              <a:gd name="connsiteY0" fmla="*/ 583688 h 5505810"/>
              <a:gd name="connsiteX1" fmla="*/ 7807957 w 7823624"/>
              <a:gd name="connsiteY1" fmla="*/ 609260 h 5505810"/>
              <a:gd name="connsiteX2" fmla="*/ 7823624 w 7823624"/>
              <a:gd name="connsiteY2" fmla="*/ 618028 h 5505810"/>
              <a:gd name="connsiteX3" fmla="*/ 7823624 w 7823624"/>
              <a:gd name="connsiteY3" fmla="*/ 1356037 h 5505810"/>
              <a:gd name="connsiteX4" fmla="*/ 7783921 w 7823624"/>
              <a:gd name="connsiteY4" fmla="*/ 1367061 h 5505810"/>
              <a:gd name="connsiteX5" fmla="*/ 7685829 w 7823624"/>
              <a:gd name="connsiteY5" fmla="*/ 1364631 h 5505810"/>
              <a:gd name="connsiteX6" fmla="*/ 7556041 w 7823624"/>
              <a:gd name="connsiteY6" fmla="*/ 1308528 h 5505810"/>
              <a:gd name="connsiteX7" fmla="*/ 7412440 w 7823624"/>
              <a:gd name="connsiteY7" fmla="*/ 765688 h 5505810"/>
              <a:gd name="connsiteX8" fmla="*/ 7676365 w 7823624"/>
              <a:gd name="connsiteY8" fmla="*/ 583688 h 5505810"/>
              <a:gd name="connsiteX9" fmla="*/ 7062857 w 7823624"/>
              <a:gd name="connsiteY9" fmla="*/ 396783 h 5505810"/>
              <a:gd name="connsiteX10" fmla="*/ 7127059 w 7823624"/>
              <a:gd name="connsiteY10" fmla="*/ 424535 h 5505810"/>
              <a:gd name="connsiteX11" fmla="*/ 7198094 w 7823624"/>
              <a:gd name="connsiteY11" fmla="*/ 693059 h 5505810"/>
              <a:gd name="connsiteX12" fmla="*/ 7099157 w 7823624"/>
              <a:gd name="connsiteY12" fmla="*/ 778505 h 5505810"/>
              <a:gd name="connsiteX13" fmla="*/ 7034998 w 7823624"/>
              <a:gd name="connsiteY13" fmla="*/ 780480 h 5505810"/>
              <a:gd name="connsiteX14" fmla="*/ 6970795 w 7823624"/>
              <a:gd name="connsiteY14" fmla="*/ 752727 h 5505810"/>
              <a:gd name="connsiteX15" fmla="*/ 6899760 w 7823624"/>
              <a:gd name="connsiteY15" fmla="*/ 484203 h 5505810"/>
              <a:gd name="connsiteX16" fmla="*/ 7062857 w 7823624"/>
              <a:gd name="connsiteY16" fmla="*/ 396783 h 5505810"/>
              <a:gd name="connsiteX17" fmla="*/ 1780739 w 7823624"/>
              <a:gd name="connsiteY17" fmla="*/ 1190 h 5505810"/>
              <a:gd name="connsiteX18" fmla="*/ 2850847 w 7823624"/>
              <a:gd name="connsiteY18" fmla="*/ 384530 h 5505810"/>
              <a:gd name="connsiteX19" fmla="*/ 3809413 w 7823624"/>
              <a:gd name="connsiteY19" fmla="*/ 1153764 h 5505810"/>
              <a:gd name="connsiteX20" fmla="*/ 5160376 w 7823624"/>
              <a:gd name="connsiteY20" fmla="*/ 1003825 h 5505810"/>
              <a:gd name="connsiteX21" fmla="*/ 5677238 w 7823624"/>
              <a:gd name="connsiteY21" fmla="*/ 480424 h 5505810"/>
              <a:gd name="connsiteX22" fmla="*/ 7082965 w 7823624"/>
              <a:gd name="connsiteY22" fmla="*/ 1065272 h 5505810"/>
              <a:gd name="connsiteX23" fmla="*/ 7687818 w 7823624"/>
              <a:gd name="connsiteY23" fmla="*/ 1625585 h 5505810"/>
              <a:gd name="connsiteX24" fmla="*/ 7823624 w 7823624"/>
              <a:gd name="connsiteY24" fmla="*/ 1633445 h 5505810"/>
              <a:gd name="connsiteX25" fmla="*/ 7823624 w 7823624"/>
              <a:gd name="connsiteY25" fmla="*/ 5505810 h 5505810"/>
              <a:gd name="connsiteX26" fmla="*/ 1419133 w 7823624"/>
              <a:gd name="connsiteY26" fmla="*/ 5505810 h 5505810"/>
              <a:gd name="connsiteX27" fmla="*/ 1422753 w 7823624"/>
              <a:gd name="connsiteY27" fmla="*/ 5488656 h 5505810"/>
              <a:gd name="connsiteX28" fmla="*/ 1543078 w 7823624"/>
              <a:gd name="connsiteY28" fmla="*/ 4961644 h 5505810"/>
              <a:gd name="connsiteX29" fmla="*/ 1334564 w 7823624"/>
              <a:gd name="connsiteY29" fmla="*/ 4133160 h 5505810"/>
              <a:gd name="connsiteX30" fmla="*/ 670875 w 7823624"/>
              <a:gd name="connsiteY30" fmla="*/ 3489628 h 5505810"/>
              <a:gd name="connsiteX31" fmla="*/ 499515 w 7823624"/>
              <a:gd name="connsiteY31" fmla="*/ 578153 h 5505810"/>
              <a:gd name="connsiteX32" fmla="*/ 1780739 w 7823624"/>
              <a:gd name="connsiteY32" fmla="*/ 1190 h 5505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7823624" h="5505810">
                <a:moveTo>
                  <a:pt x="7676365" y="583688"/>
                </a:moveTo>
                <a:cubicBezTo>
                  <a:pt x="7719804" y="582304"/>
                  <a:pt x="7764489" y="590613"/>
                  <a:pt x="7807957" y="609260"/>
                </a:cubicBezTo>
                <a:lnTo>
                  <a:pt x="7823624" y="618028"/>
                </a:lnTo>
                <a:lnTo>
                  <a:pt x="7823624" y="1356037"/>
                </a:lnTo>
                <a:lnTo>
                  <a:pt x="7783921" y="1367061"/>
                </a:lnTo>
                <a:cubicBezTo>
                  <a:pt x="7751926" y="1371702"/>
                  <a:pt x="7718882" y="1370985"/>
                  <a:pt x="7685829" y="1364631"/>
                </a:cubicBezTo>
                <a:cubicBezTo>
                  <a:pt x="7641760" y="1356162"/>
                  <a:pt x="7597675" y="1337676"/>
                  <a:pt x="7556041" y="1308528"/>
                </a:cubicBezTo>
                <a:cubicBezTo>
                  <a:pt x="7389499" y="1191936"/>
                  <a:pt x="7325207" y="948898"/>
                  <a:pt x="7412440" y="765688"/>
                </a:cubicBezTo>
                <a:cubicBezTo>
                  <a:pt x="7466961" y="651183"/>
                  <a:pt x="7567768" y="587147"/>
                  <a:pt x="7676365" y="583688"/>
                </a:cubicBezTo>
                <a:close/>
                <a:moveTo>
                  <a:pt x="7062857" y="396783"/>
                </a:moveTo>
                <a:cubicBezTo>
                  <a:pt x="7084657" y="400973"/>
                  <a:pt x="7106463" y="410117"/>
                  <a:pt x="7127059" y="424535"/>
                </a:cubicBezTo>
                <a:cubicBezTo>
                  <a:pt x="7209442" y="482209"/>
                  <a:pt x="7241245" y="602433"/>
                  <a:pt x="7198094" y="693059"/>
                </a:cubicBezTo>
                <a:cubicBezTo>
                  <a:pt x="7176519" y="738373"/>
                  <a:pt x="7140289" y="767709"/>
                  <a:pt x="7099157" y="778505"/>
                </a:cubicBezTo>
                <a:cubicBezTo>
                  <a:pt x="7078590" y="783905"/>
                  <a:pt x="7056797" y="784670"/>
                  <a:pt x="7034998" y="780480"/>
                </a:cubicBezTo>
                <a:cubicBezTo>
                  <a:pt x="7013198" y="776289"/>
                  <a:pt x="6991391" y="767146"/>
                  <a:pt x="6970795" y="752727"/>
                </a:cubicBezTo>
                <a:cubicBezTo>
                  <a:pt x="6888412" y="695052"/>
                  <a:pt x="6856608" y="574829"/>
                  <a:pt x="6899760" y="484203"/>
                </a:cubicBezTo>
                <a:cubicBezTo>
                  <a:pt x="6932124" y="416232"/>
                  <a:pt x="6997458" y="384213"/>
                  <a:pt x="7062857" y="396783"/>
                </a:cubicBezTo>
                <a:close/>
                <a:moveTo>
                  <a:pt x="1780739" y="1190"/>
                </a:moveTo>
                <a:cubicBezTo>
                  <a:pt x="2129768" y="14988"/>
                  <a:pt x="2488852" y="148495"/>
                  <a:pt x="2850847" y="384530"/>
                </a:cubicBezTo>
                <a:cubicBezTo>
                  <a:pt x="3184362" y="601036"/>
                  <a:pt x="3487788" y="901267"/>
                  <a:pt x="3809413" y="1153764"/>
                </a:cubicBezTo>
                <a:cubicBezTo>
                  <a:pt x="4262448" y="1508236"/>
                  <a:pt x="4750558" y="1545992"/>
                  <a:pt x="5160376" y="1003825"/>
                </a:cubicBezTo>
                <a:cubicBezTo>
                  <a:pt x="5313232" y="801671"/>
                  <a:pt x="5481196" y="587300"/>
                  <a:pt x="5677238" y="480424"/>
                </a:cubicBezTo>
                <a:cubicBezTo>
                  <a:pt x="6182723" y="204840"/>
                  <a:pt x="6667481" y="431193"/>
                  <a:pt x="7082965" y="1065272"/>
                </a:cubicBezTo>
                <a:cubicBezTo>
                  <a:pt x="7249706" y="1319645"/>
                  <a:pt x="7421998" y="1601453"/>
                  <a:pt x="7687818" y="1625585"/>
                </a:cubicBezTo>
                <a:lnTo>
                  <a:pt x="7823624" y="1633445"/>
                </a:lnTo>
                <a:lnTo>
                  <a:pt x="7823624" y="5505810"/>
                </a:lnTo>
                <a:lnTo>
                  <a:pt x="1419133" y="5505810"/>
                </a:lnTo>
                <a:lnTo>
                  <a:pt x="1422753" y="5488656"/>
                </a:lnTo>
                <a:cubicBezTo>
                  <a:pt x="1462649" y="5312984"/>
                  <a:pt x="1506176" y="5138278"/>
                  <a:pt x="1543078" y="4961644"/>
                </a:cubicBezTo>
                <a:cubicBezTo>
                  <a:pt x="1609806" y="4640258"/>
                  <a:pt x="1539760" y="4343419"/>
                  <a:pt x="1334564" y="4133160"/>
                </a:cubicBezTo>
                <a:cubicBezTo>
                  <a:pt x="1117562" y="3910930"/>
                  <a:pt x="900716" y="3685928"/>
                  <a:pt x="670875" y="3489628"/>
                </a:cubicBezTo>
                <a:cubicBezTo>
                  <a:pt x="-321639" y="2642174"/>
                  <a:pt x="-67393" y="1165752"/>
                  <a:pt x="499515" y="578153"/>
                </a:cubicBezTo>
                <a:cubicBezTo>
                  <a:pt x="899852" y="163598"/>
                  <a:pt x="1331986" y="-16550"/>
                  <a:pt x="1780739" y="119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7FC81DEF-5556-FDFA-1DF9-D5BBED720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076" y="943922"/>
            <a:ext cx="10972800" cy="787552"/>
          </a:xfrm>
        </p:spPr>
        <p:txBody>
          <a:bodyPr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kumimoji="1" lang="en-US" altLang="zh-TW" sz="2400" dirty="0">
                <a:latin typeface="Times New Roman" panose="02020603050405020304" pitchFamily="18" charset="0"/>
                <a:ea typeface="Heiti SC Light" panose="02000000000000000000" pitchFamily="2" charset="-128"/>
                <a:cs typeface="Times New Roman" panose="02020603050405020304" pitchFamily="18" charset="0"/>
              </a:rPr>
              <a:t>111611073</a:t>
            </a:r>
            <a:r>
              <a:rPr kumimoji="1" lang="zh-TW" altLang="en-US" sz="2400" dirty="0">
                <a:latin typeface="Times New Roman" panose="02020603050405020304" pitchFamily="18" charset="0"/>
                <a:ea typeface="Heiti SC Light" panose="02000000000000000000" pitchFamily="2" charset="-128"/>
                <a:cs typeface="Times New Roman" panose="02020603050405020304" pitchFamily="18" charset="0"/>
              </a:rPr>
              <a:t>高毓襄</a:t>
            </a:r>
            <a:br>
              <a:rPr kumimoji="1" lang="zh-TW" altLang="en-US" sz="2400" dirty="0">
                <a:latin typeface="Times New Roman" panose="02020603050405020304" pitchFamily="18" charset="0"/>
                <a:ea typeface="Heiti SC Light" panose="02000000000000000000" pitchFamily="2" charset="-128"/>
                <a:cs typeface="Times New Roman" panose="02020603050405020304" pitchFamily="18" charset="0"/>
              </a:rPr>
            </a:br>
            <a:br>
              <a:rPr kumimoji="1" lang="en" altLang="zh-TW" sz="2400" dirty="0">
                <a:latin typeface="Times New Roman" panose="02020603050405020304" pitchFamily="18" charset="0"/>
                <a:ea typeface="Heiti SC Light" panose="02000000000000000000" pitchFamily="2" charset="-128"/>
                <a:cs typeface="Times New Roman" panose="02020603050405020304" pitchFamily="18" charset="0"/>
              </a:rPr>
            </a:br>
            <a:r>
              <a:rPr kumimoji="1" lang="en" altLang="zh-TW" sz="2400" dirty="0">
                <a:latin typeface="Times New Roman" panose="02020603050405020304" pitchFamily="18" charset="0"/>
                <a:ea typeface="Heiti SC Light" panose="02000000000000000000" pitchFamily="2" charset="-128"/>
                <a:cs typeface="Times New Roman" panose="02020603050405020304" pitchFamily="18" charset="0"/>
              </a:rPr>
              <a:t>Paper: </a:t>
            </a:r>
            <a:r>
              <a:rPr kumimoji="1" lang="en-US" altLang="zh-TW" sz="2400" dirty="0">
                <a:latin typeface="Times New Roman" panose="02020603050405020304" pitchFamily="18" charset="0"/>
                <a:ea typeface="Heiti SC Light" panose="02000000000000000000" pitchFamily="2" charset="-128"/>
                <a:cs typeface="Times New Roman" panose="02020603050405020304" pitchFamily="18" charset="0"/>
              </a:rPr>
              <a:t>Analysis of Inertial Measurement Accuracy using Complementary Filter for MPU6050 Sensor</a:t>
            </a:r>
            <a:endParaRPr kumimoji="1" lang="zh-TW" altLang="en-US" sz="2400" dirty="0">
              <a:latin typeface="Times New Roman" panose="02020603050405020304" pitchFamily="18" charset="0"/>
              <a:ea typeface="Heiti SC Light" panose="02000000000000000000" pitchFamily="2" charset="-128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73440D2-BD7D-4EE0-DCDE-0B440339F6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8076" y="2212396"/>
            <a:ext cx="5640324" cy="4144861"/>
          </a:xfrm>
        </p:spPr>
        <p:txBody>
          <a:bodyPr>
            <a:noAutofit/>
          </a:bodyPr>
          <a:lstStyle/>
          <a:p>
            <a:pPr marL="228600">
              <a:lnSpc>
                <a:spcPct val="100000"/>
              </a:lnSpc>
              <a:spcAft>
                <a:spcPts val="600"/>
              </a:spcAft>
            </a:pPr>
            <a:r>
              <a:rPr lang="zh-TW" altLang="en-US" sz="2800" b="1" dirty="0">
                <a:effectLst/>
                <a:latin typeface="新細明體" panose="02020500000000000000" pitchFamily="18" charset="-120"/>
                <a:ea typeface="新細明體" panose="02020500000000000000" pitchFamily="18" charset="-120"/>
                <a:cs typeface="Times New Roman" panose="02020603050405020304" pitchFamily="18" charset="0"/>
              </a:rPr>
              <a:t>應用及背景：</a:t>
            </a:r>
            <a:endParaRPr lang="en-US" altLang="zh-TW" sz="2800" b="1" dirty="0">
              <a:effectLst/>
              <a:latin typeface="新細明體" panose="02020500000000000000" pitchFamily="18" charset="-12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TW" b="1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Sensor: MPU6050</a:t>
            </a:r>
            <a:r>
              <a:rPr lang="en-US" altLang="zh-TW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: </a:t>
            </a:r>
            <a:r>
              <a:rPr lang="zh-TW" altLang="zh-TW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含有三軸加速度計與三軸陀螺儀（</a:t>
            </a:r>
            <a:r>
              <a:rPr lang="en-US" altLang="zh-TW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6</a:t>
            </a:r>
            <a:r>
              <a:rPr lang="zh-TW" altLang="zh-TW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軸</a:t>
            </a:r>
            <a:r>
              <a:rPr lang="en-US" altLang="zh-TW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 IMU</a:t>
            </a:r>
            <a:r>
              <a:rPr lang="zh-TW" altLang="zh-TW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）。為一款低成本的慣性運動追蹤感測器。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TW" altLang="zh-TW" b="1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應用</a:t>
            </a:r>
            <a:r>
              <a:rPr lang="en-US" altLang="zh-TW" b="1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(p960)</a:t>
            </a:r>
            <a:r>
              <a:rPr lang="zh-TW" altLang="zh-TW" b="1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：</a:t>
            </a:r>
            <a:endParaRPr lang="zh-TW" altLang="zh-TW" kern="100" dirty="0">
              <a:effectLst/>
              <a:latin typeface="Aptos" panose="020B000402020202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zh-TW" altLang="zh-TW" sz="2000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室內環境中定位與移動分析，尤其針對消防員在室內作業時的運動與位置追蹤。</a:t>
            </a:r>
          </a:p>
          <a:p>
            <a:r>
              <a:rPr lang="zh-TW" altLang="zh-TW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可用於行動裝置、</a:t>
            </a:r>
            <a:r>
              <a:rPr lang="en-US" altLang="zh-TW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VR</a:t>
            </a:r>
            <a:r>
              <a:rPr lang="zh-TW" altLang="zh-TW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頭盔、</a:t>
            </a:r>
            <a:r>
              <a:rPr lang="en-US" altLang="zh-TW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Wii</a:t>
            </a:r>
            <a:r>
              <a:rPr lang="zh-TW" altLang="zh-TW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控制器、人體動作擷取裝置等。</a:t>
            </a:r>
            <a:endParaRPr lang="en-US" altLang="zh-TW" dirty="0">
              <a:effectLst/>
              <a:latin typeface="Times New Roman" panose="02020603050405020304" pitchFamily="18" charset="0"/>
              <a:ea typeface="Heiti SC Light" panose="02000000000000000000" pitchFamily="2" charset="-128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kumimoji="1" lang="zh-TW" altLang="en-US" sz="1800" dirty="0">
              <a:latin typeface="Times New Roman" panose="02020603050405020304" pitchFamily="18" charset="0"/>
              <a:ea typeface="Heiti SC Light" panose="02000000000000000000" pitchFamily="2" charset="-128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kumimoji="1" lang="zh-TW" altLang="en-US" sz="1800" dirty="0">
              <a:latin typeface="Times New Roman" panose="02020603050405020304" pitchFamily="18" charset="0"/>
              <a:ea typeface="Heiti SC Light" panose="02000000000000000000" pitchFamily="2" charset="-128"/>
              <a:cs typeface="Times New Roman" panose="02020603050405020304" pitchFamily="18" charset="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1133C3B2-C7D3-65CE-A9A4-3CC95065E8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7047" y="2026100"/>
            <a:ext cx="3411060" cy="2105202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DF32659C-D2C6-28E5-F3B8-9E798E4E77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4400" y="4147457"/>
            <a:ext cx="3669069" cy="2726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72887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3F6713B-9E2B-8F09-7FCA-AAF33B6B32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517" y="759555"/>
            <a:ext cx="10972800" cy="618488"/>
          </a:xfrm>
        </p:spPr>
        <p:txBody>
          <a:bodyPr>
            <a:norm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zh-TW" altLang="en-US" sz="2800" b="1" kern="100" dirty="0"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工作原理：</a:t>
            </a:r>
            <a:endParaRPr lang="zh-TW" altLang="zh-TW" sz="2800" kern="100" dirty="0">
              <a:effectLst/>
              <a:latin typeface="Aptos" panose="020B000402020202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0C636AE-213D-3814-D93F-6B711E32AF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2881" y="2061911"/>
            <a:ext cx="9753976" cy="4036534"/>
          </a:xfrm>
        </p:spPr>
        <p:txBody>
          <a:bodyPr>
            <a:noAutofit/>
          </a:bodyPr>
          <a:lstStyle/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TW" b="1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MPU6050 </a:t>
            </a:r>
            <a:r>
              <a:rPr lang="zh-TW" altLang="zh-TW" b="1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結合三軸加速度計與三軸陀螺儀</a:t>
            </a:r>
            <a:endParaRPr lang="zh-TW" altLang="zh-TW" kern="100" dirty="0">
              <a:effectLst/>
              <a:latin typeface="Aptos" panose="020B000402020202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zh-TW" altLang="zh-TW" sz="2000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加速度計量測線性加速度；陀螺儀量測角速度。</a:t>
            </a:r>
            <a:endParaRPr lang="en-US" altLang="zh-TW" sz="2000" kern="100" dirty="0">
              <a:effectLst/>
              <a:latin typeface="Aptos" panose="020B000402020202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endParaRPr lang="zh-TW" altLang="zh-TW" sz="2000" kern="100" dirty="0">
              <a:effectLst/>
              <a:latin typeface="Aptos" panose="020B000402020202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TW" altLang="zh-TW" b="1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資料處理與過濾原理：</a:t>
            </a:r>
            <a:endParaRPr lang="zh-TW" altLang="zh-TW" kern="100" dirty="0">
              <a:effectLst/>
              <a:latin typeface="Aptos" panose="020B000402020202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zh-TW" altLang="zh-TW" sz="2000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原始輸出數據會受到雜訊與偏移誤差影響（如：白噪聲、偏移穩定度、隨機漫步等）。</a:t>
            </a: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zh-TW" altLang="zh-TW" sz="2000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為改善此現象，使用高通濾波器</a:t>
            </a:r>
            <a:r>
              <a:rPr lang="en-US" altLang="zh-TW" sz="2000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(</a:t>
            </a:r>
            <a:r>
              <a:rPr lang="zh-TW" altLang="zh-TW" sz="2000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快速變動資訊</a:t>
            </a:r>
            <a:r>
              <a:rPr lang="en-US" altLang="zh-TW" sz="2000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)</a:t>
            </a:r>
            <a:r>
              <a:rPr lang="zh-TW" altLang="zh-TW" sz="2000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和低通濾波器</a:t>
            </a:r>
            <a:r>
              <a:rPr lang="en-US" altLang="zh-TW" sz="2000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(</a:t>
            </a:r>
            <a:r>
              <a:rPr lang="zh-TW" altLang="zh-TW" sz="2000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濾高頻雜訊</a:t>
            </a:r>
            <a:r>
              <a:rPr lang="en-US" altLang="zh-TW" sz="2000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)</a:t>
            </a:r>
            <a:r>
              <a:rPr lang="zh-TW" altLang="zh-TW" sz="2000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結合。</a:t>
            </a:r>
          </a:p>
        </p:txBody>
      </p:sp>
    </p:spTree>
    <p:extLst>
      <p:ext uri="{BB962C8B-B14F-4D97-AF65-F5344CB8AC3E}">
        <p14:creationId xmlns:p14="http://schemas.microsoft.com/office/powerpoint/2010/main" val="38047764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042E603F-28B7-4831-BF23-65FBAB13D5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4D39700F-2B10-4402-A7DD-06EE224588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232968"/>
            <a:ext cx="9560477" cy="6625032"/>
          </a:xfrm>
          <a:custGeom>
            <a:avLst/>
            <a:gdLst>
              <a:gd name="connsiteX0" fmla="*/ 8831314 w 9263816"/>
              <a:gd name="connsiteY0" fmla="*/ 5943878 h 6858000"/>
              <a:gd name="connsiteX1" fmla="*/ 9179783 w 9263816"/>
              <a:gd name="connsiteY1" fmla="*/ 6086141 h 6858000"/>
              <a:gd name="connsiteX2" fmla="*/ 9260887 w 9263816"/>
              <a:gd name="connsiteY2" fmla="*/ 6279156 h 6858000"/>
              <a:gd name="connsiteX3" fmla="*/ 8925621 w 9263816"/>
              <a:gd name="connsiteY3" fmla="*/ 6708712 h 6858000"/>
              <a:gd name="connsiteX4" fmla="*/ 8496050 w 9263816"/>
              <a:gd name="connsiteY4" fmla="*/ 6373449 h 6858000"/>
              <a:gd name="connsiteX5" fmla="*/ 8831314 w 9263816"/>
              <a:gd name="connsiteY5" fmla="*/ 5943878 h 6858000"/>
              <a:gd name="connsiteX6" fmla="*/ 7397485 w 9263816"/>
              <a:gd name="connsiteY6" fmla="*/ 5931706 h 6858000"/>
              <a:gd name="connsiteX7" fmla="*/ 7917779 w 9263816"/>
              <a:gd name="connsiteY7" fmla="*/ 6191864 h 6858000"/>
              <a:gd name="connsiteX8" fmla="*/ 8013467 w 9263816"/>
              <a:gd name="connsiteY8" fmla="*/ 6375784 h 6858000"/>
              <a:gd name="connsiteX9" fmla="*/ 8021879 w 9263816"/>
              <a:gd name="connsiteY9" fmla="*/ 6753751 h 6858000"/>
              <a:gd name="connsiteX10" fmla="*/ 7981316 w 9263816"/>
              <a:gd name="connsiteY10" fmla="*/ 6858000 h 6858000"/>
              <a:gd name="connsiteX11" fmla="*/ 6819486 w 9263816"/>
              <a:gd name="connsiteY11" fmla="*/ 6858000 h 6858000"/>
              <a:gd name="connsiteX12" fmla="*/ 6785199 w 9263816"/>
              <a:gd name="connsiteY12" fmla="*/ 6781101 h 6858000"/>
              <a:gd name="connsiteX13" fmla="*/ 7196747 w 9263816"/>
              <a:gd name="connsiteY13" fmla="*/ 5964309 h 6858000"/>
              <a:gd name="connsiteX14" fmla="*/ 7397485 w 9263816"/>
              <a:gd name="connsiteY14" fmla="*/ 5931706 h 6858000"/>
              <a:gd name="connsiteX15" fmla="*/ 1505570 w 9263816"/>
              <a:gd name="connsiteY15" fmla="*/ 227178 h 6858000"/>
              <a:gd name="connsiteX16" fmla="*/ 2026489 w 9263816"/>
              <a:gd name="connsiteY16" fmla="*/ 392370 h 6858000"/>
              <a:gd name="connsiteX17" fmla="*/ 2444553 w 9263816"/>
              <a:gd name="connsiteY17" fmla="*/ 1654853 h 6858000"/>
              <a:gd name="connsiteX18" fmla="*/ 3183153 w 9263816"/>
              <a:gd name="connsiteY18" fmla="*/ 2116208 h 6858000"/>
              <a:gd name="connsiteX19" fmla="*/ 4288384 w 9263816"/>
              <a:gd name="connsiteY19" fmla="*/ 1291908 h 6858000"/>
              <a:gd name="connsiteX20" fmla="*/ 5472602 w 9263816"/>
              <a:gd name="connsiteY20" fmla="*/ 1697818 h 6858000"/>
              <a:gd name="connsiteX21" fmla="*/ 5844697 w 9263816"/>
              <a:gd name="connsiteY21" fmla="*/ 3444791 h 6858000"/>
              <a:gd name="connsiteX22" fmla="*/ 6715674 w 9263816"/>
              <a:gd name="connsiteY22" fmla="*/ 4065208 h 6858000"/>
              <a:gd name="connsiteX23" fmla="*/ 8130429 w 9263816"/>
              <a:gd name="connsiteY23" fmla="*/ 4101787 h 6858000"/>
              <a:gd name="connsiteX24" fmla="*/ 8624630 w 9263816"/>
              <a:gd name="connsiteY24" fmla="*/ 4686202 h 6858000"/>
              <a:gd name="connsiteX25" fmla="*/ 8623843 w 9263816"/>
              <a:gd name="connsiteY25" fmla="*/ 4685749 h 6858000"/>
              <a:gd name="connsiteX26" fmla="*/ 8646859 w 9263816"/>
              <a:gd name="connsiteY26" fmla="*/ 4835156 h 6858000"/>
              <a:gd name="connsiteX27" fmla="*/ 8079403 w 9263816"/>
              <a:gd name="connsiteY27" fmla="*/ 5661624 h 6858000"/>
              <a:gd name="connsiteX28" fmla="*/ 6833105 w 9263816"/>
              <a:gd name="connsiteY28" fmla="*/ 5397208 h 6858000"/>
              <a:gd name="connsiteX29" fmla="*/ 5900832 w 9263816"/>
              <a:gd name="connsiteY29" fmla="*/ 5944462 h 6858000"/>
              <a:gd name="connsiteX30" fmla="*/ 6067212 w 9263816"/>
              <a:gd name="connsiteY30" fmla="*/ 6811916 h 6858000"/>
              <a:gd name="connsiteX31" fmla="*/ 6089565 w 9263816"/>
              <a:gd name="connsiteY31" fmla="*/ 6858000 h 6858000"/>
              <a:gd name="connsiteX32" fmla="*/ 0 w 9263816"/>
              <a:gd name="connsiteY32" fmla="*/ 6858000 h 6858000"/>
              <a:gd name="connsiteX33" fmla="*/ 0 w 9263816"/>
              <a:gd name="connsiteY33" fmla="*/ 2181377 h 6858000"/>
              <a:gd name="connsiteX34" fmla="*/ 73069 w 9263816"/>
              <a:gd name="connsiteY34" fmla="*/ 2215839 h 6858000"/>
              <a:gd name="connsiteX35" fmla="*/ 335445 w 9263816"/>
              <a:gd name="connsiteY35" fmla="*/ 2237140 h 6858000"/>
              <a:gd name="connsiteX36" fmla="*/ 752878 w 9263816"/>
              <a:gd name="connsiteY36" fmla="*/ 1445285 h 6858000"/>
              <a:gd name="connsiteX37" fmla="*/ 1202551 w 9263816"/>
              <a:gd name="connsiteY37" fmla="*/ 314229 h 6858000"/>
              <a:gd name="connsiteX38" fmla="*/ 1505570 w 9263816"/>
              <a:gd name="connsiteY38" fmla="*/ 227178 h 6858000"/>
              <a:gd name="connsiteX39" fmla="*/ 3142509 w 9263816"/>
              <a:gd name="connsiteY39" fmla="*/ 68854 h 6858000"/>
              <a:gd name="connsiteX40" fmla="*/ 3490978 w 9263816"/>
              <a:gd name="connsiteY40" fmla="*/ 211117 h 6858000"/>
              <a:gd name="connsiteX41" fmla="*/ 3572083 w 9263816"/>
              <a:gd name="connsiteY41" fmla="*/ 404131 h 6858000"/>
              <a:gd name="connsiteX42" fmla="*/ 3236814 w 9263816"/>
              <a:gd name="connsiteY42" fmla="*/ 833688 h 6858000"/>
              <a:gd name="connsiteX43" fmla="*/ 2807245 w 9263816"/>
              <a:gd name="connsiteY43" fmla="*/ 498425 h 6858000"/>
              <a:gd name="connsiteX44" fmla="*/ 3142509 w 9263816"/>
              <a:gd name="connsiteY44" fmla="*/ 68854 h 6858000"/>
              <a:gd name="connsiteX45" fmla="*/ 0 w 9263816"/>
              <a:gd name="connsiteY45" fmla="*/ 0 h 6858000"/>
              <a:gd name="connsiteX46" fmla="*/ 39858 w 9263816"/>
              <a:gd name="connsiteY46" fmla="*/ 0 h 6858000"/>
              <a:gd name="connsiteX47" fmla="*/ 65022 w 9263816"/>
              <a:gd name="connsiteY47" fmla="*/ 5834 h 6858000"/>
              <a:gd name="connsiteX48" fmla="*/ 389258 w 9263816"/>
              <a:gd name="connsiteY48" fmla="*/ 235630 h 6858000"/>
              <a:gd name="connsiteX49" fmla="*/ 485484 w 9263816"/>
              <a:gd name="connsiteY49" fmla="*/ 420070 h 6858000"/>
              <a:gd name="connsiteX50" fmla="*/ 74229 w 9263816"/>
              <a:gd name="connsiteY50" fmla="*/ 1237955 h 6858000"/>
              <a:gd name="connsiteX51" fmla="*/ 0 w 9263816"/>
              <a:gd name="connsiteY51" fmla="*/ 125447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9263816" h="6858000">
                <a:moveTo>
                  <a:pt x="8831314" y="5943878"/>
                </a:moveTo>
                <a:cubicBezTo>
                  <a:pt x="8964281" y="5927490"/>
                  <a:pt x="9096260" y="5981362"/>
                  <a:pt x="9179783" y="6086141"/>
                </a:cubicBezTo>
                <a:cubicBezTo>
                  <a:pt x="9224074" y="6141769"/>
                  <a:pt x="9252211" y="6208560"/>
                  <a:pt x="9260887" y="6279156"/>
                </a:cubicBezTo>
                <a:cubicBezTo>
                  <a:pt x="9286897" y="6490362"/>
                  <a:pt x="9136845" y="6682672"/>
                  <a:pt x="8925621" y="6708712"/>
                </a:cubicBezTo>
                <a:cubicBezTo>
                  <a:pt x="8714398" y="6734766"/>
                  <a:pt x="8522062" y="6584655"/>
                  <a:pt x="8496050" y="6373449"/>
                </a:cubicBezTo>
                <a:cubicBezTo>
                  <a:pt x="8470038" y="6162229"/>
                  <a:pt x="8620090" y="5969920"/>
                  <a:pt x="8831314" y="5943878"/>
                </a:cubicBezTo>
                <a:close/>
                <a:moveTo>
                  <a:pt x="7397485" y="5931706"/>
                </a:moveTo>
                <a:cubicBezTo>
                  <a:pt x="7598431" y="5931157"/>
                  <a:pt x="7792965" y="6024548"/>
                  <a:pt x="7917779" y="6191864"/>
                </a:cubicBezTo>
                <a:cubicBezTo>
                  <a:pt x="7959204" y="6247714"/>
                  <a:pt x="7991530" y="6309792"/>
                  <a:pt x="8013467" y="6375784"/>
                </a:cubicBezTo>
                <a:cubicBezTo>
                  <a:pt x="8055425" y="6502973"/>
                  <a:pt x="8055748" y="6633888"/>
                  <a:pt x="8021879" y="6753751"/>
                </a:cubicBezTo>
                <a:lnTo>
                  <a:pt x="7981316" y="6858000"/>
                </a:lnTo>
                <a:lnTo>
                  <a:pt x="6819486" y="6858000"/>
                </a:lnTo>
                <a:lnTo>
                  <a:pt x="6785199" y="6781101"/>
                </a:lnTo>
                <a:cubicBezTo>
                  <a:pt x="6673307" y="6441922"/>
                  <a:pt x="6857485" y="6076251"/>
                  <a:pt x="7196747" y="5964309"/>
                </a:cubicBezTo>
                <a:cubicBezTo>
                  <a:pt x="7262809" y="5942509"/>
                  <a:pt x="7330503" y="5931889"/>
                  <a:pt x="7397485" y="5931706"/>
                </a:cubicBezTo>
                <a:close/>
                <a:moveTo>
                  <a:pt x="1505570" y="227178"/>
                </a:moveTo>
                <a:cubicBezTo>
                  <a:pt x="1691018" y="218628"/>
                  <a:pt x="1889853" y="275403"/>
                  <a:pt x="2026489" y="392370"/>
                </a:cubicBezTo>
                <a:cubicBezTo>
                  <a:pt x="2369898" y="685965"/>
                  <a:pt x="2078266" y="1147857"/>
                  <a:pt x="2444553" y="1654853"/>
                </a:cubicBezTo>
                <a:cubicBezTo>
                  <a:pt x="2492906" y="1721679"/>
                  <a:pt x="2800482" y="2144546"/>
                  <a:pt x="3183153" y="2116208"/>
                </a:cubicBezTo>
                <a:cubicBezTo>
                  <a:pt x="3673561" y="2080541"/>
                  <a:pt x="3723222" y="1441614"/>
                  <a:pt x="4288384" y="1291908"/>
                </a:cubicBezTo>
                <a:cubicBezTo>
                  <a:pt x="4689065" y="1185875"/>
                  <a:pt x="5207943" y="1366633"/>
                  <a:pt x="5472602" y="1697818"/>
                </a:cubicBezTo>
                <a:cubicBezTo>
                  <a:pt x="5891294" y="2221754"/>
                  <a:pt x="5408012" y="2790179"/>
                  <a:pt x="5844697" y="3444791"/>
                </a:cubicBezTo>
                <a:cubicBezTo>
                  <a:pt x="6149900" y="3902467"/>
                  <a:pt x="6672672" y="4053594"/>
                  <a:pt x="6715674" y="4065208"/>
                </a:cubicBezTo>
                <a:cubicBezTo>
                  <a:pt x="7326423" y="4232519"/>
                  <a:pt x="7677158" y="3817020"/>
                  <a:pt x="8130429" y="4101787"/>
                </a:cubicBezTo>
                <a:cubicBezTo>
                  <a:pt x="8226340" y="4161985"/>
                  <a:pt x="8536372" y="4356819"/>
                  <a:pt x="8624630" y="4686202"/>
                </a:cubicBezTo>
                <a:lnTo>
                  <a:pt x="8623843" y="4685749"/>
                </a:lnTo>
                <a:cubicBezTo>
                  <a:pt x="8636924" y="4734567"/>
                  <a:pt x="8644635" y="4784678"/>
                  <a:pt x="8646859" y="4835156"/>
                </a:cubicBezTo>
                <a:cubicBezTo>
                  <a:pt x="8662596" y="5196604"/>
                  <a:pt x="8398383" y="5562326"/>
                  <a:pt x="8079403" y="5661624"/>
                </a:cubicBezTo>
                <a:cubicBezTo>
                  <a:pt x="7649807" y="5795217"/>
                  <a:pt x="7430996" y="5350293"/>
                  <a:pt x="6833105" y="5397208"/>
                </a:cubicBezTo>
                <a:cubicBezTo>
                  <a:pt x="6519033" y="5421527"/>
                  <a:pt x="6056658" y="5595550"/>
                  <a:pt x="5900832" y="5944462"/>
                </a:cubicBezTo>
                <a:cubicBezTo>
                  <a:pt x="5770548" y="6236600"/>
                  <a:pt x="5916359" y="6515160"/>
                  <a:pt x="6067212" y="6811916"/>
                </a:cubicBezTo>
                <a:lnTo>
                  <a:pt x="6089565" y="6858000"/>
                </a:lnTo>
                <a:lnTo>
                  <a:pt x="0" y="6858000"/>
                </a:lnTo>
                <a:lnTo>
                  <a:pt x="0" y="2181377"/>
                </a:lnTo>
                <a:lnTo>
                  <a:pt x="73069" y="2215839"/>
                </a:lnTo>
                <a:cubicBezTo>
                  <a:pt x="165116" y="2251829"/>
                  <a:pt x="254486" y="2263171"/>
                  <a:pt x="335445" y="2237140"/>
                </a:cubicBezTo>
                <a:cubicBezTo>
                  <a:pt x="594718" y="2153707"/>
                  <a:pt x="688441" y="1733807"/>
                  <a:pt x="752878" y="1445285"/>
                </a:cubicBezTo>
                <a:cubicBezTo>
                  <a:pt x="925059" y="674068"/>
                  <a:pt x="975076" y="456292"/>
                  <a:pt x="1202551" y="314229"/>
                </a:cubicBezTo>
                <a:cubicBezTo>
                  <a:pt x="1287853" y="260956"/>
                  <a:pt x="1394302" y="232308"/>
                  <a:pt x="1505570" y="227178"/>
                </a:cubicBezTo>
                <a:close/>
                <a:moveTo>
                  <a:pt x="3142509" y="68854"/>
                </a:moveTo>
                <a:cubicBezTo>
                  <a:pt x="3275474" y="52467"/>
                  <a:pt x="3407455" y="106339"/>
                  <a:pt x="3490978" y="211117"/>
                </a:cubicBezTo>
                <a:cubicBezTo>
                  <a:pt x="3535271" y="266744"/>
                  <a:pt x="3563404" y="333535"/>
                  <a:pt x="3572083" y="404131"/>
                </a:cubicBezTo>
                <a:cubicBezTo>
                  <a:pt x="3598092" y="615337"/>
                  <a:pt x="3448040" y="807648"/>
                  <a:pt x="3236814" y="833688"/>
                </a:cubicBezTo>
                <a:cubicBezTo>
                  <a:pt x="3025594" y="859741"/>
                  <a:pt x="2833255" y="709631"/>
                  <a:pt x="2807245" y="498425"/>
                </a:cubicBezTo>
                <a:cubicBezTo>
                  <a:pt x="2781232" y="287207"/>
                  <a:pt x="2931283" y="94896"/>
                  <a:pt x="3142509" y="68854"/>
                </a:cubicBezTo>
                <a:close/>
                <a:moveTo>
                  <a:pt x="0" y="0"/>
                </a:moveTo>
                <a:lnTo>
                  <a:pt x="39858" y="0"/>
                </a:lnTo>
                <a:lnTo>
                  <a:pt x="65022" y="5834"/>
                </a:lnTo>
                <a:cubicBezTo>
                  <a:pt x="191545" y="45606"/>
                  <a:pt x="305874" y="124173"/>
                  <a:pt x="389258" y="235630"/>
                </a:cubicBezTo>
                <a:cubicBezTo>
                  <a:pt x="430983" y="291600"/>
                  <a:pt x="463360" y="353876"/>
                  <a:pt x="485484" y="420070"/>
                </a:cubicBezTo>
                <a:cubicBezTo>
                  <a:pt x="597711" y="759508"/>
                  <a:pt x="413661" y="1125662"/>
                  <a:pt x="74229" y="1237955"/>
                </a:cubicBezTo>
                <a:lnTo>
                  <a:pt x="0" y="1254477"/>
                </a:lnTo>
                <a:close/>
              </a:path>
            </a:pathLst>
          </a:custGeom>
          <a:solidFill>
            <a:schemeClr val="bg1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27" name="Background Fill">
            <a:extLst>
              <a:ext uri="{FF2B5EF4-FFF2-40B4-BE49-F238E27FC236}">
                <a16:creationId xmlns:a16="http://schemas.microsoft.com/office/drawing/2014/main" id="{6DA65B90-7B06-4499-91BA-CDDD361324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96868F2-FC80-4334-887B-7DB3103A73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7EF79062-B5BB-45DF-810C-95A324A9D6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0" y="2140699"/>
            <a:ext cx="12192000" cy="4717301"/>
          </a:xfrm>
          <a:custGeom>
            <a:avLst/>
            <a:gdLst>
              <a:gd name="connsiteX0" fmla="*/ 8930642 w 12192000"/>
              <a:gd name="connsiteY0" fmla="*/ 4273734 h 4717301"/>
              <a:gd name="connsiteX1" fmla="*/ 9143134 w 12192000"/>
              <a:gd name="connsiteY1" fmla="*/ 4396362 h 4717301"/>
              <a:gd name="connsiteX2" fmla="*/ 9043549 w 12192000"/>
              <a:gd name="connsiteY2" fmla="*/ 4693978 h 4717301"/>
              <a:gd name="connsiteX3" fmla="*/ 8745984 w 12192000"/>
              <a:gd name="connsiteY3" fmla="*/ 4594249 h 4717301"/>
              <a:gd name="connsiteX4" fmla="*/ 8845568 w 12192000"/>
              <a:gd name="connsiteY4" fmla="*/ 4296634 h 4717301"/>
              <a:gd name="connsiteX5" fmla="*/ 8930642 w 12192000"/>
              <a:gd name="connsiteY5" fmla="*/ 4273734 h 4717301"/>
              <a:gd name="connsiteX6" fmla="*/ 9842642 w 12192000"/>
              <a:gd name="connsiteY6" fmla="*/ 3718743 h 4717301"/>
              <a:gd name="connsiteX7" fmla="*/ 10272210 w 12192000"/>
              <a:gd name="connsiteY7" fmla="*/ 3966645 h 4717301"/>
              <a:gd name="connsiteX8" fmla="*/ 10070896 w 12192000"/>
              <a:gd name="connsiteY8" fmla="*/ 4568292 h 4717301"/>
              <a:gd name="connsiteX9" fmla="*/ 9469346 w 12192000"/>
              <a:gd name="connsiteY9" fmla="*/ 4366686 h 4717301"/>
              <a:gd name="connsiteX10" fmla="*/ 9670660 w 12192000"/>
              <a:gd name="connsiteY10" fmla="*/ 3765038 h 4717301"/>
              <a:gd name="connsiteX11" fmla="*/ 9842642 w 12192000"/>
              <a:gd name="connsiteY11" fmla="*/ 3718743 h 4717301"/>
              <a:gd name="connsiteX12" fmla="*/ 0 w 12192000"/>
              <a:gd name="connsiteY12" fmla="*/ 0 h 4717301"/>
              <a:gd name="connsiteX13" fmla="*/ 12192000 w 12192000"/>
              <a:gd name="connsiteY13" fmla="*/ 0 h 4717301"/>
              <a:gd name="connsiteX14" fmla="*/ 12192000 w 12192000"/>
              <a:gd name="connsiteY14" fmla="*/ 3369891 h 4717301"/>
              <a:gd name="connsiteX15" fmla="*/ 12124015 w 12192000"/>
              <a:gd name="connsiteY15" fmla="*/ 3410713 h 4717301"/>
              <a:gd name="connsiteX16" fmla="*/ 11077457 w 12192000"/>
              <a:gd name="connsiteY16" fmla="*/ 3501725 h 4717301"/>
              <a:gd name="connsiteX17" fmla="*/ 9867246 w 12192000"/>
              <a:gd name="connsiteY17" fmla="*/ 3351592 h 4717301"/>
              <a:gd name="connsiteX18" fmla="*/ 8994802 w 12192000"/>
              <a:gd name="connsiteY18" fmla="*/ 3878378 h 4717301"/>
              <a:gd name="connsiteX19" fmla="*/ 6994655 w 12192000"/>
              <a:gd name="connsiteY19" fmla="*/ 4335637 h 4717301"/>
              <a:gd name="connsiteX20" fmla="*/ 6287534 w 12192000"/>
              <a:gd name="connsiteY20" fmla="*/ 3714199 h 4717301"/>
              <a:gd name="connsiteX21" fmla="*/ 4392596 w 12192000"/>
              <a:gd name="connsiteY21" fmla="*/ 3392344 h 4717301"/>
              <a:gd name="connsiteX22" fmla="*/ 3014500 w 12192000"/>
              <a:gd name="connsiteY22" fmla="*/ 4100222 h 4717301"/>
              <a:gd name="connsiteX23" fmla="*/ 86414 w 12192000"/>
              <a:gd name="connsiteY23" fmla="*/ 3903305 h 4717301"/>
              <a:gd name="connsiteX24" fmla="*/ 0 w 12192000"/>
              <a:gd name="connsiteY24" fmla="*/ 3840566 h 47173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12192000" h="4717301">
                <a:moveTo>
                  <a:pt x="8930642" y="4273734"/>
                </a:moveTo>
                <a:cubicBezTo>
                  <a:pt x="9016941" y="4268381"/>
                  <a:pt x="9102130" y="4314070"/>
                  <a:pt x="9143134" y="4396362"/>
                </a:cubicBezTo>
                <a:cubicBezTo>
                  <a:pt x="9197806" y="4506087"/>
                  <a:pt x="9153221" y="4639333"/>
                  <a:pt x="9043549" y="4693978"/>
                </a:cubicBezTo>
                <a:cubicBezTo>
                  <a:pt x="8933879" y="4748622"/>
                  <a:pt x="8800655" y="4703973"/>
                  <a:pt x="8745984" y="4594249"/>
                </a:cubicBezTo>
                <a:cubicBezTo>
                  <a:pt x="8691311" y="4484525"/>
                  <a:pt x="8735897" y="4351279"/>
                  <a:pt x="8845568" y="4296634"/>
                </a:cubicBezTo>
                <a:cubicBezTo>
                  <a:pt x="8872986" y="4282973"/>
                  <a:pt x="8901875" y="4275517"/>
                  <a:pt x="8930642" y="4273734"/>
                </a:cubicBezTo>
                <a:close/>
                <a:moveTo>
                  <a:pt x="9842642" y="3718743"/>
                </a:moveTo>
                <a:cubicBezTo>
                  <a:pt x="10017101" y="3707923"/>
                  <a:pt x="10189318" y="3800286"/>
                  <a:pt x="10272210" y="3966645"/>
                </a:cubicBezTo>
                <a:cubicBezTo>
                  <a:pt x="10382732" y="4188458"/>
                  <a:pt x="10292600" y="4457825"/>
                  <a:pt x="10070896" y="4568292"/>
                </a:cubicBezTo>
                <a:cubicBezTo>
                  <a:pt x="9849191" y="4678760"/>
                  <a:pt x="9579867" y="4588498"/>
                  <a:pt x="9469346" y="4366686"/>
                </a:cubicBezTo>
                <a:cubicBezTo>
                  <a:pt x="9358824" y="4144873"/>
                  <a:pt x="9448956" y="3875506"/>
                  <a:pt x="9670660" y="3765038"/>
                </a:cubicBezTo>
                <a:cubicBezTo>
                  <a:pt x="9726087" y="3737421"/>
                  <a:pt x="9784490" y="3722349"/>
                  <a:pt x="9842642" y="3718743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3369891"/>
                </a:lnTo>
                <a:lnTo>
                  <a:pt x="12124015" y="3410713"/>
                </a:lnTo>
                <a:cubicBezTo>
                  <a:pt x="11792041" y="3581538"/>
                  <a:pt x="11443617" y="3577252"/>
                  <a:pt x="11077457" y="3501725"/>
                </a:cubicBezTo>
                <a:cubicBezTo>
                  <a:pt x="10679189" y="3419860"/>
                  <a:pt x="10271734" y="3358281"/>
                  <a:pt x="9867246" y="3351592"/>
                </a:cubicBezTo>
                <a:cubicBezTo>
                  <a:pt x="9492336" y="3345611"/>
                  <a:pt x="9239136" y="3626329"/>
                  <a:pt x="8994802" y="3878378"/>
                </a:cubicBezTo>
                <a:cubicBezTo>
                  <a:pt x="8385954" y="4506678"/>
                  <a:pt x="7695268" y="4690742"/>
                  <a:pt x="6994655" y="4335637"/>
                </a:cubicBezTo>
                <a:cubicBezTo>
                  <a:pt x="6722938" y="4197922"/>
                  <a:pt x="6494843" y="3948626"/>
                  <a:pt x="6287534" y="3714199"/>
                </a:cubicBezTo>
                <a:cubicBezTo>
                  <a:pt x="5731733" y="3085491"/>
                  <a:pt x="5043559" y="3067499"/>
                  <a:pt x="4392596" y="3392344"/>
                </a:cubicBezTo>
                <a:cubicBezTo>
                  <a:pt x="3930423" y="3623867"/>
                  <a:pt x="3492022" y="3908604"/>
                  <a:pt x="3014500" y="4100222"/>
                </a:cubicBezTo>
                <a:cubicBezTo>
                  <a:pt x="1977820" y="4518409"/>
                  <a:pt x="973242" y="4499486"/>
                  <a:pt x="86414" y="3903305"/>
                </a:cubicBezTo>
                <a:lnTo>
                  <a:pt x="0" y="384056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1DF60D0D-5C1F-E1C9-18F3-4A29CCB95D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7036" y="791508"/>
            <a:ext cx="10063922" cy="1962896"/>
          </a:xfrm>
        </p:spPr>
        <p:txBody>
          <a:bodyPr vert="horz" lIns="91440" tIns="45720" rIns="91440" bIns="45720" rtlCol="0" anchor="ctr"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altLang="zh-TW" sz="2000" b="1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 </a:t>
            </a:r>
            <a:r>
              <a:rPr lang="zh-TW" altLang="en-US" sz="2800" b="1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感測器工作表現：</a:t>
            </a:r>
            <a:br>
              <a:rPr lang="en-US" altLang="zh-TW" sz="2000" b="1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</a:br>
            <a:r>
              <a:rPr lang="en-US" altLang="zh-TW" sz="2000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 </a:t>
            </a:r>
            <a:br>
              <a:rPr lang="zh-TW" altLang="zh-TW" sz="2000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</a:br>
            <a:r>
              <a:rPr lang="zh-TW" altLang="zh-TW" sz="2000" b="1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未使用濾波器的情況：</a:t>
            </a:r>
            <a:br>
              <a:rPr lang="zh-TW" altLang="zh-TW" sz="2000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</a:br>
            <a:r>
              <a:rPr lang="en-US" altLang="zh-TW" sz="2000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XYZ</a:t>
            </a:r>
            <a:r>
              <a:rPr lang="zh-TW" altLang="zh-TW" sz="2000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三軸的原始量測結果與理論閾值有明顯差異。</a:t>
            </a:r>
            <a:br>
              <a:rPr lang="zh-TW" altLang="zh-TW" sz="2000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</a:br>
            <a:r>
              <a:rPr lang="zh-TW" altLang="zh-TW" sz="2000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存在可觀察的雜訊與偏移誤差。</a:t>
            </a:r>
          </a:p>
        </p:txBody>
      </p:sp>
      <p:grpSp>
        <p:nvGrpSpPr>
          <p:cNvPr id="16" name="群組 15">
            <a:extLst>
              <a:ext uri="{FF2B5EF4-FFF2-40B4-BE49-F238E27FC236}">
                <a16:creationId xmlns:a16="http://schemas.microsoft.com/office/drawing/2014/main" id="{E325E6DC-BCDF-7127-D1DF-0E9FD8776815}"/>
              </a:ext>
            </a:extLst>
          </p:cNvPr>
          <p:cNvGrpSpPr/>
          <p:nvPr/>
        </p:nvGrpSpPr>
        <p:grpSpPr>
          <a:xfrm>
            <a:off x="227512" y="3733480"/>
            <a:ext cx="11733928" cy="2222736"/>
            <a:chOff x="3923694" y="1131390"/>
            <a:chExt cx="9013524" cy="1707415"/>
          </a:xfrm>
        </p:grpSpPr>
        <p:pic>
          <p:nvPicPr>
            <p:cNvPr id="11" name="圖片 10">
              <a:extLst>
                <a:ext uri="{FF2B5EF4-FFF2-40B4-BE49-F238E27FC236}">
                  <a16:creationId xmlns:a16="http://schemas.microsoft.com/office/drawing/2014/main" id="{B4A381D8-09FB-6185-29E6-3F321226DCF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923694" y="1131390"/>
              <a:ext cx="2825449" cy="1707414"/>
            </a:xfrm>
            <a:prstGeom prst="rect">
              <a:avLst/>
            </a:prstGeom>
          </p:spPr>
        </p:pic>
        <p:pic>
          <p:nvPicPr>
            <p:cNvPr id="13" name="圖片 12">
              <a:extLst>
                <a:ext uri="{FF2B5EF4-FFF2-40B4-BE49-F238E27FC236}">
                  <a16:creationId xmlns:a16="http://schemas.microsoft.com/office/drawing/2014/main" id="{94320277-3027-53C4-381A-6CDBB031EC7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749143" y="1131390"/>
              <a:ext cx="3194253" cy="1707414"/>
            </a:xfrm>
            <a:prstGeom prst="rect">
              <a:avLst/>
            </a:prstGeom>
          </p:spPr>
        </p:pic>
        <p:pic>
          <p:nvPicPr>
            <p:cNvPr id="15" name="圖片 14">
              <a:extLst>
                <a:ext uri="{FF2B5EF4-FFF2-40B4-BE49-F238E27FC236}">
                  <a16:creationId xmlns:a16="http://schemas.microsoft.com/office/drawing/2014/main" id="{D633A399-7EE4-13F8-902D-A210044BE9A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943396" y="1131391"/>
              <a:ext cx="2993822" cy="170741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984411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042E603F-28B7-4831-BF23-65FBAB13D5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4D39700F-2B10-4402-A7DD-06EE224588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232968"/>
            <a:ext cx="9560477" cy="6625032"/>
          </a:xfrm>
          <a:custGeom>
            <a:avLst/>
            <a:gdLst>
              <a:gd name="connsiteX0" fmla="*/ 8831314 w 9263816"/>
              <a:gd name="connsiteY0" fmla="*/ 5943878 h 6858000"/>
              <a:gd name="connsiteX1" fmla="*/ 9179783 w 9263816"/>
              <a:gd name="connsiteY1" fmla="*/ 6086141 h 6858000"/>
              <a:gd name="connsiteX2" fmla="*/ 9260887 w 9263816"/>
              <a:gd name="connsiteY2" fmla="*/ 6279156 h 6858000"/>
              <a:gd name="connsiteX3" fmla="*/ 8925621 w 9263816"/>
              <a:gd name="connsiteY3" fmla="*/ 6708712 h 6858000"/>
              <a:gd name="connsiteX4" fmla="*/ 8496050 w 9263816"/>
              <a:gd name="connsiteY4" fmla="*/ 6373449 h 6858000"/>
              <a:gd name="connsiteX5" fmla="*/ 8831314 w 9263816"/>
              <a:gd name="connsiteY5" fmla="*/ 5943878 h 6858000"/>
              <a:gd name="connsiteX6" fmla="*/ 7397485 w 9263816"/>
              <a:gd name="connsiteY6" fmla="*/ 5931706 h 6858000"/>
              <a:gd name="connsiteX7" fmla="*/ 7917779 w 9263816"/>
              <a:gd name="connsiteY7" fmla="*/ 6191864 h 6858000"/>
              <a:gd name="connsiteX8" fmla="*/ 8013467 w 9263816"/>
              <a:gd name="connsiteY8" fmla="*/ 6375784 h 6858000"/>
              <a:gd name="connsiteX9" fmla="*/ 8021879 w 9263816"/>
              <a:gd name="connsiteY9" fmla="*/ 6753751 h 6858000"/>
              <a:gd name="connsiteX10" fmla="*/ 7981316 w 9263816"/>
              <a:gd name="connsiteY10" fmla="*/ 6858000 h 6858000"/>
              <a:gd name="connsiteX11" fmla="*/ 6819486 w 9263816"/>
              <a:gd name="connsiteY11" fmla="*/ 6858000 h 6858000"/>
              <a:gd name="connsiteX12" fmla="*/ 6785199 w 9263816"/>
              <a:gd name="connsiteY12" fmla="*/ 6781101 h 6858000"/>
              <a:gd name="connsiteX13" fmla="*/ 7196747 w 9263816"/>
              <a:gd name="connsiteY13" fmla="*/ 5964309 h 6858000"/>
              <a:gd name="connsiteX14" fmla="*/ 7397485 w 9263816"/>
              <a:gd name="connsiteY14" fmla="*/ 5931706 h 6858000"/>
              <a:gd name="connsiteX15" fmla="*/ 1505570 w 9263816"/>
              <a:gd name="connsiteY15" fmla="*/ 227178 h 6858000"/>
              <a:gd name="connsiteX16" fmla="*/ 2026489 w 9263816"/>
              <a:gd name="connsiteY16" fmla="*/ 392370 h 6858000"/>
              <a:gd name="connsiteX17" fmla="*/ 2444553 w 9263816"/>
              <a:gd name="connsiteY17" fmla="*/ 1654853 h 6858000"/>
              <a:gd name="connsiteX18" fmla="*/ 3183153 w 9263816"/>
              <a:gd name="connsiteY18" fmla="*/ 2116208 h 6858000"/>
              <a:gd name="connsiteX19" fmla="*/ 4288384 w 9263816"/>
              <a:gd name="connsiteY19" fmla="*/ 1291908 h 6858000"/>
              <a:gd name="connsiteX20" fmla="*/ 5472602 w 9263816"/>
              <a:gd name="connsiteY20" fmla="*/ 1697818 h 6858000"/>
              <a:gd name="connsiteX21" fmla="*/ 5844697 w 9263816"/>
              <a:gd name="connsiteY21" fmla="*/ 3444791 h 6858000"/>
              <a:gd name="connsiteX22" fmla="*/ 6715674 w 9263816"/>
              <a:gd name="connsiteY22" fmla="*/ 4065208 h 6858000"/>
              <a:gd name="connsiteX23" fmla="*/ 8130429 w 9263816"/>
              <a:gd name="connsiteY23" fmla="*/ 4101787 h 6858000"/>
              <a:gd name="connsiteX24" fmla="*/ 8624630 w 9263816"/>
              <a:gd name="connsiteY24" fmla="*/ 4686202 h 6858000"/>
              <a:gd name="connsiteX25" fmla="*/ 8623843 w 9263816"/>
              <a:gd name="connsiteY25" fmla="*/ 4685749 h 6858000"/>
              <a:gd name="connsiteX26" fmla="*/ 8646859 w 9263816"/>
              <a:gd name="connsiteY26" fmla="*/ 4835156 h 6858000"/>
              <a:gd name="connsiteX27" fmla="*/ 8079403 w 9263816"/>
              <a:gd name="connsiteY27" fmla="*/ 5661624 h 6858000"/>
              <a:gd name="connsiteX28" fmla="*/ 6833105 w 9263816"/>
              <a:gd name="connsiteY28" fmla="*/ 5397208 h 6858000"/>
              <a:gd name="connsiteX29" fmla="*/ 5900832 w 9263816"/>
              <a:gd name="connsiteY29" fmla="*/ 5944462 h 6858000"/>
              <a:gd name="connsiteX30" fmla="*/ 6067212 w 9263816"/>
              <a:gd name="connsiteY30" fmla="*/ 6811916 h 6858000"/>
              <a:gd name="connsiteX31" fmla="*/ 6089565 w 9263816"/>
              <a:gd name="connsiteY31" fmla="*/ 6858000 h 6858000"/>
              <a:gd name="connsiteX32" fmla="*/ 0 w 9263816"/>
              <a:gd name="connsiteY32" fmla="*/ 6858000 h 6858000"/>
              <a:gd name="connsiteX33" fmla="*/ 0 w 9263816"/>
              <a:gd name="connsiteY33" fmla="*/ 2181377 h 6858000"/>
              <a:gd name="connsiteX34" fmla="*/ 73069 w 9263816"/>
              <a:gd name="connsiteY34" fmla="*/ 2215839 h 6858000"/>
              <a:gd name="connsiteX35" fmla="*/ 335445 w 9263816"/>
              <a:gd name="connsiteY35" fmla="*/ 2237140 h 6858000"/>
              <a:gd name="connsiteX36" fmla="*/ 752878 w 9263816"/>
              <a:gd name="connsiteY36" fmla="*/ 1445285 h 6858000"/>
              <a:gd name="connsiteX37" fmla="*/ 1202551 w 9263816"/>
              <a:gd name="connsiteY37" fmla="*/ 314229 h 6858000"/>
              <a:gd name="connsiteX38" fmla="*/ 1505570 w 9263816"/>
              <a:gd name="connsiteY38" fmla="*/ 227178 h 6858000"/>
              <a:gd name="connsiteX39" fmla="*/ 3142509 w 9263816"/>
              <a:gd name="connsiteY39" fmla="*/ 68854 h 6858000"/>
              <a:gd name="connsiteX40" fmla="*/ 3490978 w 9263816"/>
              <a:gd name="connsiteY40" fmla="*/ 211117 h 6858000"/>
              <a:gd name="connsiteX41" fmla="*/ 3572083 w 9263816"/>
              <a:gd name="connsiteY41" fmla="*/ 404131 h 6858000"/>
              <a:gd name="connsiteX42" fmla="*/ 3236814 w 9263816"/>
              <a:gd name="connsiteY42" fmla="*/ 833688 h 6858000"/>
              <a:gd name="connsiteX43" fmla="*/ 2807245 w 9263816"/>
              <a:gd name="connsiteY43" fmla="*/ 498425 h 6858000"/>
              <a:gd name="connsiteX44" fmla="*/ 3142509 w 9263816"/>
              <a:gd name="connsiteY44" fmla="*/ 68854 h 6858000"/>
              <a:gd name="connsiteX45" fmla="*/ 0 w 9263816"/>
              <a:gd name="connsiteY45" fmla="*/ 0 h 6858000"/>
              <a:gd name="connsiteX46" fmla="*/ 39858 w 9263816"/>
              <a:gd name="connsiteY46" fmla="*/ 0 h 6858000"/>
              <a:gd name="connsiteX47" fmla="*/ 65022 w 9263816"/>
              <a:gd name="connsiteY47" fmla="*/ 5834 h 6858000"/>
              <a:gd name="connsiteX48" fmla="*/ 389258 w 9263816"/>
              <a:gd name="connsiteY48" fmla="*/ 235630 h 6858000"/>
              <a:gd name="connsiteX49" fmla="*/ 485484 w 9263816"/>
              <a:gd name="connsiteY49" fmla="*/ 420070 h 6858000"/>
              <a:gd name="connsiteX50" fmla="*/ 74229 w 9263816"/>
              <a:gd name="connsiteY50" fmla="*/ 1237955 h 6858000"/>
              <a:gd name="connsiteX51" fmla="*/ 0 w 9263816"/>
              <a:gd name="connsiteY51" fmla="*/ 125447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9263816" h="6858000">
                <a:moveTo>
                  <a:pt x="8831314" y="5943878"/>
                </a:moveTo>
                <a:cubicBezTo>
                  <a:pt x="8964281" y="5927490"/>
                  <a:pt x="9096260" y="5981362"/>
                  <a:pt x="9179783" y="6086141"/>
                </a:cubicBezTo>
                <a:cubicBezTo>
                  <a:pt x="9224074" y="6141769"/>
                  <a:pt x="9252211" y="6208560"/>
                  <a:pt x="9260887" y="6279156"/>
                </a:cubicBezTo>
                <a:cubicBezTo>
                  <a:pt x="9286897" y="6490362"/>
                  <a:pt x="9136845" y="6682672"/>
                  <a:pt x="8925621" y="6708712"/>
                </a:cubicBezTo>
                <a:cubicBezTo>
                  <a:pt x="8714398" y="6734766"/>
                  <a:pt x="8522062" y="6584655"/>
                  <a:pt x="8496050" y="6373449"/>
                </a:cubicBezTo>
                <a:cubicBezTo>
                  <a:pt x="8470038" y="6162229"/>
                  <a:pt x="8620090" y="5969920"/>
                  <a:pt x="8831314" y="5943878"/>
                </a:cubicBezTo>
                <a:close/>
                <a:moveTo>
                  <a:pt x="7397485" y="5931706"/>
                </a:moveTo>
                <a:cubicBezTo>
                  <a:pt x="7598431" y="5931157"/>
                  <a:pt x="7792965" y="6024548"/>
                  <a:pt x="7917779" y="6191864"/>
                </a:cubicBezTo>
                <a:cubicBezTo>
                  <a:pt x="7959204" y="6247714"/>
                  <a:pt x="7991530" y="6309792"/>
                  <a:pt x="8013467" y="6375784"/>
                </a:cubicBezTo>
                <a:cubicBezTo>
                  <a:pt x="8055425" y="6502973"/>
                  <a:pt x="8055748" y="6633888"/>
                  <a:pt x="8021879" y="6753751"/>
                </a:cubicBezTo>
                <a:lnTo>
                  <a:pt x="7981316" y="6858000"/>
                </a:lnTo>
                <a:lnTo>
                  <a:pt x="6819486" y="6858000"/>
                </a:lnTo>
                <a:lnTo>
                  <a:pt x="6785199" y="6781101"/>
                </a:lnTo>
                <a:cubicBezTo>
                  <a:pt x="6673307" y="6441922"/>
                  <a:pt x="6857485" y="6076251"/>
                  <a:pt x="7196747" y="5964309"/>
                </a:cubicBezTo>
                <a:cubicBezTo>
                  <a:pt x="7262809" y="5942509"/>
                  <a:pt x="7330503" y="5931889"/>
                  <a:pt x="7397485" y="5931706"/>
                </a:cubicBezTo>
                <a:close/>
                <a:moveTo>
                  <a:pt x="1505570" y="227178"/>
                </a:moveTo>
                <a:cubicBezTo>
                  <a:pt x="1691018" y="218628"/>
                  <a:pt x="1889853" y="275403"/>
                  <a:pt x="2026489" y="392370"/>
                </a:cubicBezTo>
                <a:cubicBezTo>
                  <a:pt x="2369898" y="685965"/>
                  <a:pt x="2078266" y="1147857"/>
                  <a:pt x="2444553" y="1654853"/>
                </a:cubicBezTo>
                <a:cubicBezTo>
                  <a:pt x="2492906" y="1721679"/>
                  <a:pt x="2800482" y="2144546"/>
                  <a:pt x="3183153" y="2116208"/>
                </a:cubicBezTo>
                <a:cubicBezTo>
                  <a:pt x="3673561" y="2080541"/>
                  <a:pt x="3723222" y="1441614"/>
                  <a:pt x="4288384" y="1291908"/>
                </a:cubicBezTo>
                <a:cubicBezTo>
                  <a:pt x="4689065" y="1185875"/>
                  <a:pt x="5207943" y="1366633"/>
                  <a:pt x="5472602" y="1697818"/>
                </a:cubicBezTo>
                <a:cubicBezTo>
                  <a:pt x="5891294" y="2221754"/>
                  <a:pt x="5408012" y="2790179"/>
                  <a:pt x="5844697" y="3444791"/>
                </a:cubicBezTo>
                <a:cubicBezTo>
                  <a:pt x="6149900" y="3902467"/>
                  <a:pt x="6672672" y="4053594"/>
                  <a:pt x="6715674" y="4065208"/>
                </a:cubicBezTo>
                <a:cubicBezTo>
                  <a:pt x="7326423" y="4232519"/>
                  <a:pt x="7677158" y="3817020"/>
                  <a:pt x="8130429" y="4101787"/>
                </a:cubicBezTo>
                <a:cubicBezTo>
                  <a:pt x="8226340" y="4161985"/>
                  <a:pt x="8536372" y="4356819"/>
                  <a:pt x="8624630" y="4686202"/>
                </a:cubicBezTo>
                <a:lnTo>
                  <a:pt x="8623843" y="4685749"/>
                </a:lnTo>
                <a:cubicBezTo>
                  <a:pt x="8636924" y="4734567"/>
                  <a:pt x="8644635" y="4784678"/>
                  <a:pt x="8646859" y="4835156"/>
                </a:cubicBezTo>
                <a:cubicBezTo>
                  <a:pt x="8662596" y="5196604"/>
                  <a:pt x="8398383" y="5562326"/>
                  <a:pt x="8079403" y="5661624"/>
                </a:cubicBezTo>
                <a:cubicBezTo>
                  <a:pt x="7649807" y="5795217"/>
                  <a:pt x="7430996" y="5350293"/>
                  <a:pt x="6833105" y="5397208"/>
                </a:cubicBezTo>
                <a:cubicBezTo>
                  <a:pt x="6519033" y="5421527"/>
                  <a:pt x="6056658" y="5595550"/>
                  <a:pt x="5900832" y="5944462"/>
                </a:cubicBezTo>
                <a:cubicBezTo>
                  <a:pt x="5770548" y="6236600"/>
                  <a:pt x="5916359" y="6515160"/>
                  <a:pt x="6067212" y="6811916"/>
                </a:cubicBezTo>
                <a:lnTo>
                  <a:pt x="6089565" y="6858000"/>
                </a:lnTo>
                <a:lnTo>
                  <a:pt x="0" y="6858000"/>
                </a:lnTo>
                <a:lnTo>
                  <a:pt x="0" y="2181377"/>
                </a:lnTo>
                <a:lnTo>
                  <a:pt x="73069" y="2215839"/>
                </a:lnTo>
                <a:cubicBezTo>
                  <a:pt x="165116" y="2251829"/>
                  <a:pt x="254486" y="2263171"/>
                  <a:pt x="335445" y="2237140"/>
                </a:cubicBezTo>
                <a:cubicBezTo>
                  <a:pt x="594718" y="2153707"/>
                  <a:pt x="688441" y="1733807"/>
                  <a:pt x="752878" y="1445285"/>
                </a:cubicBezTo>
                <a:cubicBezTo>
                  <a:pt x="925059" y="674068"/>
                  <a:pt x="975076" y="456292"/>
                  <a:pt x="1202551" y="314229"/>
                </a:cubicBezTo>
                <a:cubicBezTo>
                  <a:pt x="1287853" y="260956"/>
                  <a:pt x="1394302" y="232308"/>
                  <a:pt x="1505570" y="227178"/>
                </a:cubicBezTo>
                <a:close/>
                <a:moveTo>
                  <a:pt x="3142509" y="68854"/>
                </a:moveTo>
                <a:cubicBezTo>
                  <a:pt x="3275474" y="52467"/>
                  <a:pt x="3407455" y="106339"/>
                  <a:pt x="3490978" y="211117"/>
                </a:cubicBezTo>
                <a:cubicBezTo>
                  <a:pt x="3535271" y="266744"/>
                  <a:pt x="3563404" y="333535"/>
                  <a:pt x="3572083" y="404131"/>
                </a:cubicBezTo>
                <a:cubicBezTo>
                  <a:pt x="3598092" y="615337"/>
                  <a:pt x="3448040" y="807648"/>
                  <a:pt x="3236814" y="833688"/>
                </a:cubicBezTo>
                <a:cubicBezTo>
                  <a:pt x="3025594" y="859741"/>
                  <a:pt x="2833255" y="709631"/>
                  <a:pt x="2807245" y="498425"/>
                </a:cubicBezTo>
                <a:cubicBezTo>
                  <a:pt x="2781232" y="287207"/>
                  <a:pt x="2931283" y="94896"/>
                  <a:pt x="3142509" y="68854"/>
                </a:cubicBezTo>
                <a:close/>
                <a:moveTo>
                  <a:pt x="0" y="0"/>
                </a:moveTo>
                <a:lnTo>
                  <a:pt x="39858" y="0"/>
                </a:lnTo>
                <a:lnTo>
                  <a:pt x="65022" y="5834"/>
                </a:lnTo>
                <a:cubicBezTo>
                  <a:pt x="191545" y="45606"/>
                  <a:pt x="305874" y="124173"/>
                  <a:pt x="389258" y="235630"/>
                </a:cubicBezTo>
                <a:cubicBezTo>
                  <a:pt x="430983" y="291600"/>
                  <a:pt x="463360" y="353876"/>
                  <a:pt x="485484" y="420070"/>
                </a:cubicBezTo>
                <a:cubicBezTo>
                  <a:pt x="597711" y="759508"/>
                  <a:pt x="413661" y="1125662"/>
                  <a:pt x="74229" y="1237955"/>
                </a:cubicBezTo>
                <a:lnTo>
                  <a:pt x="0" y="1254477"/>
                </a:lnTo>
                <a:close/>
              </a:path>
            </a:pathLst>
          </a:custGeom>
          <a:solidFill>
            <a:schemeClr val="bg1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27" name="Background Fill">
            <a:extLst>
              <a:ext uri="{FF2B5EF4-FFF2-40B4-BE49-F238E27FC236}">
                <a16:creationId xmlns:a16="http://schemas.microsoft.com/office/drawing/2014/main" id="{6DA65B90-7B06-4499-91BA-CDDD361324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96868F2-FC80-4334-887B-7DB3103A73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7EF79062-B5BB-45DF-810C-95A324A9D6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0" y="2140699"/>
            <a:ext cx="12192000" cy="4717301"/>
          </a:xfrm>
          <a:custGeom>
            <a:avLst/>
            <a:gdLst>
              <a:gd name="connsiteX0" fmla="*/ 8930642 w 12192000"/>
              <a:gd name="connsiteY0" fmla="*/ 4273734 h 4717301"/>
              <a:gd name="connsiteX1" fmla="*/ 9143134 w 12192000"/>
              <a:gd name="connsiteY1" fmla="*/ 4396362 h 4717301"/>
              <a:gd name="connsiteX2" fmla="*/ 9043549 w 12192000"/>
              <a:gd name="connsiteY2" fmla="*/ 4693978 h 4717301"/>
              <a:gd name="connsiteX3" fmla="*/ 8745984 w 12192000"/>
              <a:gd name="connsiteY3" fmla="*/ 4594249 h 4717301"/>
              <a:gd name="connsiteX4" fmla="*/ 8845568 w 12192000"/>
              <a:gd name="connsiteY4" fmla="*/ 4296634 h 4717301"/>
              <a:gd name="connsiteX5" fmla="*/ 8930642 w 12192000"/>
              <a:gd name="connsiteY5" fmla="*/ 4273734 h 4717301"/>
              <a:gd name="connsiteX6" fmla="*/ 9842642 w 12192000"/>
              <a:gd name="connsiteY6" fmla="*/ 3718743 h 4717301"/>
              <a:gd name="connsiteX7" fmla="*/ 10272210 w 12192000"/>
              <a:gd name="connsiteY7" fmla="*/ 3966645 h 4717301"/>
              <a:gd name="connsiteX8" fmla="*/ 10070896 w 12192000"/>
              <a:gd name="connsiteY8" fmla="*/ 4568292 h 4717301"/>
              <a:gd name="connsiteX9" fmla="*/ 9469346 w 12192000"/>
              <a:gd name="connsiteY9" fmla="*/ 4366686 h 4717301"/>
              <a:gd name="connsiteX10" fmla="*/ 9670660 w 12192000"/>
              <a:gd name="connsiteY10" fmla="*/ 3765038 h 4717301"/>
              <a:gd name="connsiteX11" fmla="*/ 9842642 w 12192000"/>
              <a:gd name="connsiteY11" fmla="*/ 3718743 h 4717301"/>
              <a:gd name="connsiteX12" fmla="*/ 0 w 12192000"/>
              <a:gd name="connsiteY12" fmla="*/ 0 h 4717301"/>
              <a:gd name="connsiteX13" fmla="*/ 12192000 w 12192000"/>
              <a:gd name="connsiteY13" fmla="*/ 0 h 4717301"/>
              <a:gd name="connsiteX14" fmla="*/ 12192000 w 12192000"/>
              <a:gd name="connsiteY14" fmla="*/ 3369891 h 4717301"/>
              <a:gd name="connsiteX15" fmla="*/ 12124015 w 12192000"/>
              <a:gd name="connsiteY15" fmla="*/ 3410713 h 4717301"/>
              <a:gd name="connsiteX16" fmla="*/ 11077457 w 12192000"/>
              <a:gd name="connsiteY16" fmla="*/ 3501725 h 4717301"/>
              <a:gd name="connsiteX17" fmla="*/ 9867246 w 12192000"/>
              <a:gd name="connsiteY17" fmla="*/ 3351592 h 4717301"/>
              <a:gd name="connsiteX18" fmla="*/ 8994802 w 12192000"/>
              <a:gd name="connsiteY18" fmla="*/ 3878378 h 4717301"/>
              <a:gd name="connsiteX19" fmla="*/ 6994655 w 12192000"/>
              <a:gd name="connsiteY19" fmla="*/ 4335637 h 4717301"/>
              <a:gd name="connsiteX20" fmla="*/ 6287534 w 12192000"/>
              <a:gd name="connsiteY20" fmla="*/ 3714199 h 4717301"/>
              <a:gd name="connsiteX21" fmla="*/ 4392596 w 12192000"/>
              <a:gd name="connsiteY21" fmla="*/ 3392344 h 4717301"/>
              <a:gd name="connsiteX22" fmla="*/ 3014500 w 12192000"/>
              <a:gd name="connsiteY22" fmla="*/ 4100222 h 4717301"/>
              <a:gd name="connsiteX23" fmla="*/ 86414 w 12192000"/>
              <a:gd name="connsiteY23" fmla="*/ 3903305 h 4717301"/>
              <a:gd name="connsiteX24" fmla="*/ 0 w 12192000"/>
              <a:gd name="connsiteY24" fmla="*/ 3840566 h 47173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12192000" h="4717301">
                <a:moveTo>
                  <a:pt x="8930642" y="4273734"/>
                </a:moveTo>
                <a:cubicBezTo>
                  <a:pt x="9016941" y="4268381"/>
                  <a:pt x="9102130" y="4314070"/>
                  <a:pt x="9143134" y="4396362"/>
                </a:cubicBezTo>
                <a:cubicBezTo>
                  <a:pt x="9197806" y="4506087"/>
                  <a:pt x="9153221" y="4639333"/>
                  <a:pt x="9043549" y="4693978"/>
                </a:cubicBezTo>
                <a:cubicBezTo>
                  <a:pt x="8933879" y="4748622"/>
                  <a:pt x="8800655" y="4703973"/>
                  <a:pt x="8745984" y="4594249"/>
                </a:cubicBezTo>
                <a:cubicBezTo>
                  <a:pt x="8691311" y="4484525"/>
                  <a:pt x="8735897" y="4351279"/>
                  <a:pt x="8845568" y="4296634"/>
                </a:cubicBezTo>
                <a:cubicBezTo>
                  <a:pt x="8872986" y="4282973"/>
                  <a:pt x="8901875" y="4275517"/>
                  <a:pt x="8930642" y="4273734"/>
                </a:cubicBezTo>
                <a:close/>
                <a:moveTo>
                  <a:pt x="9842642" y="3718743"/>
                </a:moveTo>
                <a:cubicBezTo>
                  <a:pt x="10017101" y="3707923"/>
                  <a:pt x="10189318" y="3800286"/>
                  <a:pt x="10272210" y="3966645"/>
                </a:cubicBezTo>
                <a:cubicBezTo>
                  <a:pt x="10382732" y="4188458"/>
                  <a:pt x="10292600" y="4457825"/>
                  <a:pt x="10070896" y="4568292"/>
                </a:cubicBezTo>
                <a:cubicBezTo>
                  <a:pt x="9849191" y="4678760"/>
                  <a:pt x="9579867" y="4588498"/>
                  <a:pt x="9469346" y="4366686"/>
                </a:cubicBezTo>
                <a:cubicBezTo>
                  <a:pt x="9358824" y="4144873"/>
                  <a:pt x="9448956" y="3875506"/>
                  <a:pt x="9670660" y="3765038"/>
                </a:cubicBezTo>
                <a:cubicBezTo>
                  <a:pt x="9726087" y="3737421"/>
                  <a:pt x="9784490" y="3722349"/>
                  <a:pt x="9842642" y="3718743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3369891"/>
                </a:lnTo>
                <a:lnTo>
                  <a:pt x="12124015" y="3410713"/>
                </a:lnTo>
                <a:cubicBezTo>
                  <a:pt x="11792041" y="3581538"/>
                  <a:pt x="11443617" y="3577252"/>
                  <a:pt x="11077457" y="3501725"/>
                </a:cubicBezTo>
                <a:cubicBezTo>
                  <a:pt x="10679189" y="3419860"/>
                  <a:pt x="10271734" y="3358281"/>
                  <a:pt x="9867246" y="3351592"/>
                </a:cubicBezTo>
                <a:cubicBezTo>
                  <a:pt x="9492336" y="3345611"/>
                  <a:pt x="9239136" y="3626329"/>
                  <a:pt x="8994802" y="3878378"/>
                </a:cubicBezTo>
                <a:cubicBezTo>
                  <a:pt x="8385954" y="4506678"/>
                  <a:pt x="7695268" y="4690742"/>
                  <a:pt x="6994655" y="4335637"/>
                </a:cubicBezTo>
                <a:cubicBezTo>
                  <a:pt x="6722938" y="4197922"/>
                  <a:pt x="6494843" y="3948626"/>
                  <a:pt x="6287534" y="3714199"/>
                </a:cubicBezTo>
                <a:cubicBezTo>
                  <a:pt x="5731733" y="3085491"/>
                  <a:pt x="5043559" y="3067499"/>
                  <a:pt x="4392596" y="3392344"/>
                </a:cubicBezTo>
                <a:cubicBezTo>
                  <a:pt x="3930423" y="3623867"/>
                  <a:pt x="3492022" y="3908604"/>
                  <a:pt x="3014500" y="4100222"/>
                </a:cubicBezTo>
                <a:cubicBezTo>
                  <a:pt x="1977820" y="4518409"/>
                  <a:pt x="973242" y="4499486"/>
                  <a:pt x="86414" y="3903305"/>
                </a:cubicBezTo>
                <a:lnTo>
                  <a:pt x="0" y="384056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1DF60D0D-5C1F-E1C9-18F3-4A29CCB95D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8878" y="721120"/>
            <a:ext cx="10063922" cy="2516017"/>
          </a:xfrm>
        </p:spPr>
        <p:txBody>
          <a:bodyPr vert="horz" lIns="91440" tIns="45720" rIns="91440" bIns="45720" rtlCol="0" anchor="ctr"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altLang="zh-TW" sz="2000" b="1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 </a:t>
            </a:r>
            <a:r>
              <a:rPr lang="zh-TW" altLang="en-US" sz="2800" b="1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感測器工作表現：</a:t>
            </a:r>
            <a:br>
              <a:rPr lang="en-US" altLang="zh-TW" sz="2000" b="1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</a:br>
            <a:r>
              <a:rPr lang="en-US" altLang="zh-TW" sz="2000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 </a:t>
            </a:r>
            <a:br>
              <a:rPr lang="zh-TW" altLang="zh-TW" sz="2000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</a:br>
            <a:r>
              <a:rPr lang="zh-TW" altLang="zh-TW" sz="2000" b="1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使用</a:t>
            </a:r>
            <a:r>
              <a:rPr lang="en-US" altLang="zh-TW" sz="2000" b="1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 complementary filter </a:t>
            </a:r>
            <a:r>
              <a:rPr lang="zh-TW" altLang="zh-TW" sz="2000" b="1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後的表現：</a:t>
            </a:r>
            <a:br>
              <a:rPr lang="zh-TW" altLang="zh-TW" sz="2000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</a:br>
            <a:r>
              <a:rPr lang="zh-TW" altLang="zh-TW" sz="2000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濾波後的量測值與理論閾值曲線高度一致。</a:t>
            </a:r>
            <a:br>
              <a:rPr lang="zh-TW" altLang="zh-TW" sz="2000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</a:br>
            <a:r>
              <a:rPr lang="zh-TW" altLang="zh-TW" sz="2000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誤差縮小至約</a:t>
            </a:r>
            <a:r>
              <a:rPr lang="en-US" altLang="zh-TW" sz="2000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 ±1.5°</a:t>
            </a:r>
            <a:r>
              <a:rPr lang="zh-TW" altLang="zh-TW" sz="2000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，顯著優於未處理資料。</a:t>
            </a:r>
            <a:br>
              <a:rPr lang="zh-TW" altLang="zh-TW" sz="2000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</a:br>
            <a:r>
              <a:rPr lang="zh-TW" altLang="zh-TW" sz="2000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準確率提升至約</a:t>
            </a:r>
            <a:r>
              <a:rPr lang="en-US" altLang="zh-TW" sz="2000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 95%</a:t>
            </a:r>
            <a:r>
              <a:rPr lang="zh-TW" altLang="zh-TW" sz="2000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，達到研究目標。</a:t>
            </a:r>
          </a:p>
        </p:txBody>
      </p:sp>
      <p:grpSp>
        <p:nvGrpSpPr>
          <p:cNvPr id="12" name="群組 11">
            <a:extLst>
              <a:ext uri="{FF2B5EF4-FFF2-40B4-BE49-F238E27FC236}">
                <a16:creationId xmlns:a16="http://schemas.microsoft.com/office/drawing/2014/main" id="{43A18D9E-55D0-7F7A-0088-0CC66E6466F3}"/>
              </a:ext>
            </a:extLst>
          </p:cNvPr>
          <p:cNvGrpSpPr/>
          <p:nvPr/>
        </p:nvGrpSpPr>
        <p:grpSpPr>
          <a:xfrm>
            <a:off x="244625" y="4082146"/>
            <a:ext cx="11699702" cy="2368468"/>
            <a:chOff x="3190635" y="3278422"/>
            <a:chExt cx="10820402" cy="2190465"/>
          </a:xfrm>
        </p:grpSpPr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22CD7F70-EE8A-5DB2-EACB-5E743FD72CB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190635" y="3279531"/>
              <a:ext cx="3719037" cy="2189356"/>
            </a:xfrm>
            <a:prstGeom prst="rect">
              <a:avLst/>
            </a:prstGeom>
          </p:spPr>
        </p:pic>
        <p:grpSp>
          <p:nvGrpSpPr>
            <p:cNvPr id="10" name="群組 9">
              <a:extLst>
                <a:ext uri="{FF2B5EF4-FFF2-40B4-BE49-F238E27FC236}">
                  <a16:creationId xmlns:a16="http://schemas.microsoft.com/office/drawing/2014/main" id="{53B977FA-3FBD-6999-4877-604662953C66}"/>
                </a:ext>
              </a:extLst>
            </p:cNvPr>
            <p:cNvGrpSpPr/>
            <p:nvPr/>
          </p:nvGrpSpPr>
          <p:grpSpPr>
            <a:xfrm>
              <a:off x="6909673" y="3278422"/>
              <a:ext cx="7101364" cy="2190465"/>
              <a:chOff x="2179410" y="1232083"/>
              <a:chExt cx="14824237" cy="4572638"/>
            </a:xfrm>
          </p:grpSpPr>
          <p:pic>
            <p:nvPicPr>
              <p:cNvPr id="7" name="圖片 6">
                <a:extLst>
                  <a:ext uri="{FF2B5EF4-FFF2-40B4-BE49-F238E27FC236}">
                    <a16:creationId xmlns:a16="http://schemas.microsoft.com/office/drawing/2014/main" id="{F30391F0-D06B-C403-0E85-CB0AE8C5FF2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179410" y="1233181"/>
                <a:ext cx="7536595" cy="4571540"/>
              </a:xfrm>
              <a:prstGeom prst="rect">
                <a:avLst/>
              </a:prstGeom>
            </p:spPr>
          </p:pic>
          <p:pic>
            <p:nvPicPr>
              <p:cNvPr id="9" name="圖片 8">
                <a:extLst>
                  <a:ext uri="{FF2B5EF4-FFF2-40B4-BE49-F238E27FC236}">
                    <a16:creationId xmlns:a16="http://schemas.microsoft.com/office/drawing/2014/main" id="{D6189B01-9A90-4CF4-DE30-917AA34488F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716005" y="1232083"/>
                <a:ext cx="7287642" cy="4572638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0409119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3F6713B-9E2B-8F09-7FCA-AAF33B6B32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109" y="653142"/>
            <a:ext cx="3523969" cy="509184"/>
          </a:xfrm>
        </p:spPr>
        <p:txBody>
          <a:bodyPr>
            <a:noAutofit/>
          </a:bodyPr>
          <a:lstStyle/>
          <a:p>
            <a:r>
              <a:rPr lang="zh-TW" altLang="zh-TW" sz="2800" b="1" dirty="0">
                <a:effectLst/>
                <a:latin typeface="Georgia" panose="02040502050405020303" pitchFamily="18" charset="0"/>
                <a:ea typeface="新細明體" panose="02020500000000000000" pitchFamily="18" charset="-120"/>
                <a:cs typeface="微軟正黑體" panose="020B0604030504040204" pitchFamily="34" charset="-120"/>
              </a:rPr>
              <a:t>設計挑</a:t>
            </a:r>
            <a:r>
              <a:rPr lang="zh-TW" altLang="en-US" sz="2800" b="1" dirty="0">
                <a:effectLst/>
                <a:latin typeface="Georgia" panose="02040502050405020303" pitchFamily="18" charset="0"/>
                <a:ea typeface="新細明體" panose="02020500000000000000" pitchFamily="18" charset="-120"/>
                <a:cs typeface="微軟正黑體" panose="020B0604030504040204" pitchFamily="34" charset="-120"/>
              </a:rPr>
              <a:t>戰：</a:t>
            </a:r>
            <a:endParaRPr kumimoji="1" lang="zh-TW" altLang="en-US" sz="2800" b="1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0C636AE-213D-3814-D93F-6B711E32AF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0109" y="1735339"/>
            <a:ext cx="10396233" cy="4036534"/>
          </a:xfrm>
        </p:spPr>
        <p:txBody>
          <a:bodyPr>
            <a:noAutofit/>
          </a:bodyPr>
          <a:lstStyle/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TW" altLang="zh-TW" b="1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存在問題：</a:t>
            </a:r>
            <a:endParaRPr lang="zh-TW" altLang="zh-TW" kern="100" dirty="0">
              <a:effectLst/>
              <a:latin typeface="Aptos" panose="020B000402020202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zh-TW" altLang="zh-TW" sz="2000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感測器數據中包含高頻雜訊、隨機偏移、白雜訊等。</a:t>
            </a: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altLang="zh-TW" sz="2000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IMU </a:t>
            </a:r>
            <a:r>
              <a:rPr lang="zh-TW" altLang="zh-TW" sz="2000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原始資料的穩定性與準確性不佳，導致移動追蹤與定位容易累積誤差。</a:t>
            </a: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zh-TW" altLang="zh-TW" sz="2000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陀螺儀：響應快但易漂移；加速度計：穩定但對快速動作不敏感。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TW" altLang="zh-TW" b="1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解決方法：</a:t>
            </a:r>
            <a:endParaRPr lang="zh-TW" altLang="zh-TW" kern="100" dirty="0">
              <a:effectLst/>
              <a:latin typeface="Aptos" panose="020B000402020202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zh-TW" altLang="zh-TW" sz="2000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使用</a:t>
            </a:r>
            <a:r>
              <a:rPr lang="en-US" altLang="zh-TW" sz="2000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 complementary filter </a:t>
            </a:r>
            <a:r>
              <a:rPr lang="zh-TW" altLang="zh-TW" sz="2000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進行資料融合，克服單一感測器的不足。</a:t>
            </a:r>
          </a:p>
        </p:txBody>
      </p:sp>
    </p:spTree>
    <p:extLst>
      <p:ext uri="{BB962C8B-B14F-4D97-AF65-F5344CB8AC3E}">
        <p14:creationId xmlns:p14="http://schemas.microsoft.com/office/powerpoint/2010/main" val="19711049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Background Fill">
            <a:extLst>
              <a:ext uri="{FF2B5EF4-FFF2-40B4-BE49-F238E27FC236}">
                <a16:creationId xmlns:a16="http://schemas.microsoft.com/office/drawing/2014/main" id="{B937640E-EF7A-4A6C-A950-D12B7D5C92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76BDF4D-4826-490A-8307-7247A295E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2E0FF4CF-25CB-4537-9BBF-28B36C76BE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65328" y="1352190"/>
            <a:ext cx="7823624" cy="5505810"/>
          </a:xfrm>
          <a:custGeom>
            <a:avLst/>
            <a:gdLst>
              <a:gd name="connsiteX0" fmla="*/ 7676365 w 7823624"/>
              <a:gd name="connsiteY0" fmla="*/ 583688 h 5505810"/>
              <a:gd name="connsiteX1" fmla="*/ 7807957 w 7823624"/>
              <a:gd name="connsiteY1" fmla="*/ 609260 h 5505810"/>
              <a:gd name="connsiteX2" fmla="*/ 7823624 w 7823624"/>
              <a:gd name="connsiteY2" fmla="*/ 618028 h 5505810"/>
              <a:gd name="connsiteX3" fmla="*/ 7823624 w 7823624"/>
              <a:gd name="connsiteY3" fmla="*/ 1356037 h 5505810"/>
              <a:gd name="connsiteX4" fmla="*/ 7783921 w 7823624"/>
              <a:gd name="connsiteY4" fmla="*/ 1367061 h 5505810"/>
              <a:gd name="connsiteX5" fmla="*/ 7685829 w 7823624"/>
              <a:gd name="connsiteY5" fmla="*/ 1364631 h 5505810"/>
              <a:gd name="connsiteX6" fmla="*/ 7556041 w 7823624"/>
              <a:gd name="connsiteY6" fmla="*/ 1308528 h 5505810"/>
              <a:gd name="connsiteX7" fmla="*/ 7412440 w 7823624"/>
              <a:gd name="connsiteY7" fmla="*/ 765688 h 5505810"/>
              <a:gd name="connsiteX8" fmla="*/ 7676365 w 7823624"/>
              <a:gd name="connsiteY8" fmla="*/ 583688 h 5505810"/>
              <a:gd name="connsiteX9" fmla="*/ 7062857 w 7823624"/>
              <a:gd name="connsiteY9" fmla="*/ 396783 h 5505810"/>
              <a:gd name="connsiteX10" fmla="*/ 7127059 w 7823624"/>
              <a:gd name="connsiteY10" fmla="*/ 424535 h 5505810"/>
              <a:gd name="connsiteX11" fmla="*/ 7198094 w 7823624"/>
              <a:gd name="connsiteY11" fmla="*/ 693059 h 5505810"/>
              <a:gd name="connsiteX12" fmla="*/ 7099157 w 7823624"/>
              <a:gd name="connsiteY12" fmla="*/ 778505 h 5505810"/>
              <a:gd name="connsiteX13" fmla="*/ 7034998 w 7823624"/>
              <a:gd name="connsiteY13" fmla="*/ 780480 h 5505810"/>
              <a:gd name="connsiteX14" fmla="*/ 6970795 w 7823624"/>
              <a:gd name="connsiteY14" fmla="*/ 752727 h 5505810"/>
              <a:gd name="connsiteX15" fmla="*/ 6899760 w 7823624"/>
              <a:gd name="connsiteY15" fmla="*/ 484203 h 5505810"/>
              <a:gd name="connsiteX16" fmla="*/ 7062857 w 7823624"/>
              <a:gd name="connsiteY16" fmla="*/ 396783 h 5505810"/>
              <a:gd name="connsiteX17" fmla="*/ 1780739 w 7823624"/>
              <a:gd name="connsiteY17" fmla="*/ 1190 h 5505810"/>
              <a:gd name="connsiteX18" fmla="*/ 2850847 w 7823624"/>
              <a:gd name="connsiteY18" fmla="*/ 384530 h 5505810"/>
              <a:gd name="connsiteX19" fmla="*/ 3809413 w 7823624"/>
              <a:gd name="connsiteY19" fmla="*/ 1153764 h 5505810"/>
              <a:gd name="connsiteX20" fmla="*/ 5160376 w 7823624"/>
              <a:gd name="connsiteY20" fmla="*/ 1003825 h 5505810"/>
              <a:gd name="connsiteX21" fmla="*/ 5677238 w 7823624"/>
              <a:gd name="connsiteY21" fmla="*/ 480424 h 5505810"/>
              <a:gd name="connsiteX22" fmla="*/ 7082965 w 7823624"/>
              <a:gd name="connsiteY22" fmla="*/ 1065272 h 5505810"/>
              <a:gd name="connsiteX23" fmla="*/ 7687818 w 7823624"/>
              <a:gd name="connsiteY23" fmla="*/ 1625585 h 5505810"/>
              <a:gd name="connsiteX24" fmla="*/ 7823624 w 7823624"/>
              <a:gd name="connsiteY24" fmla="*/ 1633445 h 5505810"/>
              <a:gd name="connsiteX25" fmla="*/ 7823624 w 7823624"/>
              <a:gd name="connsiteY25" fmla="*/ 5505810 h 5505810"/>
              <a:gd name="connsiteX26" fmla="*/ 1419133 w 7823624"/>
              <a:gd name="connsiteY26" fmla="*/ 5505810 h 5505810"/>
              <a:gd name="connsiteX27" fmla="*/ 1422753 w 7823624"/>
              <a:gd name="connsiteY27" fmla="*/ 5488656 h 5505810"/>
              <a:gd name="connsiteX28" fmla="*/ 1543078 w 7823624"/>
              <a:gd name="connsiteY28" fmla="*/ 4961644 h 5505810"/>
              <a:gd name="connsiteX29" fmla="*/ 1334564 w 7823624"/>
              <a:gd name="connsiteY29" fmla="*/ 4133160 h 5505810"/>
              <a:gd name="connsiteX30" fmla="*/ 670875 w 7823624"/>
              <a:gd name="connsiteY30" fmla="*/ 3489628 h 5505810"/>
              <a:gd name="connsiteX31" fmla="*/ 499515 w 7823624"/>
              <a:gd name="connsiteY31" fmla="*/ 578153 h 5505810"/>
              <a:gd name="connsiteX32" fmla="*/ 1780739 w 7823624"/>
              <a:gd name="connsiteY32" fmla="*/ 1190 h 5505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7823624" h="5505810">
                <a:moveTo>
                  <a:pt x="7676365" y="583688"/>
                </a:moveTo>
                <a:cubicBezTo>
                  <a:pt x="7719804" y="582304"/>
                  <a:pt x="7764489" y="590613"/>
                  <a:pt x="7807957" y="609260"/>
                </a:cubicBezTo>
                <a:lnTo>
                  <a:pt x="7823624" y="618028"/>
                </a:lnTo>
                <a:lnTo>
                  <a:pt x="7823624" y="1356037"/>
                </a:lnTo>
                <a:lnTo>
                  <a:pt x="7783921" y="1367061"/>
                </a:lnTo>
                <a:cubicBezTo>
                  <a:pt x="7751926" y="1371702"/>
                  <a:pt x="7718882" y="1370985"/>
                  <a:pt x="7685829" y="1364631"/>
                </a:cubicBezTo>
                <a:cubicBezTo>
                  <a:pt x="7641760" y="1356162"/>
                  <a:pt x="7597675" y="1337676"/>
                  <a:pt x="7556041" y="1308528"/>
                </a:cubicBezTo>
                <a:cubicBezTo>
                  <a:pt x="7389499" y="1191936"/>
                  <a:pt x="7325207" y="948898"/>
                  <a:pt x="7412440" y="765688"/>
                </a:cubicBezTo>
                <a:cubicBezTo>
                  <a:pt x="7466961" y="651183"/>
                  <a:pt x="7567768" y="587147"/>
                  <a:pt x="7676365" y="583688"/>
                </a:cubicBezTo>
                <a:close/>
                <a:moveTo>
                  <a:pt x="7062857" y="396783"/>
                </a:moveTo>
                <a:cubicBezTo>
                  <a:pt x="7084657" y="400973"/>
                  <a:pt x="7106463" y="410117"/>
                  <a:pt x="7127059" y="424535"/>
                </a:cubicBezTo>
                <a:cubicBezTo>
                  <a:pt x="7209442" y="482209"/>
                  <a:pt x="7241245" y="602433"/>
                  <a:pt x="7198094" y="693059"/>
                </a:cubicBezTo>
                <a:cubicBezTo>
                  <a:pt x="7176519" y="738373"/>
                  <a:pt x="7140289" y="767709"/>
                  <a:pt x="7099157" y="778505"/>
                </a:cubicBezTo>
                <a:cubicBezTo>
                  <a:pt x="7078590" y="783905"/>
                  <a:pt x="7056797" y="784670"/>
                  <a:pt x="7034998" y="780480"/>
                </a:cubicBezTo>
                <a:cubicBezTo>
                  <a:pt x="7013198" y="776289"/>
                  <a:pt x="6991391" y="767146"/>
                  <a:pt x="6970795" y="752727"/>
                </a:cubicBezTo>
                <a:cubicBezTo>
                  <a:pt x="6888412" y="695052"/>
                  <a:pt x="6856608" y="574829"/>
                  <a:pt x="6899760" y="484203"/>
                </a:cubicBezTo>
                <a:cubicBezTo>
                  <a:pt x="6932124" y="416232"/>
                  <a:pt x="6997458" y="384213"/>
                  <a:pt x="7062857" y="396783"/>
                </a:cubicBezTo>
                <a:close/>
                <a:moveTo>
                  <a:pt x="1780739" y="1190"/>
                </a:moveTo>
                <a:cubicBezTo>
                  <a:pt x="2129768" y="14988"/>
                  <a:pt x="2488852" y="148495"/>
                  <a:pt x="2850847" y="384530"/>
                </a:cubicBezTo>
                <a:cubicBezTo>
                  <a:pt x="3184362" y="601036"/>
                  <a:pt x="3487788" y="901267"/>
                  <a:pt x="3809413" y="1153764"/>
                </a:cubicBezTo>
                <a:cubicBezTo>
                  <a:pt x="4262448" y="1508236"/>
                  <a:pt x="4750558" y="1545992"/>
                  <a:pt x="5160376" y="1003825"/>
                </a:cubicBezTo>
                <a:cubicBezTo>
                  <a:pt x="5313232" y="801671"/>
                  <a:pt x="5481196" y="587300"/>
                  <a:pt x="5677238" y="480424"/>
                </a:cubicBezTo>
                <a:cubicBezTo>
                  <a:pt x="6182723" y="204840"/>
                  <a:pt x="6667481" y="431193"/>
                  <a:pt x="7082965" y="1065272"/>
                </a:cubicBezTo>
                <a:cubicBezTo>
                  <a:pt x="7249706" y="1319645"/>
                  <a:pt x="7421998" y="1601453"/>
                  <a:pt x="7687818" y="1625585"/>
                </a:cubicBezTo>
                <a:lnTo>
                  <a:pt x="7823624" y="1633445"/>
                </a:lnTo>
                <a:lnTo>
                  <a:pt x="7823624" y="5505810"/>
                </a:lnTo>
                <a:lnTo>
                  <a:pt x="1419133" y="5505810"/>
                </a:lnTo>
                <a:lnTo>
                  <a:pt x="1422753" y="5488656"/>
                </a:lnTo>
                <a:cubicBezTo>
                  <a:pt x="1462649" y="5312984"/>
                  <a:pt x="1506176" y="5138278"/>
                  <a:pt x="1543078" y="4961644"/>
                </a:cubicBezTo>
                <a:cubicBezTo>
                  <a:pt x="1609806" y="4640258"/>
                  <a:pt x="1539760" y="4343419"/>
                  <a:pt x="1334564" y="4133160"/>
                </a:cubicBezTo>
                <a:cubicBezTo>
                  <a:pt x="1117562" y="3910930"/>
                  <a:pt x="900716" y="3685928"/>
                  <a:pt x="670875" y="3489628"/>
                </a:cubicBezTo>
                <a:cubicBezTo>
                  <a:pt x="-321639" y="2642174"/>
                  <a:pt x="-67393" y="1165752"/>
                  <a:pt x="499515" y="578153"/>
                </a:cubicBezTo>
                <a:cubicBezTo>
                  <a:pt x="899852" y="163598"/>
                  <a:pt x="1331986" y="-16550"/>
                  <a:pt x="1780739" y="119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7FC81DEF-5556-FDFA-1DF9-D5BBED720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1991" y="932467"/>
            <a:ext cx="10972800" cy="78755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kumimoji="1" lang="zh-TW" altLang="en-US" sz="2800" b="1" dirty="0">
                <a:latin typeface="新細明體" panose="02020500000000000000" pitchFamily="18" charset="-120"/>
                <a:ea typeface="新細明體" panose="02020500000000000000" pitchFamily="18" charset="-120"/>
                <a:cs typeface="Times New Roman" panose="02020603050405020304" pitchFamily="18" charset="0"/>
              </a:rPr>
              <a:t>其他：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73440D2-BD7D-4EE0-DCDE-0B440339F6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3503" y="2402038"/>
            <a:ext cx="9874867" cy="2986391"/>
          </a:xfrm>
        </p:spPr>
        <p:txBody>
          <a:bodyPr>
            <a:noAutofit/>
          </a:bodyPr>
          <a:lstStyle/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TW" altLang="zh-TW" b="1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硬體架構：</a:t>
            </a:r>
            <a:r>
              <a:rPr lang="zh-TW" altLang="zh-TW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感測器供電來自</a:t>
            </a:r>
            <a:r>
              <a:rPr lang="en-US" altLang="zh-TW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 ESP8266</a:t>
            </a:r>
            <a:r>
              <a:rPr lang="zh-TW" altLang="zh-TW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；使用</a:t>
            </a:r>
            <a:r>
              <a:rPr lang="en-US" altLang="zh-TW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 I2C </a:t>
            </a:r>
            <a:r>
              <a:rPr lang="zh-TW" altLang="zh-TW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通訊協定。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TW" altLang="zh-TW" b="1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軟體平台：</a:t>
            </a:r>
            <a:r>
              <a:rPr lang="zh-TW" altLang="zh-TW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使用</a:t>
            </a:r>
            <a:r>
              <a:rPr lang="en-US" altLang="zh-TW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 Blynk App </a:t>
            </a:r>
            <a:r>
              <a:rPr lang="zh-TW" altLang="zh-TW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作為</a:t>
            </a:r>
            <a:r>
              <a:rPr lang="en-US" altLang="zh-TW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 IoT </a:t>
            </a:r>
            <a:r>
              <a:rPr lang="zh-TW" altLang="zh-TW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平台，顯示</a:t>
            </a:r>
            <a:r>
              <a:rPr lang="en-US" altLang="zh-TW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 X</a:t>
            </a:r>
            <a:r>
              <a:rPr lang="zh-TW" altLang="zh-TW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、</a:t>
            </a:r>
            <a:r>
              <a:rPr lang="en-US" altLang="zh-TW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Y</a:t>
            </a:r>
            <a:r>
              <a:rPr lang="zh-TW" altLang="zh-TW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、</a:t>
            </a:r>
            <a:r>
              <a:rPr lang="en-US" altLang="zh-TW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Z </a:t>
            </a:r>
            <a:r>
              <a:rPr lang="zh-TW" altLang="zh-TW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軸的角度資訊。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TW" altLang="zh-TW" b="1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測試方式：</a:t>
            </a:r>
            <a:endParaRPr lang="zh-TW" altLang="zh-TW" kern="100" dirty="0">
              <a:effectLst/>
              <a:latin typeface="Aptos" panose="020B000402020202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zh-TW" altLang="zh-TW" sz="2000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使用</a:t>
            </a:r>
            <a:r>
              <a:rPr lang="en-US" altLang="zh-TW" sz="2000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 Goniometer</a:t>
            </a:r>
            <a:r>
              <a:rPr lang="zh-TW" altLang="zh-TW" sz="2000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（測角器）驗證角度準確性。</a:t>
            </a:r>
          </a:p>
          <a:p>
            <a:pPr marL="74295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zh-TW" altLang="zh-TW" sz="2000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進行靜態與動態測試（板子旋轉</a:t>
            </a:r>
            <a:r>
              <a:rPr lang="en-US" altLang="zh-TW" sz="2000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360</a:t>
            </a:r>
            <a:r>
              <a:rPr lang="zh-TW" altLang="zh-TW" sz="2000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度）。</a:t>
            </a:r>
          </a:p>
        </p:txBody>
      </p:sp>
    </p:spTree>
    <p:extLst>
      <p:ext uri="{BB962C8B-B14F-4D97-AF65-F5344CB8AC3E}">
        <p14:creationId xmlns:p14="http://schemas.microsoft.com/office/powerpoint/2010/main" val="7179552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042E603F-28B7-4831-BF23-65FBAB13D5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4D39700F-2B10-4402-A7DD-06EE224588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232968"/>
            <a:ext cx="9560477" cy="6625032"/>
          </a:xfrm>
          <a:custGeom>
            <a:avLst/>
            <a:gdLst>
              <a:gd name="connsiteX0" fmla="*/ 8831314 w 9263816"/>
              <a:gd name="connsiteY0" fmla="*/ 5943878 h 6858000"/>
              <a:gd name="connsiteX1" fmla="*/ 9179783 w 9263816"/>
              <a:gd name="connsiteY1" fmla="*/ 6086141 h 6858000"/>
              <a:gd name="connsiteX2" fmla="*/ 9260887 w 9263816"/>
              <a:gd name="connsiteY2" fmla="*/ 6279156 h 6858000"/>
              <a:gd name="connsiteX3" fmla="*/ 8925621 w 9263816"/>
              <a:gd name="connsiteY3" fmla="*/ 6708712 h 6858000"/>
              <a:gd name="connsiteX4" fmla="*/ 8496050 w 9263816"/>
              <a:gd name="connsiteY4" fmla="*/ 6373449 h 6858000"/>
              <a:gd name="connsiteX5" fmla="*/ 8831314 w 9263816"/>
              <a:gd name="connsiteY5" fmla="*/ 5943878 h 6858000"/>
              <a:gd name="connsiteX6" fmla="*/ 7397485 w 9263816"/>
              <a:gd name="connsiteY6" fmla="*/ 5931706 h 6858000"/>
              <a:gd name="connsiteX7" fmla="*/ 7917779 w 9263816"/>
              <a:gd name="connsiteY7" fmla="*/ 6191864 h 6858000"/>
              <a:gd name="connsiteX8" fmla="*/ 8013467 w 9263816"/>
              <a:gd name="connsiteY8" fmla="*/ 6375784 h 6858000"/>
              <a:gd name="connsiteX9" fmla="*/ 8021879 w 9263816"/>
              <a:gd name="connsiteY9" fmla="*/ 6753751 h 6858000"/>
              <a:gd name="connsiteX10" fmla="*/ 7981316 w 9263816"/>
              <a:gd name="connsiteY10" fmla="*/ 6858000 h 6858000"/>
              <a:gd name="connsiteX11" fmla="*/ 6819486 w 9263816"/>
              <a:gd name="connsiteY11" fmla="*/ 6858000 h 6858000"/>
              <a:gd name="connsiteX12" fmla="*/ 6785199 w 9263816"/>
              <a:gd name="connsiteY12" fmla="*/ 6781101 h 6858000"/>
              <a:gd name="connsiteX13" fmla="*/ 7196747 w 9263816"/>
              <a:gd name="connsiteY13" fmla="*/ 5964309 h 6858000"/>
              <a:gd name="connsiteX14" fmla="*/ 7397485 w 9263816"/>
              <a:gd name="connsiteY14" fmla="*/ 5931706 h 6858000"/>
              <a:gd name="connsiteX15" fmla="*/ 1505570 w 9263816"/>
              <a:gd name="connsiteY15" fmla="*/ 227178 h 6858000"/>
              <a:gd name="connsiteX16" fmla="*/ 2026489 w 9263816"/>
              <a:gd name="connsiteY16" fmla="*/ 392370 h 6858000"/>
              <a:gd name="connsiteX17" fmla="*/ 2444553 w 9263816"/>
              <a:gd name="connsiteY17" fmla="*/ 1654853 h 6858000"/>
              <a:gd name="connsiteX18" fmla="*/ 3183153 w 9263816"/>
              <a:gd name="connsiteY18" fmla="*/ 2116208 h 6858000"/>
              <a:gd name="connsiteX19" fmla="*/ 4288384 w 9263816"/>
              <a:gd name="connsiteY19" fmla="*/ 1291908 h 6858000"/>
              <a:gd name="connsiteX20" fmla="*/ 5472602 w 9263816"/>
              <a:gd name="connsiteY20" fmla="*/ 1697818 h 6858000"/>
              <a:gd name="connsiteX21" fmla="*/ 5844697 w 9263816"/>
              <a:gd name="connsiteY21" fmla="*/ 3444791 h 6858000"/>
              <a:gd name="connsiteX22" fmla="*/ 6715674 w 9263816"/>
              <a:gd name="connsiteY22" fmla="*/ 4065208 h 6858000"/>
              <a:gd name="connsiteX23" fmla="*/ 8130429 w 9263816"/>
              <a:gd name="connsiteY23" fmla="*/ 4101787 h 6858000"/>
              <a:gd name="connsiteX24" fmla="*/ 8624630 w 9263816"/>
              <a:gd name="connsiteY24" fmla="*/ 4686202 h 6858000"/>
              <a:gd name="connsiteX25" fmla="*/ 8623843 w 9263816"/>
              <a:gd name="connsiteY25" fmla="*/ 4685749 h 6858000"/>
              <a:gd name="connsiteX26" fmla="*/ 8646859 w 9263816"/>
              <a:gd name="connsiteY26" fmla="*/ 4835156 h 6858000"/>
              <a:gd name="connsiteX27" fmla="*/ 8079403 w 9263816"/>
              <a:gd name="connsiteY27" fmla="*/ 5661624 h 6858000"/>
              <a:gd name="connsiteX28" fmla="*/ 6833105 w 9263816"/>
              <a:gd name="connsiteY28" fmla="*/ 5397208 h 6858000"/>
              <a:gd name="connsiteX29" fmla="*/ 5900832 w 9263816"/>
              <a:gd name="connsiteY29" fmla="*/ 5944462 h 6858000"/>
              <a:gd name="connsiteX30" fmla="*/ 6067212 w 9263816"/>
              <a:gd name="connsiteY30" fmla="*/ 6811916 h 6858000"/>
              <a:gd name="connsiteX31" fmla="*/ 6089565 w 9263816"/>
              <a:gd name="connsiteY31" fmla="*/ 6858000 h 6858000"/>
              <a:gd name="connsiteX32" fmla="*/ 0 w 9263816"/>
              <a:gd name="connsiteY32" fmla="*/ 6858000 h 6858000"/>
              <a:gd name="connsiteX33" fmla="*/ 0 w 9263816"/>
              <a:gd name="connsiteY33" fmla="*/ 2181377 h 6858000"/>
              <a:gd name="connsiteX34" fmla="*/ 73069 w 9263816"/>
              <a:gd name="connsiteY34" fmla="*/ 2215839 h 6858000"/>
              <a:gd name="connsiteX35" fmla="*/ 335445 w 9263816"/>
              <a:gd name="connsiteY35" fmla="*/ 2237140 h 6858000"/>
              <a:gd name="connsiteX36" fmla="*/ 752878 w 9263816"/>
              <a:gd name="connsiteY36" fmla="*/ 1445285 h 6858000"/>
              <a:gd name="connsiteX37" fmla="*/ 1202551 w 9263816"/>
              <a:gd name="connsiteY37" fmla="*/ 314229 h 6858000"/>
              <a:gd name="connsiteX38" fmla="*/ 1505570 w 9263816"/>
              <a:gd name="connsiteY38" fmla="*/ 227178 h 6858000"/>
              <a:gd name="connsiteX39" fmla="*/ 3142509 w 9263816"/>
              <a:gd name="connsiteY39" fmla="*/ 68854 h 6858000"/>
              <a:gd name="connsiteX40" fmla="*/ 3490978 w 9263816"/>
              <a:gd name="connsiteY40" fmla="*/ 211117 h 6858000"/>
              <a:gd name="connsiteX41" fmla="*/ 3572083 w 9263816"/>
              <a:gd name="connsiteY41" fmla="*/ 404131 h 6858000"/>
              <a:gd name="connsiteX42" fmla="*/ 3236814 w 9263816"/>
              <a:gd name="connsiteY42" fmla="*/ 833688 h 6858000"/>
              <a:gd name="connsiteX43" fmla="*/ 2807245 w 9263816"/>
              <a:gd name="connsiteY43" fmla="*/ 498425 h 6858000"/>
              <a:gd name="connsiteX44" fmla="*/ 3142509 w 9263816"/>
              <a:gd name="connsiteY44" fmla="*/ 68854 h 6858000"/>
              <a:gd name="connsiteX45" fmla="*/ 0 w 9263816"/>
              <a:gd name="connsiteY45" fmla="*/ 0 h 6858000"/>
              <a:gd name="connsiteX46" fmla="*/ 39858 w 9263816"/>
              <a:gd name="connsiteY46" fmla="*/ 0 h 6858000"/>
              <a:gd name="connsiteX47" fmla="*/ 65022 w 9263816"/>
              <a:gd name="connsiteY47" fmla="*/ 5834 h 6858000"/>
              <a:gd name="connsiteX48" fmla="*/ 389258 w 9263816"/>
              <a:gd name="connsiteY48" fmla="*/ 235630 h 6858000"/>
              <a:gd name="connsiteX49" fmla="*/ 485484 w 9263816"/>
              <a:gd name="connsiteY49" fmla="*/ 420070 h 6858000"/>
              <a:gd name="connsiteX50" fmla="*/ 74229 w 9263816"/>
              <a:gd name="connsiteY50" fmla="*/ 1237955 h 6858000"/>
              <a:gd name="connsiteX51" fmla="*/ 0 w 9263816"/>
              <a:gd name="connsiteY51" fmla="*/ 125447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9263816" h="6858000">
                <a:moveTo>
                  <a:pt x="8831314" y="5943878"/>
                </a:moveTo>
                <a:cubicBezTo>
                  <a:pt x="8964281" y="5927490"/>
                  <a:pt x="9096260" y="5981362"/>
                  <a:pt x="9179783" y="6086141"/>
                </a:cubicBezTo>
                <a:cubicBezTo>
                  <a:pt x="9224074" y="6141769"/>
                  <a:pt x="9252211" y="6208560"/>
                  <a:pt x="9260887" y="6279156"/>
                </a:cubicBezTo>
                <a:cubicBezTo>
                  <a:pt x="9286897" y="6490362"/>
                  <a:pt x="9136845" y="6682672"/>
                  <a:pt x="8925621" y="6708712"/>
                </a:cubicBezTo>
                <a:cubicBezTo>
                  <a:pt x="8714398" y="6734766"/>
                  <a:pt x="8522062" y="6584655"/>
                  <a:pt x="8496050" y="6373449"/>
                </a:cubicBezTo>
                <a:cubicBezTo>
                  <a:pt x="8470038" y="6162229"/>
                  <a:pt x="8620090" y="5969920"/>
                  <a:pt x="8831314" y="5943878"/>
                </a:cubicBezTo>
                <a:close/>
                <a:moveTo>
                  <a:pt x="7397485" y="5931706"/>
                </a:moveTo>
                <a:cubicBezTo>
                  <a:pt x="7598431" y="5931157"/>
                  <a:pt x="7792965" y="6024548"/>
                  <a:pt x="7917779" y="6191864"/>
                </a:cubicBezTo>
                <a:cubicBezTo>
                  <a:pt x="7959204" y="6247714"/>
                  <a:pt x="7991530" y="6309792"/>
                  <a:pt x="8013467" y="6375784"/>
                </a:cubicBezTo>
                <a:cubicBezTo>
                  <a:pt x="8055425" y="6502973"/>
                  <a:pt x="8055748" y="6633888"/>
                  <a:pt x="8021879" y="6753751"/>
                </a:cubicBezTo>
                <a:lnTo>
                  <a:pt x="7981316" y="6858000"/>
                </a:lnTo>
                <a:lnTo>
                  <a:pt x="6819486" y="6858000"/>
                </a:lnTo>
                <a:lnTo>
                  <a:pt x="6785199" y="6781101"/>
                </a:lnTo>
                <a:cubicBezTo>
                  <a:pt x="6673307" y="6441922"/>
                  <a:pt x="6857485" y="6076251"/>
                  <a:pt x="7196747" y="5964309"/>
                </a:cubicBezTo>
                <a:cubicBezTo>
                  <a:pt x="7262809" y="5942509"/>
                  <a:pt x="7330503" y="5931889"/>
                  <a:pt x="7397485" y="5931706"/>
                </a:cubicBezTo>
                <a:close/>
                <a:moveTo>
                  <a:pt x="1505570" y="227178"/>
                </a:moveTo>
                <a:cubicBezTo>
                  <a:pt x="1691018" y="218628"/>
                  <a:pt x="1889853" y="275403"/>
                  <a:pt x="2026489" y="392370"/>
                </a:cubicBezTo>
                <a:cubicBezTo>
                  <a:pt x="2369898" y="685965"/>
                  <a:pt x="2078266" y="1147857"/>
                  <a:pt x="2444553" y="1654853"/>
                </a:cubicBezTo>
                <a:cubicBezTo>
                  <a:pt x="2492906" y="1721679"/>
                  <a:pt x="2800482" y="2144546"/>
                  <a:pt x="3183153" y="2116208"/>
                </a:cubicBezTo>
                <a:cubicBezTo>
                  <a:pt x="3673561" y="2080541"/>
                  <a:pt x="3723222" y="1441614"/>
                  <a:pt x="4288384" y="1291908"/>
                </a:cubicBezTo>
                <a:cubicBezTo>
                  <a:pt x="4689065" y="1185875"/>
                  <a:pt x="5207943" y="1366633"/>
                  <a:pt x="5472602" y="1697818"/>
                </a:cubicBezTo>
                <a:cubicBezTo>
                  <a:pt x="5891294" y="2221754"/>
                  <a:pt x="5408012" y="2790179"/>
                  <a:pt x="5844697" y="3444791"/>
                </a:cubicBezTo>
                <a:cubicBezTo>
                  <a:pt x="6149900" y="3902467"/>
                  <a:pt x="6672672" y="4053594"/>
                  <a:pt x="6715674" y="4065208"/>
                </a:cubicBezTo>
                <a:cubicBezTo>
                  <a:pt x="7326423" y="4232519"/>
                  <a:pt x="7677158" y="3817020"/>
                  <a:pt x="8130429" y="4101787"/>
                </a:cubicBezTo>
                <a:cubicBezTo>
                  <a:pt x="8226340" y="4161985"/>
                  <a:pt x="8536372" y="4356819"/>
                  <a:pt x="8624630" y="4686202"/>
                </a:cubicBezTo>
                <a:lnTo>
                  <a:pt x="8623843" y="4685749"/>
                </a:lnTo>
                <a:cubicBezTo>
                  <a:pt x="8636924" y="4734567"/>
                  <a:pt x="8644635" y="4784678"/>
                  <a:pt x="8646859" y="4835156"/>
                </a:cubicBezTo>
                <a:cubicBezTo>
                  <a:pt x="8662596" y="5196604"/>
                  <a:pt x="8398383" y="5562326"/>
                  <a:pt x="8079403" y="5661624"/>
                </a:cubicBezTo>
                <a:cubicBezTo>
                  <a:pt x="7649807" y="5795217"/>
                  <a:pt x="7430996" y="5350293"/>
                  <a:pt x="6833105" y="5397208"/>
                </a:cubicBezTo>
                <a:cubicBezTo>
                  <a:pt x="6519033" y="5421527"/>
                  <a:pt x="6056658" y="5595550"/>
                  <a:pt x="5900832" y="5944462"/>
                </a:cubicBezTo>
                <a:cubicBezTo>
                  <a:pt x="5770548" y="6236600"/>
                  <a:pt x="5916359" y="6515160"/>
                  <a:pt x="6067212" y="6811916"/>
                </a:cubicBezTo>
                <a:lnTo>
                  <a:pt x="6089565" y="6858000"/>
                </a:lnTo>
                <a:lnTo>
                  <a:pt x="0" y="6858000"/>
                </a:lnTo>
                <a:lnTo>
                  <a:pt x="0" y="2181377"/>
                </a:lnTo>
                <a:lnTo>
                  <a:pt x="73069" y="2215839"/>
                </a:lnTo>
                <a:cubicBezTo>
                  <a:pt x="165116" y="2251829"/>
                  <a:pt x="254486" y="2263171"/>
                  <a:pt x="335445" y="2237140"/>
                </a:cubicBezTo>
                <a:cubicBezTo>
                  <a:pt x="594718" y="2153707"/>
                  <a:pt x="688441" y="1733807"/>
                  <a:pt x="752878" y="1445285"/>
                </a:cubicBezTo>
                <a:cubicBezTo>
                  <a:pt x="925059" y="674068"/>
                  <a:pt x="975076" y="456292"/>
                  <a:pt x="1202551" y="314229"/>
                </a:cubicBezTo>
                <a:cubicBezTo>
                  <a:pt x="1287853" y="260956"/>
                  <a:pt x="1394302" y="232308"/>
                  <a:pt x="1505570" y="227178"/>
                </a:cubicBezTo>
                <a:close/>
                <a:moveTo>
                  <a:pt x="3142509" y="68854"/>
                </a:moveTo>
                <a:cubicBezTo>
                  <a:pt x="3275474" y="52467"/>
                  <a:pt x="3407455" y="106339"/>
                  <a:pt x="3490978" y="211117"/>
                </a:cubicBezTo>
                <a:cubicBezTo>
                  <a:pt x="3535271" y="266744"/>
                  <a:pt x="3563404" y="333535"/>
                  <a:pt x="3572083" y="404131"/>
                </a:cubicBezTo>
                <a:cubicBezTo>
                  <a:pt x="3598092" y="615337"/>
                  <a:pt x="3448040" y="807648"/>
                  <a:pt x="3236814" y="833688"/>
                </a:cubicBezTo>
                <a:cubicBezTo>
                  <a:pt x="3025594" y="859741"/>
                  <a:pt x="2833255" y="709631"/>
                  <a:pt x="2807245" y="498425"/>
                </a:cubicBezTo>
                <a:cubicBezTo>
                  <a:pt x="2781232" y="287207"/>
                  <a:pt x="2931283" y="94896"/>
                  <a:pt x="3142509" y="68854"/>
                </a:cubicBezTo>
                <a:close/>
                <a:moveTo>
                  <a:pt x="0" y="0"/>
                </a:moveTo>
                <a:lnTo>
                  <a:pt x="39858" y="0"/>
                </a:lnTo>
                <a:lnTo>
                  <a:pt x="65022" y="5834"/>
                </a:lnTo>
                <a:cubicBezTo>
                  <a:pt x="191545" y="45606"/>
                  <a:pt x="305874" y="124173"/>
                  <a:pt x="389258" y="235630"/>
                </a:cubicBezTo>
                <a:cubicBezTo>
                  <a:pt x="430983" y="291600"/>
                  <a:pt x="463360" y="353876"/>
                  <a:pt x="485484" y="420070"/>
                </a:cubicBezTo>
                <a:cubicBezTo>
                  <a:pt x="597711" y="759508"/>
                  <a:pt x="413661" y="1125662"/>
                  <a:pt x="74229" y="1237955"/>
                </a:cubicBezTo>
                <a:lnTo>
                  <a:pt x="0" y="1254477"/>
                </a:lnTo>
                <a:close/>
              </a:path>
            </a:pathLst>
          </a:custGeom>
          <a:solidFill>
            <a:schemeClr val="bg1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27" name="Background Fill">
            <a:extLst>
              <a:ext uri="{FF2B5EF4-FFF2-40B4-BE49-F238E27FC236}">
                <a16:creationId xmlns:a16="http://schemas.microsoft.com/office/drawing/2014/main" id="{6DA65B90-7B06-4499-91BA-CDDD361324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96868F2-FC80-4334-887B-7DB3103A73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7EF79062-B5BB-45DF-810C-95A324A9D6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0" y="2140699"/>
            <a:ext cx="12192000" cy="4717301"/>
          </a:xfrm>
          <a:custGeom>
            <a:avLst/>
            <a:gdLst>
              <a:gd name="connsiteX0" fmla="*/ 8930642 w 12192000"/>
              <a:gd name="connsiteY0" fmla="*/ 4273734 h 4717301"/>
              <a:gd name="connsiteX1" fmla="*/ 9143134 w 12192000"/>
              <a:gd name="connsiteY1" fmla="*/ 4396362 h 4717301"/>
              <a:gd name="connsiteX2" fmla="*/ 9043549 w 12192000"/>
              <a:gd name="connsiteY2" fmla="*/ 4693978 h 4717301"/>
              <a:gd name="connsiteX3" fmla="*/ 8745984 w 12192000"/>
              <a:gd name="connsiteY3" fmla="*/ 4594249 h 4717301"/>
              <a:gd name="connsiteX4" fmla="*/ 8845568 w 12192000"/>
              <a:gd name="connsiteY4" fmla="*/ 4296634 h 4717301"/>
              <a:gd name="connsiteX5" fmla="*/ 8930642 w 12192000"/>
              <a:gd name="connsiteY5" fmla="*/ 4273734 h 4717301"/>
              <a:gd name="connsiteX6" fmla="*/ 9842642 w 12192000"/>
              <a:gd name="connsiteY6" fmla="*/ 3718743 h 4717301"/>
              <a:gd name="connsiteX7" fmla="*/ 10272210 w 12192000"/>
              <a:gd name="connsiteY7" fmla="*/ 3966645 h 4717301"/>
              <a:gd name="connsiteX8" fmla="*/ 10070896 w 12192000"/>
              <a:gd name="connsiteY8" fmla="*/ 4568292 h 4717301"/>
              <a:gd name="connsiteX9" fmla="*/ 9469346 w 12192000"/>
              <a:gd name="connsiteY9" fmla="*/ 4366686 h 4717301"/>
              <a:gd name="connsiteX10" fmla="*/ 9670660 w 12192000"/>
              <a:gd name="connsiteY10" fmla="*/ 3765038 h 4717301"/>
              <a:gd name="connsiteX11" fmla="*/ 9842642 w 12192000"/>
              <a:gd name="connsiteY11" fmla="*/ 3718743 h 4717301"/>
              <a:gd name="connsiteX12" fmla="*/ 0 w 12192000"/>
              <a:gd name="connsiteY12" fmla="*/ 0 h 4717301"/>
              <a:gd name="connsiteX13" fmla="*/ 12192000 w 12192000"/>
              <a:gd name="connsiteY13" fmla="*/ 0 h 4717301"/>
              <a:gd name="connsiteX14" fmla="*/ 12192000 w 12192000"/>
              <a:gd name="connsiteY14" fmla="*/ 3369891 h 4717301"/>
              <a:gd name="connsiteX15" fmla="*/ 12124015 w 12192000"/>
              <a:gd name="connsiteY15" fmla="*/ 3410713 h 4717301"/>
              <a:gd name="connsiteX16" fmla="*/ 11077457 w 12192000"/>
              <a:gd name="connsiteY16" fmla="*/ 3501725 h 4717301"/>
              <a:gd name="connsiteX17" fmla="*/ 9867246 w 12192000"/>
              <a:gd name="connsiteY17" fmla="*/ 3351592 h 4717301"/>
              <a:gd name="connsiteX18" fmla="*/ 8994802 w 12192000"/>
              <a:gd name="connsiteY18" fmla="*/ 3878378 h 4717301"/>
              <a:gd name="connsiteX19" fmla="*/ 6994655 w 12192000"/>
              <a:gd name="connsiteY19" fmla="*/ 4335637 h 4717301"/>
              <a:gd name="connsiteX20" fmla="*/ 6287534 w 12192000"/>
              <a:gd name="connsiteY20" fmla="*/ 3714199 h 4717301"/>
              <a:gd name="connsiteX21" fmla="*/ 4392596 w 12192000"/>
              <a:gd name="connsiteY21" fmla="*/ 3392344 h 4717301"/>
              <a:gd name="connsiteX22" fmla="*/ 3014500 w 12192000"/>
              <a:gd name="connsiteY22" fmla="*/ 4100222 h 4717301"/>
              <a:gd name="connsiteX23" fmla="*/ 86414 w 12192000"/>
              <a:gd name="connsiteY23" fmla="*/ 3903305 h 4717301"/>
              <a:gd name="connsiteX24" fmla="*/ 0 w 12192000"/>
              <a:gd name="connsiteY24" fmla="*/ 3840566 h 47173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12192000" h="4717301">
                <a:moveTo>
                  <a:pt x="8930642" y="4273734"/>
                </a:moveTo>
                <a:cubicBezTo>
                  <a:pt x="9016941" y="4268381"/>
                  <a:pt x="9102130" y="4314070"/>
                  <a:pt x="9143134" y="4396362"/>
                </a:cubicBezTo>
                <a:cubicBezTo>
                  <a:pt x="9197806" y="4506087"/>
                  <a:pt x="9153221" y="4639333"/>
                  <a:pt x="9043549" y="4693978"/>
                </a:cubicBezTo>
                <a:cubicBezTo>
                  <a:pt x="8933879" y="4748622"/>
                  <a:pt x="8800655" y="4703973"/>
                  <a:pt x="8745984" y="4594249"/>
                </a:cubicBezTo>
                <a:cubicBezTo>
                  <a:pt x="8691311" y="4484525"/>
                  <a:pt x="8735897" y="4351279"/>
                  <a:pt x="8845568" y="4296634"/>
                </a:cubicBezTo>
                <a:cubicBezTo>
                  <a:pt x="8872986" y="4282973"/>
                  <a:pt x="8901875" y="4275517"/>
                  <a:pt x="8930642" y="4273734"/>
                </a:cubicBezTo>
                <a:close/>
                <a:moveTo>
                  <a:pt x="9842642" y="3718743"/>
                </a:moveTo>
                <a:cubicBezTo>
                  <a:pt x="10017101" y="3707923"/>
                  <a:pt x="10189318" y="3800286"/>
                  <a:pt x="10272210" y="3966645"/>
                </a:cubicBezTo>
                <a:cubicBezTo>
                  <a:pt x="10382732" y="4188458"/>
                  <a:pt x="10292600" y="4457825"/>
                  <a:pt x="10070896" y="4568292"/>
                </a:cubicBezTo>
                <a:cubicBezTo>
                  <a:pt x="9849191" y="4678760"/>
                  <a:pt x="9579867" y="4588498"/>
                  <a:pt x="9469346" y="4366686"/>
                </a:cubicBezTo>
                <a:cubicBezTo>
                  <a:pt x="9358824" y="4144873"/>
                  <a:pt x="9448956" y="3875506"/>
                  <a:pt x="9670660" y="3765038"/>
                </a:cubicBezTo>
                <a:cubicBezTo>
                  <a:pt x="9726087" y="3737421"/>
                  <a:pt x="9784490" y="3722349"/>
                  <a:pt x="9842642" y="3718743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3369891"/>
                </a:lnTo>
                <a:lnTo>
                  <a:pt x="12124015" y="3410713"/>
                </a:lnTo>
                <a:cubicBezTo>
                  <a:pt x="11792041" y="3581538"/>
                  <a:pt x="11443617" y="3577252"/>
                  <a:pt x="11077457" y="3501725"/>
                </a:cubicBezTo>
                <a:cubicBezTo>
                  <a:pt x="10679189" y="3419860"/>
                  <a:pt x="10271734" y="3358281"/>
                  <a:pt x="9867246" y="3351592"/>
                </a:cubicBezTo>
                <a:cubicBezTo>
                  <a:pt x="9492336" y="3345611"/>
                  <a:pt x="9239136" y="3626329"/>
                  <a:pt x="8994802" y="3878378"/>
                </a:cubicBezTo>
                <a:cubicBezTo>
                  <a:pt x="8385954" y="4506678"/>
                  <a:pt x="7695268" y="4690742"/>
                  <a:pt x="6994655" y="4335637"/>
                </a:cubicBezTo>
                <a:cubicBezTo>
                  <a:pt x="6722938" y="4197922"/>
                  <a:pt x="6494843" y="3948626"/>
                  <a:pt x="6287534" y="3714199"/>
                </a:cubicBezTo>
                <a:cubicBezTo>
                  <a:pt x="5731733" y="3085491"/>
                  <a:pt x="5043559" y="3067499"/>
                  <a:pt x="4392596" y="3392344"/>
                </a:cubicBezTo>
                <a:cubicBezTo>
                  <a:pt x="3930423" y="3623867"/>
                  <a:pt x="3492022" y="3908604"/>
                  <a:pt x="3014500" y="4100222"/>
                </a:cubicBezTo>
                <a:cubicBezTo>
                  <a:pt x="1977820" y="4518409"/>
                  <a:pt x="973242" y="4499486"/>
                  <a:pt x="86414" y="3903305"/>
                </a:cubicBezTo>
                <a:lnTo>
                  <a:pt x="0" y="384056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1DF60D0D-5C1F-E1C9-18F3-4A29CCB95D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8878" y="721120"/>
            <a:ext cx="10063922" cy="5030456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TW" sz="3000" dirty="0">
                <a:latin typeface="Microsoft JhengHei"/>
                <a:ea typeface="Microsoft JhengHei"/>
                <a:cs typeface="+mj-lt"/>
              </a:rPr>
              <a:t>111611038</a:t>
            </a:r>
            <a:r>
              <a:rPr lang="zh-TW" altLang="en-US" sz="3000" dirty="0">
                <a:latin typeface="Microsoft JhengHei"/>
                <a:ea typeface="Microsoft JhengHei"/>
                <a:cs typeface="+mj-lt"/>
              </a:rPr>
              <a:t>陳千睿</a:t>
            </a:r>
            <a:br>
              <a:rPr lang="zh-TW" altLang="en-US" sz="3000" dirty="0">
                <a:latin typeface="Microsoft JhengHei"/>
                <a:ea typeface="Microsoft JhengHei"/>
                <a:cs typeface="+mj-lt"/>
              </a:rPr>
            </a:br>
            <a:br>
              <a:rPr lang="en-US" altLang="zh-TW" sz="3000" dirty="0">
                <a:latin typeface="Microsoft JhengHei"/>
                <a:ea typeface="Microsoft JhengHei"/>
                <a:cs typeface="+mj-lt"/>
              </a:rPr>
            </a:br>
            <a:r>
              <a:rPr lang="en-US" altLang="zh-TW" sz="3000" dirty="0">
                <a:latin typeface="Microsoft JhengHei"/>
                <a:ea typeface="Microsoft JhengHei"/>
                <a:cs typeface="+mj-lt"/>
              </a:rPr>
              <a:t>Paper:</a:t>
            </a:r>
            <a:br>
              <a:rPr lang="zh-TW" altLang="en-US" sz="3000" dirty="0">
                <a:latin typeface="Microsoft JhengHei"/>
                <a:ea typeface="Microsoft JhengHei"/>
                <a:cs typeface="+mj-lt"/>
              </a:rPr>
            </a:br>
            <a:r>
              <a:rPr lang="en-US" altLang="zh-TW" sz="3000" dirty="0">
                <a:latin typeface="Microsoft JhengHei"/>
                <a:ea typeface="Microsoft JhengHei"/>
                <a:cs typeface="+mj-lt"/>
              </a:rPr>
              <a:t>Using of Measuring System MPU6050 for the</a:t>
            </a:r>
            <a:br>
              <a:rPr lang="zh-TW" altLang="en-US" sz="3000" dirty="0">
                <a:latin typeface="Microsoft JhengHei"/>
                <a:ea typeface="Microsoft JhengHei"/>
              </a:rPr>
            </a:br>
            <a:r>
              <a:rPr lang="en-US" altLang="zh-TW" sz="3000" dirty="0">
                <a:latin typeface="Microsoft JhengHei"/>
                <a:ea typeface="Microsoft JhengHei"/>
                <a:cs typeface="+mj-lt"/>
              </a:rPr>
              <a:t>Determination of the Angular Velocities and</a:t>
            </a:r>
            <a:br>
              <a:rPr lang="zh-TW" altLang="en-US" sz="3000" dirty="0">
                <a:latin typeface="Microsoft JhengHei"/>
                <a:ea typeface="Microsoft JhengHei"/>
              </a:rPr>
            </a:br>
            <a:r>
              <a:rPr lang="en-US" altLang="zh-TW" sz="3000" dirty="0">
                <a:latin typeface="Microsoft JhengHei"/>
                <a:ea typeface="Microsoft JhengHei"/>
                <a:cs typeface="+mj-lt"/>
              </a:rPr>
              <a:t>Linear Accelerations</a:t>
            </a:r>
            <a:br>
              <a:rPr lang="en-US" altLang="zh-TW" sz="3000" dirty="0">
                <a:latin typeface="Microsoft JhengHei"/>
                <a:ea typeface="Microsoft JhengHei"/>
                <a:cs typeface="+mj-lt"/>
              </a:rPr>
            </a:br>
            <a:endParaRPr lang="zh-TW" altLang="zh-TW" sz="3000" kern="100" dirty="0">
              <a:effectLst/>
              <a:latin typeface="Aptos" panose="020B000402020202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09119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3F6713B-9E2B-8F09-7FCA-AAF33B6B32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517" y="759555"/>
            <a:ext cx="10972800" cy="618488"/>
          </a:xfrm>
        </p:spPr>
        <p:txBody>
          <a:bodyPr>
            <a:norm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zh-TW" altLang="en-US" sz="2800" b="1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應用</a:t>
            </a:r>
            <a:endParaRPr lang="zh-TW" altLang="zh-TW" sz="2800" b="1" kern="100" dirty="0">
              <a:effectLst/>
              <a:latin typeface="Aptos" panose="020B000402020202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0C636AE-213D-3814-D93F-6B711E32AF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2881" y="2061911"/>
            <a:ext cx="9753976" cy="4036534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zh-TW" altLang="en-US" sz="2600" dirty="0">
                <a:latin typeface="Microsoft JhengHei"/>
                <a:ea typeface="Microsoft JhengHei"/>
                <a:cs typeface="+mn-lt"/>
              </a:rPr>
              <a:t>量測加速度與角速度，並將角速度對時間積分，得到角度，得知目前的角度，追蹤人體在空間中的移動狀態。 </a:t>
            </a:r>
            <a:endParaRPr lang="zh-TW" altLang="en-US" sz="2600" dirty="0">
              <a:latin typeface="Microsoft JhengHei"/>
              <a:ea typeface="Microsoft JhengHei"/>
            </a:endParaRPr>
          </a:p>
          <a:p>
            <a:pPr>
              <a:lnSpc>
                <a:spcPct val="150000"/>
              </a:lnSpc>
            </a:pPr>
            <a:r>
              <a:rPr lang="zh-TW" altLang="en-US" sz="2600" dirty="0">
                <a:latin typeface="Microsoft JhengHei"/>
                <a:ea typeface="Microsoft JhengHei"/>
                <a:cs typeface="+mn-lt"/>
              </a:rPr>
              <a:t>問題：</a:t>
            </a:r>
          </a:p>
          <a:p>
            <a:pPr>
              <a:lnSpc>
                <a:spcPct val="150000"/>
              </a:lnSpc>
            </a:pPr>
            <a:r>
              <a:rPr lang="zh-TW" altLang="en-US" sz="2600" dirty="0">
                <a:latin typeface="Microsoft JhengHei"/>
                <a:ea typeface="Microsoft JhengHei"/>
                <a:cs typeface="+mn-lt"/>
              </a:rPr>
              <a:t>經過積分後，雜訊會放大，即使不動，角度也會逐漸改變 </a:t>
            </a:r>
            <a:r>
              <a:rPr lang="en-US" altLang="zh-TW" sz="2600" dirty="0">
                <a:latin typeface="Microsoft JhengHei"/>
                <a:ea typeface="Microsoft JhengHei"/>
                <a:cs typeface="+mn-lt"/>
              </a:rPr>
              <a:t>(zero drift)</a:t>
            </a:r>
            <a:r>
              <a:rPr lang="zh-TW" altLang="en-US" sz="2600" dirty="0">
                <a:latin typeface="Microsoft JhengHei"/>
                <a:ea typeface="Microsoft JhengHei"/>
                <a:cs typeface="+mn-lt"/>
              </a:rPr>
              <a:t>。可使用 </a:t>
            </a:r>
            <a:r>
              <a:rPr lang="en-US" altLang="zh-TW" sz="2600" dirty="0">
                <a:latin typeface="Microsoft JhengHei"/>
                <a:ea typeface="Microsoft JhengHei"/>
                <a:cs typeface="+mn-lt"/>
              </a:rPr>
              <a:t>alpha-beta filter </a:t>
            </a:r>
            <a:r>
              <a:rPr lang="zh-TW" altLang="en-US" sz="2600" dirty="0">
                <a:latin typeface="Microsoft JhengHei"/>
                <a:ea typeface="Microsoft JhengHei"/>
                <a:cs typeface="+mn-lt"/>
              </a:rPr>
              <a:t>或 </a:t>
            </a:r>
            <a:r>
              <a:rPr lang="en-US" altLang="zh-TW" sz="2600" dirty="0" err="1">
                <a:latin typeface="Microsoft JhengHei"/>
                <a:ea typeface="Microsoft JhengHei"/>
                <a:cs typeface="+mn-lt"/>
              </a:rPr>
              <a:t>Kalman</a:t>
            </a:r>
            <a:r>
              <a:rPr lang="en-US" altLang="zh-TW" sz="2600" dirty="0">
                <a:latin typeface="Microsoft JhengHei"/>
                <a:ea typeface="Microsoft JhengHei"/>
                <a:cs typeface="+mn-lt"/>
              </a:rPr>
              <a:t> filter </a:t>
            </a:r>
            <a:r>
              <a:rPr lang="zh-TW" altLang="en-US" sz="2600" dirty="0">
                <a:latin typeface="Microsoft JhengHei"/>
                <a:ea typeface="Microsoft JhengHei"/>
                <a:cs typeface="+mn-lt"/>
              </a:rPr>
              <a:t>減少雜訊造成的影響。</a:t>
            </a:r>
            <a:endParaRPr lang="zh-TW" altLang="en-US" sz="2600" dirty="0">
              <a:latin typeface="Microsoft JhengHei"/>
              <a:ea typeface="Microsoft JhengHei"/>
            </a:endParaRPr>
          </a:p>
        </p:txBody>
      </p:sp>
    </p:spTree>
    <p:extLst>
      <p:ext uri="{BB962C8B-B14F-4D97-AF65-F5344CB8AC3E}">
        <p14:creationId xmlns:p14="http://schemas.microsoft.com/office/powerpoint/2010/main" val="38047764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3F6713B-9E2B-8F09-7FCA-AAF33B6B32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517" y="759555"/>
            <a:ext cx="10972800" cy="618488"/>
          </a:xfrm>
        </p:spPr>
        <p:txBody>
          <a:bodyPr>
            <a:norm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zh-TW" altLang="en-US" sz="2800" b="1" kern="100" dirty="0"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工作原理</a:t>
            </a:r>
            <a:endParaRPr lang="zh-TW" altLang="zh-TW" sz="2800" b="1" kern="100" dirty="0">
              <a:effectLst/>
              <a:latin typeface="Aptos" panose="020B000402020202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0C636AE-213D-3814-D93F-6B711E32AF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2881" y="2061911"/>
            <a:ext cx="4874999" cy="4036534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TW" altLang="en-US" sz="2600" dirty="0">
                <a:latin typeface="Microsoft JhengHei"/>
                <a:ea typeface="Microsoft JhengHei"/>
                <a:cs typeface="+mn-lt"/>
              </a:rPr>
              <a:t>加速度：當有加速度時，質量塊會受力產生偏移，使靜電力改變，量測靜電力即可得知加速度量值。</a:t>
            </a:r>
            <a:endParaRPr lang="zh-TW" altLang="en-US" sz="2600" dirty="0">
              <a:latin typeface="Microsoft JhengHei"/>
              <a:ea typeface="Microsoft JhengHei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zh-TW" altLang="en-US" sz="2600" dirty="0">
              <a:latin typeface="Microsoft JhengHei"/>
              <a:ea typeface="Microsoft JhengHei"/>
              <a:cs typeface="+mn-lt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TW" altLang="en-US" sz="2600" dirty="0">
                <a:latin typeface="Microsoft JhengHei"/>
                <a:ea typeface="Microsoft JhengHei"/>
                <a:cs typeface="+mn-lt"/>
              </a:rPr>
              <a:t>角速度：當有角速度時，會有科氏力產生，讓內框架和外框架的距離改變，使電容值改變，量測電容值即可得知角速度量值。 </a:t>
            </a:r>
            <a:endParaRPr lang="zh-TW" altLang="en-US" sz="2600" dirty="0">
              <a:latin typeface="Microsoft JhengHei"/>
              <a:ea typeface="Microsoft JhengHei"/>
            </a:endParaRPr>
          </a:p>
        </p:txBody>
      </p:sp>
      <p:pic>
        <p:nvPicPr>
          <p:cNvPr id="4" name="圖片 3" descr="圖片">
            <a:extLst>
              <a:ext uri="{FF2B5EF4-FFF2-40B4-BE49-F238E27FC236}">
                <a16:creationId xmlns:a16="http://schemas.microsoft.com/office/drawing/2014/main" id="{3DE76B46-487B-628C-1262-8CAE93C428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4308" y="1201132"/>
            <a:ext cx="4846618" cy="4693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47764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3F6713B-9E2B-8F09-7FCA-AAF33B6B32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517" y="759555"/>
            <a:ext cx="10972800" cy="618488"/>
          </a:xfrm>
        </p:spPr>
        <p:txBody>
          <a:bodyPr>
            <a:norm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zh-TW" altLang="en-US" sz="2800" b="1" kern="1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量測表現</a:t>
            </a:r>
            <a:endParaRPr lang="zh-TW" altLang="zh-TW" sz="2800" b="1" kern="100" dirty="0">
              <a:effectLst/>
              <a:latin typeface="Aptos" panose="020B000402020202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0C636AE-213D-3814-D93F-6B711E32AF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2880" y="2061911"/>
            <a:ext cx="10233384" cy="4036534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zh-TW" altLang="en-US" sz="2800" dirty="0">
                <a:latin typeface="Microsoft JhengHei"/>
                <a:ea typeface="Microsoft JhengHei"/>
                <a:cs typeface="+mn-lt"/>
              </a:rPr>
              <a:t>運作頻率最高 </a:t>
            </a:r>
            <a:r>
              <a:rPr lang="en-US" altLang="zh-TW" sz="2800" dirty="0">
                <a:latin typeface="Microsoft JhengHei"/>
                <a:ea typeface="Microsoft JhengHei"/>
                <a:cs typeface="+mn-lt"/>
              </a:rPr>
              <a:t>400</a:t>
            </a:r>
            <a:r>
              <a:rPr lang="zh-TW" altLang="en-US" sz="2800" dirty="0">
                <a:latin typeface="Microsoft JhengHei"/>
                <a:ea typeface="Microsoft JhengHei"/>
                <a:cs typeface="+mn-lt"/>
              </a:rPr>
              <a:t> </a:t>
            </a:r>
            <a:r>
              <a:rPr lang="en-US" altLang="zh-TW" sz="2800" dirty="0">
                <a:latin typeface="Microsoft JhengHei"/>
                <a:ea typeface="Microsoft JhengHei"/>
                <a:cs typeface="+mn-lt"/>
              </a:rPr>
              <a:t>kHz</a:t>
            </a:r>
            <a:r>
              <a:rPr lang="zh-TW" altLang="en-US" sz="2800" dirty="0">
                <a:latin typeface="Microsoft JhengHei"/>
                <a:ea typeface="Microsoft JhengHei"/>
                <a:cs typeface="+mn-lt"/>
              </a:rPr>
              <a:t> </a:t>
            </a:r>
            <a:endParaRPr lang="zh-TW" altLang="en-US" sz="2800" dirty="0"/>
          </a:p>
          <a:p>
            <a:pPr>
              <a:lnSpc>
                <a:spcPct val="150000"/>
              </a:lnSpc>
            </a:pPr>
            <a:r>
              <a:rPr lang="zh-TW" altLang="en-US" sz="2800" dirty="0">
                <a:latin typeface="Microsoft JhengHei"/>
                <a:ea typeface="Microsoft JhengHei"/>
                <a:cs typeface="+mn-lt"/>
              </a:rPr>
              <a:t>可由程式控制的量測範圍：</a:t>
            </a:r>
            <a:r>
              <a:rPr lang="en-US" altLang="zh-TW" sz="2800" dirty="0">
                <a:latin typeface="Microsoft JhengHei"/>
                <a:ea typeface="Microsoft JhengHei"/>
                <a:cs typeface="+mn-lt"/>
              </a:rPr>
              <a:t>±</a:t>
            </a:r>
            <a:r>
              <a:rPr lang="zh-TW" altLang="en-US" sz="2800" dirty="0">
                <a:latin typeface="Microsoft JhengHei"/>
                <a:ea typeface="Microsoft JhengHei"/>
                <a:cs typeface="+mn-lt"/>
              </a:rPr>
              <a:t> </a:t>
            </a:r>
            <a:r>
              <a:rPr lang="en-US" altLang="zh-TW" sz="2800" dirty="0">
                <a:latin typeface="Microsoft JhengHei"/>
                <a:ea typeface="Microsoft JhengHei"/>
                <a:cs typeface="+mn-lt"/>
              </a:rPr>
              <a:t>250,</a:t>
            </a:r>
            <a:r>
              <a:rPr lang="zh-TW" altLang="en-US" sz="2800" dirty="0">
                <a:latin typeface="Microsoft JhengHei"/>
                <a:ea typeface="Microsoft JhengHei"/>
                <a:cs typeface="+mn-lt"/>
              </a:rPr>
              <a:t> </a:t>
            </a:r>
            <a:r>
              <a:rPr lang="en-US" altLang="zh-TW" sz="2800" dirty="0">
                <a:latin typeface="Microsoft JhengHei"/>
                <a:ea typeface="Microsoft JhengHei"/>
                <a:cs typeface="+mn-lt"/>
              </a:rPr>
              <a:t>±</a:t>
            </a:r>
            <a:r>
              <a:rPr lang="zh-TW" altLang="en-US" sz="2800" dirty="0">
                <a:latin typeface="Microsoft JhengHei"/>
                <a:ea typeface="Microsoft JhengHei"/>
                <a:cs typeface="+mn-lt"/>
              </a:rPr>
              <a:t> </a:t>
            </a:r>
            <a:r>
              <a:rPr lang="en-US" altLang="zh-TW" sz="2800" dirty="0">
                <a:latin typeface="Microsoft JhengHei"/>
                <a:ea typeface="Microsoft JhengHei"/>
                <a:cs typeface="+mn-lt"/>
              </a:rPr>
              <a:t>500,</a:t>
            </a:r>
            <a:r>
              <a:rPr lang="zh-TW" altLang="en-US" sz="2800" dirty="0">
                <a:latin typeface="Microsoft JhengHei"/>
                <a:ea typeface="Microsoft JhengHei"/>
                <a:cs typeface="+mn-lt"/>
              </a:rPr>
              <a:t> </a:t>
            </a:r>
            <a:r>
              <a:rPr lang="en-US" altLang="zh-TW" sz="2800" dirty="0">
                <a:latin typeface="Microsoft JhengHei"/>
                <a:ea typeface="Microsoft JhengHei"/>
                <a:cs typeface="+mn-lt"/>
              </a:rPr>
              <a:t>±</a:t>
            </a:r>
            <a:r>
              <a:rPr lang="zh-TW" altLang="en-US" sz="2800" dirty="0">
                <a:latin typeface="Microsoft JhengHei"/>
                <a:ea typeface="Microsoft JhengHei"/>
                <a:cs typeface="+mn-lt"/>
              </a:rPr>
              <a:t> </a:t>
            </a:r>
            <a:r>
              <a:rPr lang="en-US" altLang="zh-TW" sz="2800" dirty="0">
                <a:latin typeface="Microsoft JhengHei"/>
                <a:ea typeface="Microsoft JhengHei"/>
                <a:cs typeface="+mn-lt"/>
              </a:rPr>
              <a:t>1000,</a:t>
            </a:r>
            <a:r>
              <a:rPr lang="zh-TW" altLang="en-US" sz="2800" dirty="0">
                <a:latin typeface="Microsoft JhengHei"/>
                <a:ea typeface="Microsoft JhengHei"/>
                <a:cs typeface="+mn-lt"/>
              </a:rPr>
              <a:t> </a:t>
            </a:r>
            <a:r>
              <a:rPr lang="en-US" altLang="zh-TW" sz="2800" dirty="0">
                <a:latin typeface="Microsoft JhengHei"/>
                <a:ea typeface="Microsoft JhengHei"/>
                <a:cs typeface="+mn-lt"/>
              </a:rPr>
              <a:t>±</a:t>
            </a:r>
            <a:r>
              <a:rPr lang="zh-TW" altLang="en-US" sz="2800" dirty="0">
                <a:latin typeface="Microsoft JhengHei"/>
                <a:ea typeface="Microsoft JhengHei"/>
                <a:cs typeface="+mn-lt"/>
              </a:rPr>
              <a:t> </a:t>
            </a:r>
            <a:r>
              <a:rPr lang="en-US" altLang="zh-TW" sz="2800" dirty="0">
                <a:latin typeface="Microsoft JhengHei"/>
                <a:ea typeface="Microsoft JhengHei"/>
                <a:cs typeface="+mn-lt"/>
              </a:rPr>
              <a:t>2000</a:t>
            </a:r>
            <a:r>
              <a:rPr lang="zh-TW" altLang="en-US" sz="2800" dirty="0">
                <a:latin typeface="Microsoft JhengHei"/>
                <a:ea typeface="Microsoft JhengHei"/>
                <a:cs typeface="+mn-lt"/>
              </a:rPr>
              <a:t> </a:t>
            </a:r>
            <a:r>
              <a:rPr lang="en-US" altLang="zh-TW" sz="2800" dirty="0">
                <a:latin typeface="Microsoft JhengHei"/>
                <a:ea typeface="Microsoft JhengHei"/>
                <a:cs typeface="+mn-lt"/>
              </a:rPr>
              <a:t>°</a:t>
            </a:r>
            <a:r>
              <a:rPr lang="zh-TW" altLang="en-US" sz="2800" dirty="0">
                <a:latin typeface="Microsoft JhengHei"/>
                <a:ea typeface="Microsoft JhengHei"/>
                <a:cs typeface="+mn-lt"/>
              </a:rPr>
              <a:t> </a:t>
            </a:r>
            <a:r>
              <a:rPr lang="en-US" altLang="zh-TW" sz="2800" dirty="0">
                <a:latin typeface="Microsoft JhengHei"/>
                <a:ea typeface="Microsoft JhengHei"/>
                <a:cs typeface="+mn-lt"/>
              </a:rPr>
              <a:t>/</a:t>
            </a:r>
            <a:r>
              <a:rPr lang="zh-TW" altLang="en-US" sz="2800" dirty="0">
                <a:latin typeface="Microsoft JhengHei"/>
                <a:ea typeface="Microsoft JhengHei"/>
                <a:cs typeface="+mn-lt"/>
              </a:rPr>
              <a:t> </a:t>
            </a:r>
            <a:r>
              <a:rPr lang="en-US" altLang="zh-TW" sz="2800" dirty="0">
                <a:latin typeface="Microsoft JhengHei"/>
                <a:ea typeface="Microsoft JhengHei"/>
                <a:cs typeface="+mn-lt"/>
              </a:rPr>
              <a:t>s</a:t>
            </a:r>
            <a:r>
              <a:rPr lang="zh-TW" altLang="en-US" sz="2800" dirty="0">
                <a:latin typeface="Microsoft JhengHei"/>
                <a:ea typeface="Microsoft JhengHei"/>
                <a:cs typeface="+mn-lt"/>
              </a:rPr>
              <a:t> </a:t>
            </a:r>
            <a:endParaRPr lang="zh-TW" altLang="en-US" sz="2800" dirty="0"/>
          </a:p>
          <a:p>
            <a:pPr>
              <a:lnSpc>
                <a:spcPct val="150000"/>
              </a:lnSpc>
            </a:pPr>
            <a:r>
              <a:rPr lang="en-US" altLang="zh-TW" sz="2800" dirty="0">
                <a:latin typeface="Microsoft JhengHei"/>
                <a:ea typeface="Microsoft JhengHei"/>
                <a:cs typeface="+mn-lt"/>
              </a:rPr>
              <a:t>16-bit ADC</a:t>
            </a:r>
            <a:r>
              <a:rPr lang="zh-TW" altLang="en-US" sz="2800" dirty="0">
                <a:latin typeface="Microsoft JhengHei"/>
                <a:ea typeface="Microsoft JhengHei"/>
                <a:cs typeface="+mn-lt"/>
              </a:rPr>
              <a:t> </a:t>
            </a:r>
            <a:endParaRPr lang="zh-TW" altLang="en-US" sz="2800" dirty="0"/>
          </a:p>
          <a:p>
            <a:pPr>
              <a:lnSpc>
                <a:spcPct val="150000"/>
              </a:lnSpc>
            </a:pPr>
            <a:r>
              <a:rPr lang="zh-TW" altLang="en-US" sz="2800" dirty="0">
                <a:latin typeface="Microsoft JhengHei"/>
                <a:ea typeface="Microsoft JhengHei"/>
                <a:cs typeface="+mn-lt"/>
              </a:rPr>
              <a:t>內建 </a:t>
            </a:r>
            <a:r>
              <a:rPr lang="en-US" altLang="zh-TW" sz="2800" dirty="0" err="1">
                <a:latin typeface="Microsoft JhengHei"/>
                <a:ea typeface="Microsoft JhengHei"/>
                <a:cs typeface="+mn-lt"/>
              </a:rPr>
              <a:t>lowpass</a:t>
            </a:r>
            <a:r>
              <a:rPr lang="zh-TW" altLang="en-US" sz="2800" dirty="0">
                <a:latin typeface="Microsoft JhengHei"/>
                <a:ea typeface="Microsoft JhengHei"/>
                <a:cs typeface="+mn-lt"/>
              </a:rPr>
              <a:t> 濾波器，可降低雜訊</a:t>
            </a:r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8047764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3F6713B-9E2B-8F09-7FCA-AAF33B6B32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517" y="759555"/>
            <a:ext cx="10972800" cy="618488"/>
          </a:xfrm>
        </p:spPr>
        <p:txBody>
          <a:bodyPr>
            <a:norm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zh-TW" altLang="en-US" sz="2800" b="1" kern="100" dirty="0"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挑戰</a:t>
            </a:r>
            <a:endParaRPr lang="zh-TW" altLang="zh-TW" sz="2800" b="1" kern="100" dirty="0">
              <a:effectLst/>
              <a:latin typeface="Aptos" panose="020B000402020202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0C636AE-213D-3814-D93F-6B711E32AF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2880" y="2061911"/>
            <a:ext cx="10233384" cy="4036534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zh-TW" altLang="en-US" sz="2800" dirty="0">
                <a:latin typeface="Microsoft JhengHei"/>
                <a:ea typeface="Microsoft JhengHei"/>
                <a:cs typeface="+mn-lt"/>
              </a:rPr>
              <a:t>角速度量測單元，不只受旋轉的科氏力影響，也會受平行於此方向的線性加速度影響，所以量出來的值是角速度和加速度相加後的結果。 </a:t>
            </a:r>
            <a:endParaRPr lang="zh-TW" altLang="en-US" sz="2800" dirty="0"/>
          </a:p>
          <a:p>
            <a:pPr>
              <a:lnSpc>
                <a:spcPct val="100000"/>
              </a:lnSpc>
            </a:pPr>
            <a:endParaRPr lang="zh-TW" altLang="en-US" sz="2800" dirty="0"/>
          </a:p>
          <a:p>
            <a:pPr>
              <a:lnSpc>
                <a:spcPct val="100000"/>
              </a:lnSpc>
            </a:pPr>
            <a:r>
              <a:rPr lang="zh-TW" altLang="en-US" sz="2800" dirty="0">
                <a:latin typeface="Microsoft JhengHei"/>
                <a:ea typeface="Microsoft JhengHei"/>
                <a:cs typeface="+mn-lt"/>
              </a:rPr>
              <a:t>解決方法 </a:t>
            </a:r>
            <a:endParaRPr lang="zh-TW" altLang="en-US" sz="2800" dirty="0"/>
          </a:p>
          <a:p>
            <a:pPr>
              <a:lnSpc>
                <a:spcPct val="100000"/>
              </a:lnSpc>
            </a:pPr>
            <a:r>
              <a:rPr lang="zh-TW" altLang="en-US" sz="2800" dirty="0">
                <a:latin typeface="Microsoft JhengHei"/>
                <a:ea typeface="Microsoft JhengHei"/>
                <a:cs typeface="+mn-lt"/>
              </a:rPr>
              <a:t>使用兩個量測單元，分別產生相反方向的科氏力，再將他們相減，即可將線性加速度抵消，只剩下角速度的值。 </a:t>
            </a:r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804776493"/>
      </p:ext>
    </p:extLst>
  </p:cSld>
  <p:clrMapOvr>
    <a:masterClrMapping/>
  </p:clrMapOvr>
</p:sld>
</file>

<file path=ppt/theme/theme1.xml><?xml version="1.0" encoding="utf-8"?>
<a:theme xmlns:a="http://schemas.openxmlformats.org/drawingml/2006/main" name="SplashVTI">
  <a:themeElements>
    <a:clrScheme name="Custom 11">
      <a:dk1>
        <a:srgbClr val="262626"/>
      </a:dk1>
      <a:lt1>
        <a:sysClr val="window" lastClr="FFFFFF"/>
      </a:lt1>
      <a:dk2>
        <a:srgbClr val="2F333D"/>
      </a:dk2>
      <a:lt2>
        <a:srgbClr val="E9F3F3"/>
      </a:lt2>
      <a:accent1>
        <a:srgbClr val="1EBE9B"/>
      </a:accent1>
      <a:accent2>
        <a:srgbClr val="FD8686"/>
      </a:accent2>
      <a:accent3>
        <a:srgbClr val="0AC8AD"/>
      </a:accent3>
      <a:accent4>
        <a:srgbClr val="E69500"/>
      </a:accent4>
      <a:accent5>
        <a:srgbClr val="EC4E70"/>
      </a:accent5>
      <a:accent6>
        <a:srgbClr val="794DFF"/>
      </a:accent6>
      <a:hlink>
        <a:srgbClr val="3E8FF1"/>
      </a:hlink>
      <a:folHlink>
        <a:srgbClr val="939393"/>
      </a:folHlink>
    </a:clrScheme>
    <a:fontScheme name="Custom 23">
      <a:majorFont>
        <a:latin typeface="Posterama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plashVTI" id="{CD38C481-21EC-466B-953B-A1440B42712A}" vid="{D3E4813C-1D98-48C2-AF59-2D0D78E2550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</TotalTime>
  <Words>1234</Words>
  <Application>Microsoft Macintosh PowerPoint</Application>
  <PresentationFormat>寬螢幕</PresentationFormat>
  <Paragraphs>95</Paragraphs>
  <Slides>17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12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17</vt:i4>
      </vt:variant>
    </vt:vector>
  </HeadingPairs>
  <TitlesOfParts>
    <vt:vector size="30" baseType="lpstr">
      <vt:lpstr>Microsoft JhengHei</vt:lpstr>
      <vt:lpstr>新細明體</vt:lpstr>
      <vt:lpstr>Heiti SC Light</vt:lpstr>
      <vt:lpstr>Aptos</vt:lpstr>
      <vt:lpstr>Arial</vt:lpstr>
      <vt:lpstr>Avenir Next LT Pro</vt:lpstr>
      <vt:lpstr>Cambria Math</vt:lpstr>
      <vt:lpstr>Courier New</vt:lpstr>
      <vt:lpstr>Georgia</vt:lpstr>
      <vt:lpstr>Posterama</vt:lpstr>
      <vt:lpstr>Symbol</vt:lpstr>
      <vt:lpstr>Times New Roman</vt:lpstr>
      <vt:lpstr>SplashVTI</vt:lpstr>
      <vt:lpstr>MPU6050 IMU sensor</vt:lpstr>
      <vt:lpstr> 110611103鄭庭安  Paper: Noise Attenuation on IMU Measurement For Drone Balance by Sensor Fusion 無人機穩定性提升：基­於 MPU-6050 IMU感測器整合技術之研究分析</vt:lpstr>
      <vt:lpstr>PowerPoint 簡報</vt:lpstr>
      <vt:lpstr>效能分析/數據處理： 加速度計：受雜訊影響不大 ，不需濾波器  陀螺儀：角速率受雜訊影響大，使用EMA濾波器後 有效減少雜訊，接收訊號標準差減小  </vt:lpstr>
      <vt:lpstr>EMA Filter (Exponential moving average filter) </vt:lpstr>
      <vt:lpstr>設計挑戰 </vt:lpstr>
      <vt:lpstr>111611073高毓襄  Paper: Analysis of Inertial Measurement Accuracy using Complementary Filter for MPU6050 Sensor</vt:lpstr>
      <vt:lpstr>工作原理：</vt:lpstr>
      <vt:lpstr> 感測器工作表現：   未使用濾波器的情況： XYZ三軸的原始量測結果與理論閾值有明顯差異。 存在可觀察的雜訊與偏移誤差。</vt:lpstr>
      <vt:lpstr> 感測器工作表現：   使用 complementary filter 後的表現： 濾波後的量測值與理論閾值曲線高度一致。 誤差縮小至約 ±1.5°，顯著優於未處理資料。 準確率提升至約 95%，達到研究目標。</vt:lpstr>
      <vt:lpstr>設計挑戰：</vt:lpstr>
      <vt:lpstr>其他：</vt:lpstr>
      <vt:lpstr>111611038陳千睿  Paper: Using of Measuring System MPU6050 for the Determination of the Angular Velocities and Linear Accelerations </vt:lpstr>
      <vt:lpstr>應用</vt:lpstr>
      <vt:lpstr>工作原理</vt:lpstr>
      <vt:lpstr>量測表現</vt:lpstr>
      <vt:lpstr>挑戰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MPU6050 IMU sensor</dc:title>
  <dc:creator>鄭庭安</dc:creator>
  <cp:lastModifiedBy>鄭庭安</cp:lastModifiedBy>
  <cp:revision>6</cp:revision>
  <dcterms:created xsi:type="dcterms:W3CDTF">2025-05-31T17:08:41Z</dcterms:created>
  <dcterms:modified xsi:type="dcterms:W3CDTF">2025-06-07T10:03:36Z</dcterms:modified>
</cp:coreProperties>
</file>