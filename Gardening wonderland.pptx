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芫荽" charset="1" panose="000000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Relationship Id="rId4" Target="../media/image3.gif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gif" Type="http://schemas.openxmlformats.org/officeDocument/2006/relationships/image"/><Relationship Id="rId3" Target="../media/image5.gif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gif" Type="http://schemas.openxmlformats.org/officeDocument/2006/relationships/image"/><Relationship Id="rId3" Target="../media/image9.png" Type="http://schemas.openxmlformats.org/officeDocument/2006/relationships/image"/><Relationship Id="rId4" Target="../media/image10.gif" Type="http://schemas.openxmlformats.org/officeDocument/2006/relationships/image"/><Relationship Id="rId5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gif" Type="http://schemas.openxmlformats.org/officeDocument/2006/relationships/image"/><Relationship Id="rId3" Target="../media/image13.gif" Type="http://schemas.openxmlformats.org/officeDocument/2006/relationships/image"/><Relationship Id="rId4" Target="../media/image14.gif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gif" Type="http://schemas.openxmlformats.org/officeDocument/2006/relationships/image"/><Relationship Id="rId3" Target="../media/image1.gif" Type="http://schemas.openxmlformats.org/officeDocument/2006/relationships/image"/><Relationship Id="rId4" Target="../media/image18.gif" Type="http://schemas.openxmlformats.org/officeDocument/2006/relationships/image"/><Relationship Id="rId5" Target="../media/image14.gif" Type="http://schemas.openxmlformats.org/officeDocument/2006/relationships/image"/><Relationship Id="rId6" Target="../media/image19.png" Type="http://schemas.openxmlformats.org/officeDocument/2006/relationships/image"/><Relationship Id="rId7" Target="../media/image2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gif" Type="http://schemas.openxmlformats.org/officeDocument/2006/relationships/image"/><Relationship Id="rId3" Target="../media/image2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gif" Type="http://schemas.openxmlformats.org/officeDocument/2006/relationships/image"/><Relationship Id="rId3" Target="../media/image1.gif" Type="http://schemas.openxmlformats.org/officeDocument/2006/relationships/image"/><Relationship Id="rId4" Target="../media/image18.gif" Type="http://schemas.openxmlformats.org/officeDocument/2006/relationships/image"/><Relationship Id="rId5" Target="../media/image14.gif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gif" Type="http://schemas.openxmlformats.org/officeDocument/2006/relationships/image"/><Relationship Id="rId3" Target="../media/image1.gif" Type="http://schemas.openxmlformats.org/officeDocument/2006/relationships/image"/><Relationship Id="rId4" Target="../media/image18.gif" Type="http://schemas.openxmlformats.org/officeDocument/2006/relationships/image"/><Relationship Id="rId5" Target="../media/image14.gif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25000"/>
          </a:blip>
          <a:srcRect l="0" t="0" r="0" b="0"/>
          <a:stretch>
            <a:fillRect/>
          </a:stretch>
        </p:blipFill>
        <p:spPr>
          <a:xfrm flipH="false" flipV="false" rot="-10800000">
            <a:off x="6333452" y="-1797179"/>
            <a:ext cx="15735219" cy="13881357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4001033" y="2654366"/>
            <a:ext cx="12286259" cy="4558389"/>
            <a:chOff x="0" y="0"/>
            <a:chExt cx="16381678" cy="6077852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02235"/>
              <a:ext cx="16381678" cy="49216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1578"/>
                </a:lnSpc>
              </a:pPr>
              <a:r>
                <a:rPr lang="en-US" sz="10525">
                  <a:solidFill>
                    <a:srgbClr val="2B2B2B"/>
                  </a:solidFill>
                  <a:latin typeface="芫荽"/>
                  <a:ea typeface="芫荽"/>
                  <a:cs typeface="芫荽"/>
                  <a:sym typeface="芫荽"/>
                </a:rPr>
                <a:t>花園夢境</a:t>
              </a:r>
            </a:p>
            <a:p>
              <a:pPr algn="ctr">
                <a:lnSpc>
                  <a:spcPts val="5500"/>
                </a:lnSpc>
              </a:pPr>
              <a:r>
                <a:rPr lang="en-US" sz="5000">
                  <a:solidFill>
                    <a:srgbClr val="2B2B2B"/>
                  </a:solidFill>
                  <a:latin typeface="芫荽"/>
                  <a:ea typeface="芫荽"/>
                  <a:cs typeface="芫荽"/>
                  <a:sym typeface="芫荽"/>
                </a:rPr>
                <a:t>Gardening wonderland</a:t>
              </a:r>
            </a:p>
            <a:p>
              <a:pPr algn="ctr">
                <a:lnSpc>
                  <a:spcPts val="11578"/>
                </a:lnSpc>
              </a:pP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5445764"/>
              <a:ext cx="16381678" cy="6320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26"/>
                </a:lnSpc>
                <a:spcBef>
                  <a:spcPct val="0"/>
                </a:spcBef>
              </a:pPr>
              <a:r>
                <a:rPr lang="en-US" sz="2804">
                  <a:solidFill>
                    <a:srgbClr val="2B2B2B"/>
                  </a:solidFill>
                  <a:latin typeface="芫荽"/>
                  <a:ea typeface="芫荽"/>
                  <a:cs typeface="芫荽"/>
                  <a:sym typeface="芫荽"/>
                </a:rPr>
                <a:t>110611103 鄭庭安</a:t>
              </a:r>
            </a:p>
          </p:txBody>
        </p:sp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alphaModFix amt="50000"/>
          </a:blip>
          <a:srcRect l="0" t="0" r="0" b="0"/>
          <a:stretch>
            <a:fillRect/>
          </a:stretch>
        </p:blipFill>
        <p:spPr>
          <a:xfrm flipH="false" flipV="false" rot="0">
            <a:off x="-2318726" y="-376453"/>
            <a:ext cx="9743013" cy="1709948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alphaModFix amt="25000"/>
          </a:blip>
          <a:srcRect l="0" t="0" r="0" b="0"/>
          <a:stretch>
            <a:fillRect/>
          </a:stretch>
        </p:blipFill>
        <p:spPr>
          <a:xfrm flipH="false" flipV="false" rot="-7199120">
            <a:off x="-2896988" y="-1002021"/>
            <a:ext cx="5793977" cy="58954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25000"/>
          </a:blip>
          <a:srcRect l="0" t="0" r="0" b="0"/>
          <a:stretch>
            <a:fillRect/>
          </a:stretch>
        </p:blipFill>
        <p:spPr>
          <a:xfrm flipH="false" flipV="false" rot="3203220">
            <a:off x="10055853" y="-265970"/>
            <a:ext cx="11814494" cy="12461864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25000"/>
          </a:blip>
          <a:srcRect l="0" t="0" r="0" b="0"/>
          <a:stretch>
            <a:fillRect/>
          </a:stretch>
        </p:blipFill>
        <p:spPr>
          <a:xfrm flipH="false" flipV="false" rot="-5741405">
            <a:off x="8316155" y="8504485"/>
            <a:ext cx="4865516" cy="6168780"/>
          </a:xfrm>
          <a:prstGeom prst="rect">
            <a:avLst/>
          </a:prstGeom>
        </p:spPr>
      </p:pic>
      <p:sp>
        <p:nvSpPr>
          <p:cNvPr name="Freeform 4" id="4"/>
          <p:cNvSpPr/>
          <p:nvPr/>
        </p:nvSpPr>
        <p:spPr>
          <a:xfrm flipH="false" flipV="false" rot="345443">
            <a:off x="7666915" y="789079"/>
            <a:ext cx="4937321" cy="4801786"/>
          </a:xfrm>
          <a:custGeom>
            <a:avLst/>
            <a:gdLst/>
            <a:ahLst/>
            <a:cxnLst/>
            <a:rect r="r" b="b" t="t" l="l"/>
            <a:pathLst>
              <a:path h="4801786" w="4937321">
                <a:moveTo>
                  <a:pt x="0" y="0"/>
                </a:moveTo>
                <a:lnTo>
                  <a:pt x="4937320" y="0"/>
                </a:lnTo>
                <a:lnTo>
                  <a:pt x="4937320" y="4801787"/>
                </a:lnTo>
                <a:lnTo>
                  <a:pt x="0" y="48017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384041">
            <a:off x="12653716" y="5713344"/>
            <a:ext cx="6037410" cy="4746913"/>
          </a:xfrm>
          <a:custGeom>
            <a:avLst/>
            <a:gdLst/>
            <a:ahLst/>
            <a:cxnLst/>
            <a:rect r="r" b="b" t="t" l="l"/>
            <a:pathLst>
              <a:path h="4746913" w="6037410">
                <a:moveTo>
                  <a:pt x="0" y="0"/>
                </a:moveTo>
                <a:lnTo>
                  <a:pt x="6037410" y="0"/>
                </a:lnTo>
                <a:lnTo>
                  <a:pt x="6037410" y="4746913"/>
                </a:lnTo>
                <a:lnTo>
                  <a:pt x="0" y="47469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89397" y="4528503"/>
            <a:ext cx="6260340" cy="319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這是一款互動式網頁遊戲，結合園藝、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探索、故事敘述與詩詞創作，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提供玩家富有想像力的遊戲體驗。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</a:p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 本遊戲運用了 AI 大型語言模型（LLM）與檢索增強生成技術（RAG, Retrieval-Augmented Generation）。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77485" y="8371438"/>
            <a:ext cx="4978003" cy="1481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發想來源：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掃地機器人、愛麗絲夢遊仙境、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ai 課學的內容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25000"/>
          </a:blip>
          <a:srcRect l="0" t="0" r="0" b="0"/>
          <a:stretch>
            <a:fillRect/>
          </a:stretch>
        </p:blipFill>
        <p:spPr>
          <a:xfrm flipH="false" flipV="false" rot="-1425796">
            <a:off x="-4836105" y="-3855776"/>
            <a:ext cx="17005599" cy="18983681"/>
          </a:xfrm>
          <a:prstGeom prst="rect">
            <a:avLst/>
          </a:prstGeom>
        </p:spPr>
      </p:pic>
      <p:sp>
        <p:nvSpPr>
          <p:cNvPr name="Freeform 3" id="3"/>
          <p:cNvSpPr/>
          <p:nvPr/>
        </p:nvSpPr>
        <p:spPr>
          <a:xfrm flipH="false" flipV="false" rot="-360780">
            <a:off x="9859969" y="946704"/>
            <a:ext cx="6712256" cy="6259179"/>
          </a:xfrm>
          <a:custGeom>
            <a:avLst/>
            <a:gdLst/>
            <a:ahLst/>
            <a:cxnLst/>
            <a:rect r="r" b="b" t="t" l="l"/>
            <a:pathLst>
              <a:path h="6259179" w="6712256">
                <a:moveTo>
                  <a:pt x="0" y="0"/>
                </a:moveTo>
                <a:lnTo>
                  <a:pt x="6712256" y="0"/>
                </a:lnTo>
                <a:lnTo>
                  <a:pt x="6712256" y="6259179"/>
                </a:lnTo>
                <a:lnTo>
                  <a:pt x="0" y="62591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50000"/>
          </a:blip>
          <a:srcRect l="0" t="0" r="0" b="0"/>
          <a:stretch>
            <a:fillRect/>
          </a:stretch>
        </p:blipFill>
        <p:spPr>
          <a:xfrm flipH="false" flipV="false" rot="0">
            <a:off x="-3896851" y="5143500"/>
            <a:ext cx="10541077" cy="10522453"/>
          </a:xfrm>
          <a:prstGeom prst="rect">
            <a:avLst/>
          </a:prstGeom>
        </p:spPr>
      </p:pic>
      <p:sp>
        <p:nvSpPr>
          <p:cNvPr name="Freeform 5" id="5"/>
          <p:cNvSpPr/>
          <p:nvPr/>
        </p:nvSpPr>
        <p:spPr>
          <a:xfrm flipH="false" flipV="false" rot="820361">
            <a:off x="-436859" y="6053568"/>
            <a:ext cx="5058734" cy="4363158"/>
          </a:xfrm>
          <a:custGeom>
            <a:avLst/>
            <a:gdLst/>
            <a:ahLst/>
            <a:cxnLst/>
            <a:rect r="r" b="b" t="t" l="l"/>
            <a:pathLst>
              <a:path h="4363158" w="5058734">
                <a:moveTo>
                  <a:pt x="0" y="0"/>
                </a:moveTo>
                <a:lnTo>
                  <a:pt x="5058734" y="0"/>
                </a:lnTo>
                <a:lnTo>
                  <a:pt x="5058734" y="4363158"/>
                </a:lnTo>
                <a:lnTo>
                  <a:pt x="0" y="43631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863483" y="2099539"/>
            <a:ext cx="6640588" cy="197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智慧樹說故事： 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玩家可與 AI 驅動的「智慧樹」互動，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透過檢索增強生成技術（RAG），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回答與《愛麗絲夢遊仙境》有關的問題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952374" y="8168472"/>
            <a:ext cx="5333554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拉霸小遊戲： 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玩家可透過拉霸機小遊戲抽中幼苗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25000"/>
          </a:blip>
          <a:srcRect l="0" t="0" r="0" b="0"/>
          <a:stretch>
            <a:fillRect/>
          </a:stretch>
        </p:blipFill>
        <p:spPr>
          <a:xfrm flipH="false" flipV="false" rot="0">
            <a:off x="-2511451" y="1028700"/>
            <a:ext cx="19770751" cy="18262535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25000"/>
          </a:blip>
          <a:srcRect l="0" t="0" r="0" b="0"/>
          <a:stretch>
            <a:fillRect/>
          </a:stretch>
        </p:blipFill>
        <p:spPr>
          <a:xfrm flipH="false" flipV="false" rot="-3982960">
            <a:off x="13745551" y="-3705176"/>
            <a:ext cx="5352514" cy="7410352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25000"/>
          </a:blip>
          <a:srcRect l="0" t="0" r="0" b="0"/>
          <a:stretch>
            <a:fillRect/>
          </a:stretch>
        </p:blipFill>
        <p:spPr>
          <a:xfrm flipH="false" flipV="false" rot="-1644077">
            <a:off x="16162301" y="-1063836"/>
            <a:ext cx="5468057" cy="6108036"/>
          </a:xfrm>
          <a:prstGeom prst="rect">
            <a:avLst/>
          </a:prstGeom>
        </p:spPr>
      </p:pic>
      <p:sp>
        <p:nvSpPr>
          <p:cNvPr name="Freeform 5" id="5"/>
          <p:cNvSpPr/>
          <p:nvPr/>
        </p:nvSpPr>
        <p:spPr>
          <a:xfrm flipH="false" flipV="false" rot="0">
            <a:off x="9836073" y="965269"/>
            <a:ext cx="6334406" cy="4346986"/>
          </a:xfrm>
          <a:custGeom>
            <a:avLst/>
            <a:gdLst/>
            <a:ahLst/>
            <a:cxnLst/>
            <a:rect r="r" b="b" t="t" l="l"/>
            <a:pathLst>
              <a:path h="4346986" w="6334406">
                <a:moveTo>
                  <a:pt x="0" y="0"/>
                </a:moveTo>
                <a:lnTo>
                  <a:pt x="6334407" y="0"/>
                </a:lnTo>
                <a:lnTo>
                  <a:pt x="6334407" y="4346986"/>
                </a:lnTo>
                <a:lnTo>
                  <a:pt x="0" y="43469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25813" y="5143500"/>
            <a:ext cx="6532718" cy="4834212"/>
          </a:xfrm>
          <a:custGeom>
            <a:avLst/>
            <a:gdLst/>
            <a:ahLst/>
            <a:cxnLst/>
            <a:rect r="r" b="b" t="t" l="l"/>
            <a:pathLst>
              <a:path h="4834212" w="6532718">
                <a:moveTo>
                  <a:pt x="0" y="0"/>
                </a:moveTo>
                <a:lnTo>
                  <a:pt x="6532718" y="0"/>
                </a:lnTo>
                <a:lnTo>
                  <a:pt x="6532718" y="4834212"/>
                </a:lnTo>
                <a:lnTo>
                  <a:pt x="0" y="483421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215873" y="2117047"/>
            <a:ext cx="5661831" cy="197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詩詞創作： 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玩家在遊戲中可蒐集詞語與片語，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並由 AI（Gemini 2.0 Flash）生成原創詩句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269917" y="7574864"/>
            <a:ext cx="6044729" cy="1481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筆記本系統： 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數位筆記本可記錄已蒐集的詞語與片語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和創作的詩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25000"/>
          </a:blip>
          <a:srcRect l="0" t="0" r="0" b="0"/>
          <a:stretch>
            <a:fillRect/>
          </a:stretch>
        </p:blipFill>
        <p:spPr>
          <a:xfrm flipH="false" flipV="false" rot="0">
            <a:off x="-1662681" y="-6438340"/>
            <a:ext cx="13761077" cy="1415359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25000"/>
          </a:blip>
          <a:srcRect l="0" t="0" r="0" b="0"/>
          <a:stretch>
            <a:fillRect/>
          </a:stretch>
        </p:blipFill>
        <p:spPr>
          <a:xfrm flipH="false" flipV="false" rot="0">
            <a:off x="11511932" y="6947324"/>
            <a:ext cx="8674222" cy="765225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25000"/>
          </a:blip>
          <a:srcRect l="0" t="0" r="0" b="0"/>
          <a:stretch>
            <a:fillRect/>
          </a:stretch>
        </p:blipFill>
        <p:spPr>
          <a:xfrm flipH="false" flipV="false" rot="0">
            <a:off x="15141061" y="2810706"/>
            <a:ext cx="6293877" cy="5612932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>
            <a:alphaModFix amt="25000"/>
          </a:blip>
          <a:srcRect l="0" t="0" r="0" b="0"/>
          <a:stretch>
            <a:fillRect/>
          </a:stretch>
        </p:blipFill>
        <p:spPr>
          <a:xfrm flipH="false" flipV="false" rot="-3435299">
            <a:off x="-3167656" y="638455"/>
            <a:ext cx="6335313" cy="7076795"/>
          </a:xfrm>
          <a:prstGeom prst="rect">
            <a:avLst/>
          </a:prstGeom>
        </p:spPr>
      </p:pic>
      <p:sp>
        <p:nvSpPr>
          <p:cNvPr name="Freeform 6" id="6"/>
          <p:cNvSpPr/>
          <p:nvPr/>
        </p:nvSpPr>
        <p:spPr>
          <a:xfrm flipH="false" flipV="false" rot="0">
            <a:off x="1987833" y="1712720"/>
            <a:ext cx="7156167" cy="4159522"/>
          </a:xfrm>
          <a:custGeom>
            <a:avLst/>
            <a:gdLst/>
            <a:ahLst/>
            <a:cxnLst/>
            <a:rect r="r" b="b" t="t" l="l"/>
            <a:pathLst>
              <a:path h="4159522" w="7156167">
                <a:moveTo>
                  <a:pt x="0" y="0"/>
                </a:moveTo>
                <a:lnTo>
                  <a:pt x="7156167" y="0"/>
                </a:lnTo>
                <a:lnTo>
                  <a:pt x="7156167" y="4159522"/>
                </a:lnTo>
                <a:lnTo>
                  <a:pt x="0" y="41595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382086" y="5758996"/>
            <a:ext cx="6693435" cy="4049528"/>
          </a:xfrm>
          <a:custGeom>
            <a:avLst/>
            <a:gdLst/>
            <a:ahLst/>
            <a:cxnLst/>
            <a:rect r="r" b="b" t="t" l="l"/>
            <a:pathLst>
              <a:path h="4049528" w="6693435">
                <a:moveTo>
                  <a:pt x="0" y="0"/>
                </a:moveTo>
                <a:lnTo>
                  <a:pt x="6693435" y="0"/>
                </a:lnTo>
                <a:lnTo>
                  <a:pt x="6693435" y="4049528"/>
                </a:lnTo>
                <a:lnTo>
                  <a:pt x="0" y="404952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911263" y="5619512"/>
            <a:ext cx="8465475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4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1131022" y="3301626"/>
            <a:ext cx="3195563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B2B2B"/>
                </a:solidFill>
                <a:latin typeface="芫荽"/>
                <a:ea typeface="芫荽"/>
                <a:cs typeface="芫荽"/>
                <a:sym typeface="芫荽"/>
              </a:rPr>
              <a:t>用GPS尋找玩家地點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-3463659" y="-599139"/>
            <a:ext cx="5865675" cy="5231058"/>
          </a:xfrm>
          <a:prstGeom prst="rect">
            <a:avLst/>
          </a:prstGeom>
        </p:spPr>
      </p:pic>
      <p:sp>
        <p:nvSpPr>
          <p:cNvPr name="Freeform 3" id="3"/>
          <p:cNvSpPr/>
          <p:nvPr/>
        </p:nvSpPr>
        <p:spPr>
          <a:xfrm flipH="false" flipV="false" rot="0">
            <a:off x="7785316" y="2016390"/>
            <a:ext cx="8442991" cy="5878433"/>
          </a:xfrm>
          <a:custGeom>
            <a:avLst/>
            <a:gdLst/>
            <a:ahLst/>
            <a:cxnLst/>
            <a:rect r="r" b="b" t="t" l="l"/>
            <a:pathLst>
              <a:path h="5878433" w="8442991">
                <a:moveTo>
                  <a:pt x="0" y="0"/>
                </a:moveTo>
                <a:lnTo>
                  <a:pt x="8442991" y="0"/>
                </a:lnTo>
                <a:lnTo>
                  <a:pt x="8442991" y="5878433"/>
                </a:lnTo>
                <a:lnTo>
                  <a:pt x="0" y="58784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11979" y="5819926"/>
            <a:ext cx="5333554" cy="1481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園藝模擬： 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玩家可以蒐集種子，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包含種子、幼苗與大樹的成長階段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25000"/>
          </a:blip>
          <a:srcRect l="0" t="0" r="0" b="0"/>
          <a:stretch>
            <a:fillRect/>
          </a:stretch>
        </p:blipFill>
        <p:spPr>
          <a:xfrm flipH="false" flipV="false" rot="0">
            <a:off x="-1662681" y="-6438340"/>
            <a:ext cx="13761077" cy="1415359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2689742" y="1675125"/>
            <a:ext cx="11557311" cy="9716294"/>
            <a:chOff x="0" y="0"/>
            <a:chExt cx="15409749" cy="12955059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9525"/>
              <a:ext cx="15409749" cy="11909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2B2B2B"/>
                  </a:solidFill>
                  <a:latin typeface="芫荽"/>
                  <a:ea typeface="芫荽"/>
                  <a:cs typeface="芫荽"/>
                  <a:sym typeface="芫荽"/>
                </a:rPr>
                <a:t>心得反思：</a:t>
              </a:r>
            </a:p>
            <a:p>
              <a:pPr algn="just" marL="0" indent="0" lvl="0">
                <a:lnSpc>
                  <a:spcPts val="3359"/>
                </a:lnSpc>
                <a:spcBef>
                  <a:spcPct val="0"/>
                </a:spcBef>
              </a:pPr>
            </a:p>
            <a:p>
              <a:pPr algn="just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sz="2799" u="none">
                  <a:solidFill>
                    <a:srgbClr val="2B2B2B"/>
                  </a:solidFill>
                  <a:latin typeface="芫荽"/>
                  <a:ea typeface="芫荽"/>
                  <a:cs typeface="芫荽"/>
                  <a:sym typeface="芫荽"/>
                </a:rPr>
                <a:t>在這次期末專題的準備過程，我從原本完全不熟悉javascript，</a:t>
              </a:r>
            </a:p>
            <a:p>
              <a:pPr algn="just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sz="2799" u="none">
                  <a:solidFill>
                    <a:srgbClr val="2B2B2B"/>
                  </a:solidFill>
                  <a:latin typeface="芫荽"/>
                  <a:ea typeface="芫荽"/>
                  <a:cs typeface="芫荽"/>
                  <a:sym typeface="芫荽"/>
                </a:rPr>
                <a:t>到目前能做出一些實用的功能，並結合其他課程所學的知識，</a:t>
              </a:r>
            </a:p>
            <a:p>
              <a:pPr algn="just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sz="2799" u="none">
                  <a:solidFill>
                    <a:srgbClr val="2B2B2B"/>
                  </a:solidFill>
                  <a:latin typeface="芫荽"/>
                  <a:ea typeface="芫荽"/>
                  <a:cs typeface="芫荽"/>
                  <a:sym typeface="芫荽"/>
                </a:rPr>
                <a:t>覺得很有收穫。</a:t>
              </a:r>
            </a:p>
            <a:p>
              <a:pPr algn="just" marL="0" indent="0" lvl="0">
                <a:lnSpc>
                  <a:spcPts val="3359"/>
                </a:lnSpc>
                <a:spcBef>
                  <a:spcPct val="0"/>
                </a:spcBef>
              </a:pPr>
            </a:p>
            <a:p>
              <a:pPr algn="just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sz="2799" u="none">
                  <a:solidFill>
                    <a:srgbClr val="2B2B2B"/>
                  </a:solidFill>
                  <a:latin typeface="芫荽"/>
                  <a:ea typeface="芫荽"/>
                  <a:cs typeface="芫荽"/>
                  <a:sym typeface="芫荽"/>
                </a:rPr>
                <a:t>而我認為其中最困難的點，是</a:t>
              </a:r>
            </a:p>
            <a:p>
              <a:pPr algn="just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sz="2799" u="none">
                  <a:solidFill>
                    <a:srgbClr val="2B2B2B"/>
                  </a:solidFill>
                  <a:latin typeface="芫荽"/>
                  <a:ea typeface="芫荽"/>
                  <a:cs typeface="芫荽"/>
                  <a:sym typeface="芫荽"/>
                </a:rPr>
                <a:t>1) 如何將掃地機器人的概念應用轉成實作?</a:t>
              </a:r>
            </a:p>
            <a:p>
              <a:pPr algn="just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sz="2799" u="none">
                  <a:solidFill>
                    <a:srgbClr val="2B2B2B"/>
                  </a:solidFill>
                  <a:latin typeface="芫荽"/>
                  <a:ea typeface="芫荽"/>
                  <a:cs typeface="芫荽"/>
                  <a:sym typeface="芫荽"/>
                </a:rPr>
                <a:t>如何將轉換圖層的概念融入?</a:t>
              </a:r>
            </a:p>
            <a:p>
              <a:pPr algn="just" marL="0" indent="0" lvl="0">
                <a:lnSpc>
                  <a:spcPts val="3359"/>
                </a:lnSpc>
                <a:spcBef>
                  <a:spcPct val="0"/>
                </a:spcBef>
              </a:pPr>
            </a:p>
            <a:p>
              <a:pPr algn="just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sz="2799" u="none">
                  <a:solidFill>
                    <a:srgbClr val="2B2B2B"/>
                  </a:solidFill>
                  <a:latin typeface="芫荽"/>
                  <a:ea typeface="芫荽"/>
                  <a:cs typeface="芫荽"/>
                  <a:sym typeface="芫荽"/>
                </a:rPr>
                <a:t>2) 如何切分各個想做的功能成classes，</a:t>
              </a:r>
            </a:p>
            <a:p>
              <a:pPr algn="just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sz="2799" u="none">
                  <a:solidFill>
                    <a:srgbClr val="2B2B2B"/>
                  </a:solidFill>
                  <a:latin typeface="芫荽"/>
                  <a:ea typeface="芫荽"/>
                  <a:cs typeface="芫荽"/>
                  <a:sym typeface="芫荽"/>
                </a:rPr>
                <a:t>在確保完整的同時，code又不太長，方便整理、修改</a:t>
              </a:r>
            </a:p>
            <a:p>
              <a:pPr algn="just" marL="0" indent="0" lvl="0">
                <a:lnSpc>
                  <a:spcPts val="3359"/>
                </a:lnSpc>
                <a:spcBef>
                  <a:spcPct val="0"/>
                </a:spcBef>
              </a:pPr>
            </a:p>
            <a:p>
              <a:pPr algn="just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sz="2799" u="none">
                  <a:solidFill>
                    <a:srgbClr val="2B2B2B"/>
                  </a:solidFill>
                  <a:latin typeface="芫荽"/>
                  <a:ea typeface="芫荽"/>
                  <a:cs typeface="芫荽"/>
                  <a:sym typeface="芫荽"/>
                </a:rPr>
                <a:t>3) 如何將相似的概念整合，</a:t>
              </a:r>
            </a:p>
            <a:p>
              <a:pPr algn="just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sz="2799" u="none">
                  <a:solidFill>
                    <a:srgbClr val="2B2B2B"/>
                  </a:solidFill>
                  <a:latin typeface="芫荽"/>
                  <a:ea typeface="芫荽"/>
                  <a:cs typeface="芫荽"/>
                  <a:sym typeface="芫荽"/>
                </a:rPr>
                <a:t>將這些功能放到utility，確保不會有很多重複的code</a:t>
              </a:r>
            </a:p>
            <a:p>
              <a:pPr algn="just" marL="0" indent="0" lvl="0">
                <a:lnSpc>
                  <a:spcPts val="3359"/>
                </a:lnSpc>
                <a:spcBef>
                  <a:spcPct val="0"/>
                </a:spcBef>
              </a:pPr>
            </a:p>
            <a:p>
              <a:pPr algn="just" marL="0" indent="0" lvl="0">
                <a:lnSpc>
                  <a:spcPts val="4319"/>
                </a:lnSpc>
                <a:spcBef>
                  <a:spcPct val="0"/>
                </a:spcBef>
              </a:pPr>
              <a:r>
                <a:rPr lang="en-US" sz="3599" u="none">
                  <a:solidFill>
                    <a:srgbClr val="2B2B2B"/>
                  </a:solidFill>
                  <a:latin typeface="芫荽"/>
                  <a:ea typeface="芫荽"/>
                  <a:cs typeface="芫荽"/>
                  <a:sym typeface="芫荽"/>
                </a:rPr>
                <a:t>4)</a:t>
              </a:r>
              <a:r>
                <a:rPr lang="en-US" sz="3599" u="none">
                  <a:solidFill>
                    <a:srgbClr val="FF3131"/>
                  </a:solidFill>
                  <a:latin typeface="芫荽"/>
                  <a:ea typeface="芫荽"/>
                  <a:cs typeface="芫荽"/>
                  <a:sym typeface="芫荽"/>
                </a:rPr>
                <a:t>debug 令人頭痛</a:t>
              </a:r>
            </a:p>
            <a:p>
              <a:pPr algn="just" marL="0" indent="0" lvl="0">
                <a:lnSpc>
                  <a:spcPts val="3359"/>
                </a:lnSpc>
                <a:spcBef>
                  <a:spcPct val="0"/>
                </a:spcBef>
              </a:pPr>
            </a:p>
            <a:p>
              <a:pPr algn="just" marL="0" indent="0" lvl="0">
                <a:lnSpc>
                  <a:spcPts val="3359"/>
                </a:lnSpc>
                <a:spcBef>
                  <a:spcPct val="0"/>
                </a:spcBef>
              </a:pPr>
            </a:p>
            <a:p>
              <a:pPr algn="just" marL="0" indent="0" lvl="0">
                <a:lnSpc>
                  <a:spcPts val="3359"/>
                </a:lnSpc>
                <a:spcBef>
                  <a:spcPct val="0"/>
                </a:spcBef>
              </a:pPr>
            </a:p>
            <a:p>
              <a:pPr algn="just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2376362"/>
              <a:ext cx="15409749" cy="5786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640"/>
                </a:lnSpc>
              </a:pPr>
            </a:p>
          </p:txBody>
        </p:sp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alphaModFix amt="25000"/>
          </a:blip>
          <a:srcRect l="0" t="0" r="0" b="0"/>
          <a:stretch>
            <a:fillRect/>
          </a:stretch>
        </p:blipFill>
        <p:spPr>
          <a:xfrm flipH="false" flipV="false" rot="0">
            <a:off x="11511932" y="6947324"/>
            <a:ext cx="8674222" cy="7652259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alphaModFix amt="25000"/>
          </a:blip>
          <a:srcRect l="0" t="0" r="0" b="0"/>
          <a:stretch>
            <a:fillRect/>
          </a:stretch>
        </p:blipFill>
        <p:spPr>
          <a:xfrm flipH="false" flipV="false" rot="0">
            <a:off x="15141061" y="2810706"/>
            <a:ext cx="6293877" cy="5612932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alphaModFix amt="25000"/>
          </a:blip>
          <a:srcRect l="0" t="0" r="0" b="0"/>
          <a:stretch>
            <a:fillRect/>
          </a:stretch>
        </p:blipFill>
        <p:spPr>
          <a:xfrm flipH="false" flipV="false" rot="-3435299">
            <a:off x="-3167656" y="638455"/>
            <a:ext cx="6335313" cy="70767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25000"/>
          </a:blip>
          <a:srcRect l="0" t="0" r="0" b="0"/>
          <a:stretch>
            <a:fillRect/>
          </a:stretch>
        </p:blipFill>
        <p:spPr>
          <a:xfrm flipH="false" flipV="false" rot="0">
            <a:off x="-1662681" y="-6438340"/>
            <a:ext cx="13761077" cy="1415359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4911263" y="4219178"/>
            <a:ext cx="8465475" cy="1848644"/>
            <a:chOff x="0" y="0"/>
            <a:chExt cx="11287299" cy="2464859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0"/>
              <a:ext cx="11287299" cy="1409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399"/>
                </a:lnSpc>
                <a:spcBef>
                  <a:spcPct val="0"/>
                </a:spcBef>
              </a:pPr>
              <a:r>
                <a:rPr lang="en-US" sz="6999" u="none">
                  <a:solidFill>
                    <a:srgbClr val="2B2B2B"/>
                  </a:solidFill>
                  <a:latin typeface="芫荽"/>
                  <a:ea typeface="芫荽"/>
                  <a:cs typeface="芫荽"/>
                  <a:sym typeface="芫荽"/>
                </a:rPr>
                <a:t>謝謝!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886162"/>
              <a:ext cx="11287299" cy="5786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640"/>
                </a:lnSpc>
              </a:pPr>
            </a:p>
          </p:txBody>
        </p:sp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alphaModFix amt="25000"/>
          </a:blip>
          <a:srcRect l="0" t="0" r="0" b="0"/>
          <a:stretch>
            <a:fillRect/>
          </a:stretch>
        </p:blipFill>
        <p:spPr>
          <a:xfrm flipH="false" flipV="false" rot="0">
            <a:off x="11511932" y="6947324"/>
            <a:ext cx="8674222" cy="7652259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alphaModFix amt="25000"/>
          </a:blip>
          <a:srcRect l="0" t="0" r="0" b="0"/>
          <a:stretch>
            <a:fillRect/>
          </a:stretch>
        </p:blipFill>
        <p:spPr>
          <a:xfrm flipH="false" flipV="false" rot="0">
            <a:off x="15141061" y="2810706"/>
            <a:ext cx="6293877" cy="5612932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alphaModFix amt="25000"/>
          </a:blip>
          <a:srcRect l="0" t="0" r="0" b="0"/>
          <a:stretch>
            <a:fillRect/>
          </a:stretch>
        </p:blipFill>
        <p:spPr>
          <a:xfrm flipH="false" flipV="false" rot="-3435299">
            <a:off x="-3167656" y="638455"/>
            <a:ext cx="6335313" cy="707679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DAGpF6uH9YU</dc:identifier>
  <dcterms:modified xsi:type="dcterms:W3CDTF">2011-08-01T06:04:30Z</dcterms:modified>
  <cp:revision>1</cp:revision>
  <dc:title>Gardening wonderland</dc:title>
</cp:coreProperties>
</file>